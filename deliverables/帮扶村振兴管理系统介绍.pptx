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微软雅黑"/>
              </a:defRPr>
            </a:pPr>
            <a:r>
              <a:t>帮扶村振兴管理系统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560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E19A25"/>
                </a:solidFill>
                <a:latin typeface="微软雅黑"/>
              </a:defRPr>
            </a:pPr>
            <a:r>
              <a:t>Assistance Management Information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474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DB5BD"/>
                </a:solidFill>
                <a:latin typeface="微软雅黑"/>
              </a:defRPr>
            </a:pPr>
            <a:r>
              <a:t>军民融合 · 乡村振兴 · 数字化管理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4389120"/>
            <a:ext cx="3962095" cy="27432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DB5BD"/>
                </a:solidFill>
                <a:latin typeface="微软雅黑"/>
              </a:defRPr>
            </a:pPr>
            <a:r>
              <a:t>技术架构：Vue 3 + FastAPI + Electron + SQLite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6692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DB5BD"/>
                </a:solidFill>
                <a:latin typeface="微软雅黑"/>
              </a:defRPr>
            </a:pPr>
            <a:r>
              <a:t>版本 v1.4.2  |  2026年7月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系统概述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微软雅黑"/>
              </a:defRPr>
            </a:pPr>
            <a:r>
              <a:t>本系统是面向军民融合帮扶工作的综合管理平台，实现对帮扶村、帮扶项目、资金管理、学校共建等核心业务的全流程数字化管理。系统采用单机离线部署模式，支持数据加密导入导出，满足涉密环境下的使用需求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743200"/>
            <a:ext cx="2560320" cy="34747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19A25"/>
                </a:solidFill>
                <a:latin typeface="微软雅黑"/>
              </a:defRPr>
            </a:pPr>
            <a:r>
              <a:t>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19A25"/>
                </a:solidFill>
                <a:latin typeface="微软雅黑"/>
              </a:defRPr>
            </a:pPr>
            <a:r>
              <a:t>帮扶村管理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70332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10大板块年度数据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人口/收入/产业/基建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党建/医疗/教育/就业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消费/兵力投入/委员会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6160" y="2743200"/>
            <a:ext cx="2560320" cy="34747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0" y="2926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19A25"/>
                </a:solidFill>
                <a:latin typeface="微软雅黑"/>
              </a:defRPr>
            </a:pPr>
            <a:r>
              <a:t>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19A25"/>
                </a:solidFill>
                <a:latin typeface="微软雅黑"/>
              </a:defRPr>
            </a:pPr>
            <a:r>
              <a:t>资金全生命周期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370332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预算编制与审批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拨付/使用/结算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异常检测与预警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绩效评估报告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2743200"/>
            <a:ext cx="2560320" cy="34747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2926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19A25"/>
                </a:solidFill>
                <a:latin typeface="微软雅黑"/>
              </a:defRPr>
            </a:pPr>
            <a:r>
              <a:t>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19A25"/>
                </a:solidFill>
                <a:latin typeface="微软雅黑"/>
              </a:defRPr>
            </a:pPr>
            <a:r>
              <a:t>项目与审批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370332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项目立项/任务/里程碑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多级审批工作流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文件管理与变更历史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进度跟踪与统计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743200"/>
            <a:ext cx="2560320" cy="347472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29260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19A25"/>
                </a:solidFill>
                <a:latin typeface="微软雅黑"/>
              </a:defRPr>
            </a:pPr>
            <a:r>
              <a:t>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2918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19A25"/>
                </a:solidFill>
                <a:latin typeface="微软雅黑"/>
              </a:defRPr>
            </a:pPr>
            <a:r>
              <a:t>学校共建管理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0" y="3703320"/>
            <a:ext cx="20116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学校信息CRUD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奖学金学生管理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共建项目管理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附件与导入导出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技术架构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418320" cy="868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645920" y="14173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9A25"/>
                </a:solidFill>
                <a:latin typeface="微软雅黑"/>
              </a:defRPr>
            </a:pPr>
            <a:r>
              <a:t>桌面层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4173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Electron 28 + NSIS 安装包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830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跨平台桌面应用，自动更新，系统托盘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2468880"/>
            <a:ext cx="9418320" cy="868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5146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9A25"/>
                </a:solidFill>
                <a:latin typeface="微软雅黑"/>
              </a:defRPr>
            </a:pPr>
            <a:r>
              <a:t>前端层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51460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Vue 3 + TypeScript + Element Plus + ECharts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8803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响应式SPA，Pinia状态管理，Vue Router路由守卫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3566160"/>
            <a:ext cx="9418320" cy="868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45920" y="36118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9A25"/>
                </a:solidFill>
                <a:latin typeface="微软雅黑"/>
              </a:defRPr>
            </a:pPr>
            <a:r>
              <a:t>后端层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61188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FastAPI + SQLAlchemy + Pydantic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97764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RESTful API，JWT认证，RBAC权限，审计日志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1600" y="4663440"/>
            <a:ext cx="9418320" cy="86868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45920" y="47091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19A25"/>
                </a:solidFill>
                <a:latin typeface="微软雅黑"/>
              </a:defRPr>
            </a:pPr>
            <a:r>
              <a:t>数据层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470916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微软雅黑"/>
              </a:defRPr>
            </a:pPr>
            <a:r>
              <a:t>SQLite + Alembic 迁移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5074920"/>
            <a:ext cx="6858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单文件数据库，AES-256加密，自动备份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2402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19A25"/>
                </a:solidFill>
                <a:latin typeface="微软雅黑"/>
              </a:defRPr>
            </a:pPr>
            <a:r>
              <a:t>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33375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19A25"/>
                </a:solidFill>
                <a:latin typeface="微软雅黑"/>
              </a:defRPr>
            </a:pPr>
            <a:r>
              <a:t>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44348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19A25"/>
                </a:solidFill>
                <a:latin typeface="微软雅黑"/>
              </a:defRPr>
            </a:pPr>
            <a:r>
              <a:t>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核心功能模块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651760" cy="2377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E19A25"/>
                </a:solidFill>
                <a:latin typeface="微软雅黑"/>
              </a:defRPr>
            </a:pPr>
            <a:r>
              <a:t>🏘️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08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19A25"/>
                </a:solidFill>
                <a:latin typeface="微软雅黑"/>
              </a:defRPr>
            </a:pPr>
            <a:r>
              <a:t>帮扶村管理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10大板块年度数据录入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委员会/人口/收入/产业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基建/党建/医疗/教育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消费/就业/兵力投入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371600"/>
            <a:ext cx="2651760" cy="2377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E19A25"/>
                </a:solidFill>
                <a:latin typeface="微软雅黑"/>
              </a:defRPr>
            </a:pPr>
            <a:r>
              <a:t>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69080" y="1508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19A25"/>
                </a:solidFill>
                <a:latin typeface="微软雅黑"/>
              </a:defRPr>
            </a:pPr>
            <a:r>
              <a:t>资金管理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96596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预算编制与执行跟踪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多级审批与拨付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异常检测与预警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绩效评估与结算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371600"/>
            <a:ext cx="2651760" cy="2377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39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E19A25"/>
                </a:solidFill>
                <a:latin typeface="微软雅黑"/>
              </a:defRPr>
            </a:pPr>
            <a:r>
              <a:t>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39" y="1508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19A25"/>
                </a:solidFill>
                <a:latin typeface="微软雅黑"/>
              </a:defRPr>
            </a:pPr>
            <a:r>
              <a:t>项目管理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39" y="196596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项目立项与任务分解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里程碑进度跟踪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文件管理与变更历史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经费关联与统计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9719" y="1371600"/>
            <a:ext cx="2651760" cy="2377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599" y="15087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E19A25"/>
                </a:solidFill>
                <a:latin typeface="微软雅黑"/>
              </a:defRPr>
            </a:pPr>
            <a: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29799" y="15087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19A25"/>
                </a:solidFill>
                <a:latin typeface="微软雅黑"/>
              </a:defRPr>
            </a:pPr>
            <a:r>
              <a:t>审批工作流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599" y="196596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可配置多级审批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批量审批/转办/撤回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变更差异对比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审批提醒与催办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651760" cy="2377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160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E19A25"/>
                </a:solidFill>
                <a:latin typeface="微软雅黑"/>
              </a:defRPr>
            </a:pPr>
            <a:r>
              <a:t>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160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19A25"/>
                </a:solidFill>
                <a:latin typeface="微软雅黑"/>
              </a:defRPr>
            </a:pPr>
            <a:r>
              <a:t>数据分析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6177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多维度统计看板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村庄对比与趋势分析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KPI指标与排名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AI辅助预测与建议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29000" y="4023360"/>
            <a:ext cx="2651760" cy="2377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11880" y="4160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E19A25"/>
                </a:solidFill>
                <a:latin typeface="微软雅黑"/>
              </a:defRPr>
            </a:pPr>
            <a:r>
              <a:t>🗺️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69080" y="4160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19A25"/>
                </a:solidFill>
                <a:latin typeface="微软雅黑"/>
              </a:defRPr>
            </a:pPr>
            <a:r>
              <a:t>地图可视化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46177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帮扶村/学校地理标注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区域分布热力图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距离计算与路径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离线地图瓦片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59" y="4023360"/>
            <a:ext cx="2651760" cy="2377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39" y="4160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E19A25"/>
                </a:solidFill>
                <a:latin typeface="微软雅黑"/>
              </a:defRPr>
            </a:pPr>
            <a:r>
              <a:t>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9439" y="4160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19A25"/>
                </a:solidFill>
                <a:latin typeface="微软雅黑"/>
              </a:defRPr>
            </a:pPr>
            <a:r>
              <a:t>安全体系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39" y="46177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JWT + 2FA双因素认证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RBAC细粒度权限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零信任安全评估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AES-256数据加密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89719" y="4023360"/>
            <a:ext cx="2651760" cy="23774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72599" y="41605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E19A25"/>
                </a:solidFill>
                <a:latin typeface="微软雅黑"/>
              </a:defRPr>
            </a:pPr>
            <a:r>
              <a:t>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29799" y="41605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19A25"/>
                </a:solidFill>
                <a:latin typeface="微软雅黑"/>
              </a:defRPr>
            </a:pPr>
            <a:r>
              <a:t>数据交换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2599" y="46177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加密数据包导入导出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增量同步与冲突解决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一键报表生成</a:t>
            </a:r>
          </a:p>
          <a:p>
            <a:pPr>
              <a:spcAft>
                <a:spcPts val="300"/>
              </a:spcAft>
              <a:defRPr sz="1200">
                <a:solidFill>
                  <a:srgbClr val="FFFFFF"/>
                </a:solidFill>
                <a:latin typeface="微软雅黑"/>
              </a:defRPr>
            </a:pPr>
            <a:r>
              <a:t>数据质量校验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安全体系与部署方案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19A25"/>
                </a:solidFill>
                <a:latin typeface="微软雅黑"/>
              </a:defRPr>
            </a:pPr>
            <a:r>
              <a:t>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19A25"/>
                </a:solidFill>
                <a:latin typeface="微软雅黑"/>
              </a:defRPr>
            </a:pPr>
            <a:r>
              <a:t>认证安全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JWT双Token机制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TOTP双因素认证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机器码绑定验证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账户锁定与速率限制</a:t>
            </a:r>
          </a:p>
        </p:txBody>
      </p:sp>
      <p:sp>
        <p:nvSpPr>
          <p:cNvPr id="8" name="Rectangle 7"/>
          <p:cNvSpPr/>
          <p:nvPr/>
        </p:nvSpPr>
        <p:spPr>
          <a:xfrm>
            <a:off x="3429000" y="1371600"/>
            <a:ext cx="2651760" cy="292608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19A25"/>
                </a:solidFill>
                <a:latin typeface="微软雅黑"/>
              </a:defRPr>
            </a:pPr>
            <a:r>
              <a:t>🛡️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1920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19A25"/>
                </a:solidFill>
                <a:latin typeface="微软雅黑"/>
              </a:defRPr>
            </a:pPr>
            <a:r>
              <a:t>权限控制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23317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RBAC角色权限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组织树数据隔离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菜单级前端权限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零信任安全评估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59" y="1371600"/>
            <a:ext cx="2651760" cy="292608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79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19A25"/>
                </a:solidFill>
                <a:latin typeface="微软雅黑"/>
              </a:defRPr>
            </a:pPr>
            <a:r>
              <a:t>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79" y="1920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19A25"/>
                </a:solidFill>
                <a:latin typeface="微软雅黑"/>
              </a:defRPr>
            </a:pPr>
            <a:r>
              <a:t>数据安全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79" y="23317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AES-256-GCM加密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CSRF双重提交Cookie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安全响应头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审计日志全链路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89719" y="1371600"/>
            <a:ext cx="2651760" cy="2926080"/>
          </a:xfrm>
          <a:prstGeom prst="rect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64039" y="1554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E19A25"/>
                </a:solidFill>
                <a:latin typeface="微软雅黑"/>
              </a:defRPr>
            </a:pPr>
            <a:r>
              <a:t>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64039" y="1920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19A25"/>
                </a:solidFill>
                <a:latin typeface="微软雅黑"/>
              </a:defRPr>
            </a:pPr>
            <a:r>
              <a:t>部署方案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64039" y="2331720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Electron离线单机部署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NSIS安装包(x64)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VC++运行时自动安装</a:t>
            </a:r>
          </a:p>
          <a:p>
            <a:pPr>
              <a:spcAft>
                <a:spcPts val="400"/>
              </a:spcAft>
              <a:defRPr sz="1300">
                <a:solidFill>
                  <a:srgbClr val="FFFFFF"/>
                </a:solidFill>
                <a:latin typeface="微软雅黑"/>
              </a:defRPr>
            </a:pPr>
            <a:r>
              <a:t>ARM64 Linux DEB包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19A25"/>
                </a:solidFill>
                <a:latin typeface="微软雅黑"/>
              </a:defRPr>
            </a:pPr>
            <a:r>
              <a:t>部署流程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303520"/>
            <a:ext cx="2011680" cy="7315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1. 下载安装包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53949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5303520"/>
            <a:ext cx="2011680" cy="7315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53492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2. 运行NSIS安装程序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53949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0" y="5303520"/>
            <a:ext cx="2011680" cy="7315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53492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3. 自动安装VC++运行时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53949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89520" y="5303520"/>
            <a:ext cx="2011680" cy="7315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0" y="53492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4. 创建桌面快捷方式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539496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19A25"/>
                </a:solidFill>
                <a:latin typeface="微软雅黑"/>
              </a:defRPr>
            </a:pPr>
            <a: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75520" y="5303520"/>
            <a:ext cx="2011680" cy="731520"/>
          </a:xfrm>
          <a:prstGeom prst="rect">
            <a:avLst/>
          </a:prstGeom>
          <a:solidFill>
            <a:srgbClr val="409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60" y="5349240"/>
            <a:ext cx="1828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FFFFFF"/>
                </a:solidFill>
                <a:latin typeface="微软雅黑"/>
              </a:defRPr>
            </a:pPr>
            <a:r>
              <a:t>5. 启动系统(自动初始化)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微软雅黑"/>
              </a:defRPr>
            </a:pPr>
            <a:r>
              <a:t>项目规模与质量保障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45720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63040"/>
            <a:ext cx="3383280" cy="1920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699+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77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API 端点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覆盖42个路由模块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59" y="1463040"/>
            <a:ext cx="3383280" cy="1920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79" y="164592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10,000+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79" y="2377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后端测试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79" y="2834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pytest全量通过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463040"/>
            <a:ext cx="3383280" cy="1920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645920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1,622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3774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前端测试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283464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vitest 125个文件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49039"/>
            <a:ext cx="3383280" cy="1920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931919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66343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类型错误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3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vue-tsc严格模式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59" y="3749039"/>
            <a:ext cx="3383280" cy="1920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79" y="3931919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50+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79" y="466343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Vue 页面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79" y="512063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完整业务功能覆盖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3749039"/>
            <a:ext cx="3383280" cy="1920240"/>
          </a:xfrm>
          <a:prstGeom prst="rect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03920" y="3931919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19A25"/>
                </a:solidFill>
                <a:latin typeface="微软雅黑"/>
              </a:defRPr>
            </a:pPr>
            <a: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466343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微软雅黑"/>
              </a:defRPr>
            </a:pPr>
            <a:r>
              <a:t>CI 工作流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5120639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DB5BD"/>
                </a:solidFill>
                <a:latin typeface="微软雅黑"/>
              </a:defRPr>
            </a:pPr>
            <a:r>
              <a:t>自动化构建与测试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E19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  <a:latin typeface="微软雅黑"/>
              </a:defRPr>
            </a:pPr>
            <a:r>
              <a:t>系统特色与优势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286000"/>
            <a:ext cx="8503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🔐  完全离线运行，满足涉密环境要求，数据不出本机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📊  10大板块年度数据全覆盖，资金全生命周期管理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🤖  AI辅助分析预测，智能异常检测与工作建议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🗺️  地图可视化展示，帮扶村与学校地理分布一目了然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⚡  一键数据加密交换，支持多级单位间安全数据传输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🛡️  零信任安全架构，RBAC权限 + 2FA + 审计全链路</a:t>
            </a:r>
          </a:p>
          <a:p>
            <a:pPr>
              <a:spcAft>
                <a:spcPts val="1400"/>
              </a:spcAft>
              <a:defRPr sz="1900">
                <a:solidFill>
                  <a:srgbClr val="FFFFFF"/>
                </a:solidFill>
                <a:latin typeface="微软雅黑"/>
              </a:defRPr>
            </a:pPr>
            <a:r>
              <a:t>📦  Electron桌面应用，NSIS安装包一键部署，自动更新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E19A25"/>
                </a:solidFill>
                <a:latin typeface="微软雅黑"/>
              </a:defRPr>
            </a:pPr>
            <a:r>
              <a:t>帮扶村振兴管理系统  ·  让帮扶工作更精准、更高效、更安全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