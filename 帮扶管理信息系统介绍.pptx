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用例数</c:v>
                </c:pt>
              </c:strCache>
            </c:strRef>
          </c:tx>
          <c:spPr>
            <a:solidFill>
              <a:srgbClr val="1F4A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2E24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A3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后端 pytest</c:v>
                  </c:pt>
                  <c:pt idx="1">
                    <c:v>前端 vitest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12381</c:v>
                </c:pt>
                <c:pt idx="1">
                  <c:v>6323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A2E24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F6F66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94560"/>
            <a:ext cx="5852160" cy="5852160"/>
          </a:xfrm>
          <a:prstGeom prst="ellipse">
            <a:avLst/>
          </a:prstGeom>
          <a:solidFill>
            <a:srgbClr val="1C362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645920" y="4937760"/>
            <a:ext cx="4206240" cy="4206240"/>
          </a:xfrm>
          <a:prstGeom prst="ellipse">
            <a:avLst/>
          </a:prstGeom>
          <a:solidFill>
            <a:srgbClr val="1C362A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1847088"/>
            <a:ext cx="237744" cy="23774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28016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军民融合 · 乡村振兴帮扶数字化平台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77824" y="2331720"/>
            <a:ext cx="10515600" cy="12643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Assistance Management Information System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完全离线 · 数据本机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多机协同 · 军工级安全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8FA2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V1.12.17  |  2026-10-17  |  FastAPI + Vue 3 + Electron + SQLite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77240"/>
            <a:ext cx="4572000" cy="8346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32688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spc="5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2331720"/>
            <a:ext cx="5029200" cy="1051560"/>
          </a:xfrm>
          <a:prstGeom prst="roundRect">
            <a:avLst>
              <a:gd name="adj" fmla="val 6087"/>
            </a:avLst>
          </a:prstGeom>
          <a:solidFill>
            <a:srgbClr val="1C362A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170432" y="2478024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48840" y="24597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系统概述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148840" y="2898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DB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定位 · 使命 · 关键数字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2331720"/>
            <a:ext cx="5029200" cy="1051560"/>
          </a:xfrm>
          <a:prstGeom prst="roundRect">
            <a:avLst>
              <a:gd name="adj" fmla="val 6087"/>
            </a:avLst>
          </a:prstGeom>
          <a:solidFill>
            <a:srgbClr val="1C362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565392" y="2478024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43800" y="24597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技术架构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543800" y="2898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DB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技术栈 · 分层设计 · 离线优先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657600"/>
            <a:ext cx="5029200" cy="1051560"/>
          </a:xfrm>
          <a:prstGeom prst="roundRect">
            <a:avLst>
              <a:gd name="adj" fmla="val 6087"/>
            </a:avLst>
          </a:prstGeom>
          <a:solidFill>
            <a:srgbClr val="1C362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170432" y="3803904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148840" y="37856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功能模块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148840" y="4224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DB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七大业务域 · 71 个功能菜单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657600"/>
            <a:ext cx="5029200" cy="1051560"/>
          </a:xfrm>
          <a:prstGeom prst="roundRect">
            <a:avLst>
              <a:gd name="adj" fmla="val 6087"/>
            </a:avLst>
          </a:prstGeom>
          <a:solidFill>
            <a:srgbClr val="1C362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65392" y="3803904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43800" y="37856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安全体系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543800" y="4224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DB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四角色权限 · PII 加密 · 审计合规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4983480"/>
            <a:ext cx="5029200" cy="1051560"/>
          </a:xfrm>
          <a:prstGeom prst="roundRect">
            <a:avLst>
              <a:gd name="adj" fmla="val 6087"/>
            </a:avLst>
          </a:prstGeom>
          <a:solidFill>
            <a:srgbClr val="1C362A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170432" y="5129784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148840" y="51114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质量工程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2148840" y="5550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DB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18,745 项自动化测试 · CI/CD · 依赖自检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4983480"/>
            <a:ext cx="5029200" cy="1051560"/>
          </a:xfrm>
          <a:prstGeom prst="roundRect">
            <a:avLst>
              <a:gd name="adj" fmla="val 6087"/>
            </a:avLst>
          </a:prstGeom>
          <a:solidFill>
            <a:srgbClr val="1C362A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565392" y="5129784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543800" y="51114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部署运行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543800" y="5550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DB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双平台安装包 · 备份升级 · 版本历程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22960"/>
            <a:ext cx="4206240" cy="43151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0" b="1" dirty="0">
                <a:solidFill>
                  <a:srgbClr val="1C36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914400" y="3977640"/>
            <a:ext cx="10332720" cy="87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系统概述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32688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SYSTEM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40664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为什么需要这套系统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系统的定位与形态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离线优先的产品决策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一眼看懂的关键数字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E81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系统概述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项目背景与使命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把驻村帮扶工作从“纸质台账 + Excel 报表”搬进可信的数字化轨道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57200" y="2203704"/>
            <a:ext cx="109728" cy="100584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21488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驻村帮扶的现实约束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892040" y="21488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帮扶村镇多位于网络条件受限地区，互联网云服务不可依赖，数据必须留在本机、随人走、可备份、可交接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621024"/>
            <a:ext cx="109728" cy="100584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5661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军民融合的协同需求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92040" y="356616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军队帮扶单位与地方协同：任务下达、经费监管、成效上报，全流程需要留痕可审计，满足军事审计红线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5038344"/>
            <a:ext cx="109728" cy="100584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" y="49834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数据资产的长期价值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892040" y="49834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帮扶村 10 大板块年度数据、项目全生命周期、资金全流程——沉淀多年后就是帮扶成效最有说服力的证据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系统概述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系统定位与核心价值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49808" y="2002536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24128" y="1874520"/>
            <a:ext cx="4206240" cy="4264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完全离线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68096" y="2404872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装在电脑上就能用，不依赖任何外网服务；数据全部落在本机 SQLite，断网功能零损失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556248" y="2002536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30568" y="1874520"/>
            <a:ext cx="4206240" cy="4264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多机协同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74536" y="2404872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单位内多台电脑通过加密数据包交换数据：全量包 + 增量包，支持版本管理与冲突解决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49808" y="4288536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24128" y="4160520"/>
            <a:ext cx="4206240" cy="4264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军工级安全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68096" y="4690872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四角色权限、组织数据隔离、PII 字段透明加密、全程审计留痕，直面军事审计要求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556248" y="4288536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30568" y="4160520"/>
            <a:ext cx="4206240" cy="4264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开箱即用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574536" y="4690872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NSIS / DEB 安装包内置全部运行时，目标机器零依赖；内置备份恢复与出厂恢复通道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系统概述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一眼看懂：系统规模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743200" cy="87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12716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2825327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后端自动化测试用例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1920240"/>
            <a:ext cx="2743200" cy="87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6363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66160" y="2825327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前端自动化测试用例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29400" y="1920240"/>
            <a:ext cx="2743200" cy="87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629400" y="2825327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功能菜单键（三级菜单树）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92640" y="1920240"/>
            <a:ext cx="2194560" cy="87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131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692640" y="2825327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业务页面视图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11274552" cy="0"/>
          </a:xfrm>
          <a:prstGeom prst="line">
            <a:avLst/>
          </a:prstGeom>
          <a:noFill/>
          <a:ln w="12700">
            <a:solidFill>
              <a:srgbClr val="D8E0D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02920" y="3977640"/>
            <a:ext cx="2743200" cy="87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502920" y="4882727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 API 模块（api/v1 含子包）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3977640"/>
            <a:ext cx="2743200" cy="87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3566160" y="4882727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后端服务（100 + 13 子包）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3977640"/>
            <a:ext cx="2743200" cy="87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45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629400" y="4882727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数据库迁移版本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92640" y="3977640"/>
            <a:ext cx="2194560" cy="87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692640" y="4882727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用户角色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数据来源：2026-10-17 仓库实测（v1.12.17）—— 后端 12716 用例全绿 / 行+分支覆盖率 100%（branch=True 严格门禁）· 前端 6363 用例全绿 · flake8 0 · bandit 0 中高危 · vue-tsc 0 · eslint 0 警告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22960"/>
            <a:ext cx="4206240" cy="43151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0" b="1" dirty="0">
                <a:solidFill>
                  <a:srgbClr val="1C36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914400" y="3977640"/>
            <a:ext cx="10332720" cy="87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技术架构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32688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TECHNICAL ARCHITECTURE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40664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技术栈选型与理由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四层架构设计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 / 后端工程结构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离线优先的实现路径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E81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技术架构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技术栈全景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697480" cy="42976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桌面壳层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30428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Electron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88036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Windows x64 NSIS 安装包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麒麟 V10 ARM64 DEB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托盘 / 自启 / 锁屏 / 快捷键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后端进程托管与健康检查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64992" y="1691640"/>
            <a:ext cx="2697480" cy="42976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593592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93592" y="230428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3 + TypeScript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93592" y="288036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Element Plus + Pinia + Vue Router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SCSS 设计令牌（4 套可切换主题）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131 个视图 · 25 个共享组件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Axios 统一信封 + CSRF + 离线 Mock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72784" y="1691640"/>
            <a:ext cx="2697480" cy="42976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01384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01384" y="230428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FastAPI (Python 3.11)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01384" y="288036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93 个路由模块 + 13 个子包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 个服务 + 13 个子包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SQLAlchemy 2.x + Alembic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依赖登记表单一事实源（三级自检）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80576" y="1691640"/>
            <a:ext cx="2697480" cy="42976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409176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409176" y="230428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SQLite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409176" y="288036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单文件数据库，随备份带走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WAL 并发 + 外键强制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EncryptedText 列透明加密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45 个 Alembic 迁移版本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技术架构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四层架构：进程间协作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280160" y="1627632"/>
            <a:ext cx="8778240" cy="969264"/>
          </a:xfrm>
          <a:prstGeom prst="roundRect">
            <a:avLst>
              <a:gd name="adj" fmla="val 5660"/>
            </a:avLst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600200" y="17373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Electron 主进程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600200" y="2157984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窗口/托盘 · 后端 exe 托管 · DATABASE_URL 注入 · 导航白名单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89320" y="2596896"/>
            <a:ext cx="0" cy="219456"/>
          </a:xfrm>
          <a:prstGeom prst="line">
            <a:avLst/>
          </a:prstGeom>
          <a:noFill/>
          <a:ln w="27940">
            <a:solidFill>
              <a:srgbClr val="C9A2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280160" y="2816352"/>
            <a:ext cx="9509760" cy="969264"/>
          </a:xfrm>
          <a:prstGeom prst="roundRect">
            <a:avLst>
              <a:gd name="adj" fmla="val 5660"/>
            </a:avLst>
          </a:prstGeom>
          <a:solidFill>
            <a:srgbClr val="E8EFE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600200" y="29260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3 前端（渲染进程）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600200" y="3346704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131 视图 · Pinia · Axios 信封拦截器 · CSRF 续期 · 离线 Mock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89320" y="3785616"/>
            <a:ext cx="0" cy="219456"/>
          </a:xfrm>
          <a:prstGeom prst="line">
            <a:avLst/>
          </a:prstGeom>
          <a:noFill/>
          <a:ln w="27940">
            <a:solidFill>
              <a:srgbClr val="C9A2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280160" y="4005072"/>
            <a:ext cx="9509760" cy="969264"/>
          </a:xfrm>
          <a:prstGeom prst="roundRect">
            <a:avLst>
              <a:gd name="adj" fmla="val 5660"/>
            </a:avLst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600200" y="411480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FastAPI 应用层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600200" y="4535424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93 API 模块 · 数据范围过滤 · 限流 · 审计中间件 · 统一信封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89320" y="4974336"/>
            <a:ext cx="0" cy="219456"/>
          </a:xfrm>
          <a:prstGeom prst="line">
            <a:avLst/>
          </a:prstGeom>
          <a:noFill/>
          <a:ln w="27940">
            <a:solidFill>
              <a:srgbClr val="C9A2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280160" y="5193792"/>
            <a:ext cx="8778240" cy="969264"/>
          </a:xfrm>
          <a:prstGeom prst="roundRect">
            <a:avLst>
              <a:gd name="adj" fmla="val 5660"/>
            </a:avLst>
          </a:prstGeom>
          <a:solidFill>
            <a:srgbClr val="E8EFEA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600200" y="530352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SQLite 数据层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600200" y="5724144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WAL · 45 迁移 · EncryptedText 加密列 · 备份/恢复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3504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HTTP 127.0.0.1（同机回环，Token 黑名单 + CSRF 双重校验）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技术架构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前端工程：规范即生产力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131 个业务视图（34 个功能目录）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 个共享组件（PageHeader / EmptyState / BaseChart 等标准件）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34 个 Pinia store + 30+ 组合式函数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299 个测试文件 · 6363 个用例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覆盖率门禁（行 + 分支 100%）+ lint --max-warnings=0 + vue-tsc 三重 CI 门禁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56248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设计系统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5624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tokens.scss 设计令牌：色彩 / 字号 / 间距 / 阴影单一来源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套可切换主题（默认军绿 / 浅色 / 深色 / 户外），运行时热切换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vite additionalData 注入 SCSS 变量，杜绝硬编码色值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统一信封拦截器：data 自动展开 + CSRF 自动续期 + 401/403 分类处理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pushSafe 导航、分页重置、blob 下载等 7 项防错规约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技术架构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后端工程：一个请求的旅程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395728" cy="914400"/>
          </a:xfrm>
          <a:prstGeom prst="chevron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21792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审计中间件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记录 谁·何时·做什么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61488" y="1828800"/>
            <a:ext cx="2395728" cy="914400"/>
          </a:xfrm>
          <a:prstGeom prst="chevron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926080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认证与限流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807208" y="2880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JWT 校验 · Token 黑名单 · 滑动窗口限流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65776" y="1828800"/>
            <a:ext cx="2395728" cy="914400"/>
          </a:xfrm>
          <a:prstGeom prst="chevron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30368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数据范围过滤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111496" y="2880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按角色 + 组织自动限定可见数据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70064" y="1828800"/>
            <a:ext cx="2395728" cy="914400"/>
          </a:xfrm>
          <a:prstGeom prst="chevron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534656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业务服务层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15784" y="2880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 个服务：资金 / 项目 / 数据包 / 审批…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674352" y="1828800"/>
            <a:ext cx="2395728" cy="914400"/>
          </a:xfrm>
          <a:prstGeom prst="chevron">
            <a:avLst/>
          </a:prstGeom>
          <a:solidFill>
            <a:srgbClr val="2D6A4F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838944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统一信封响应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720072" y="2880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success_response / ok_list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11274552" cy="2252045"/>
          </a:xfrm>
          <a:prstGeom prst="roundRect">
            <a:avLst>
              <a:gd name="adj" fmla="val 28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49808" y="4160520"/>
            <a:ext cx="10689336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工程纪律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9808" y="4578572"/>
            <a:ext cx="10689336" cy="1504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事务工具箱：with_transaction / 嵌套事务 / 死锁重试 / 批量操作（1000 条/批）</a:t>
            </a:r>
            <a:endParaRPr lang="en-US" sz="130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错误细节不出站：detail 一律泛化文案 + 日志 exc_info（源码扫描测试强制拦截）</a:t>
            </a:r>
            <a:endParaRPr lang="en-US" sz="130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响应格式统一：全部列表端点走 ok_list 信封（本轮收敛 51 处裸 dict）</a:t>
            </a:r>
            <a:endParaRPr lang="en-US" sz="130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flake8 --count=0 与 bandit 中高危=0 是硬门禁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技术架构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数据层：59 个模型的安全基座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39496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模型与迁移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23317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59 个模型文件 / 120+ 模型类：村、项目、资金、学校、政策、组织、审计…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TimestampMixin：created_at / updated_at / sync_version 自动维护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SoftDeleteMixin：is_active 软删 + deleted_by 审计列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45 个 Alembic 迁移：含 PII 存量回填（幂等可重跑）与外键守护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Schema 权威来源 = models/ + Alembic（init.sql 已删除）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64808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完整性守护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64808" y="233172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组织删除级联守卫：名下有项目/用户时拒绝硬删（ADR-0003）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projects 组织外键 CASCADE→SET NULL，截断级联删除链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PII 列 EncryptedText：写入自动加密、读取自动解密（ADR-0005）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sync_version 增量水位：ORM 事件自动递增，支撑增量数据包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删库守卫：库完整性校验失败默认拒绝启动（ALLOW_DB_RESET 显式解锁）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技术架构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离线优先：数据如何“随人走”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单机模式（默认）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49808" y="22860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数据全部在本机 %APPDATA% 数据库文件</a:t>
            </a:r>
            <a:endParaRPr lang="en-US" sz="13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智能备份中心：自动/即时/磁盘检测/备份到 U 盘</a:t>
            </a:r>
            <a:endParaRPr lang="en-US" sz="13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断网零功能损失（AI 增强除外，可关闭）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57784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64808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多机协同模式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64808" y="22860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加密数据包（口令 + PBKDF2）在机器间摆渡</a:t>
            </a:r>
            <a:endParaRPr lang="en-US" sz="13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包内 manifest 记录 org/类型/记录数/校验和</a:t>
            </a:r>
            <a:endParaRPr lang="en-US" sz="13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跨机同步需配置相同 ENCRYPTION_KEY（密文可解）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443484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本机 SQLite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31136" y="4818888"/>
            <a:ext cx="25603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523744" y="443484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523744" y="443484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导出数据包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0" y="4818888"/>
            <a:ext cx="25603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407408" y="443484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407408" y="443484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加密 .zip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98464" y="4818888"/>
            <a:ext cx="25603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291072" y="443484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291072" y="443484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介质摆渡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882128" y="4818888"/>
            <a:ext cx="25603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174736" y="443484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174736" y="443484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对端导入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765792" y="4818888"/>
            <a:ext cx="25603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058400" y="443484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0058400" y="443484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确认落库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5623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全流程留痕：导入/导出/确认各环节写入工作日志与操作历史，包完整性校验失败即中止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22960"/>
            <a:ext cx="4206240" cy="43151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0" b="1" dirty="0">
                <a:solidFill>
                  <a:srgbClr val="1C36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914400" y="3977640"/>
            <a:ext cx="10332720" cy="87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功能模块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32688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FUNCTIONAL MODULES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40664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七大业务域 · 71 个功能菜单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业务：村/项目/资金/学校/政策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协同：数据包 · 审批 · 消息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分析：看板 · 报表 · 大屏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E81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功能模块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功能地图：七大业务域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639312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13232" y="18562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帮扶业务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13232" y="231343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帮扶村 10 大板块 · 项目全生命周期 · 资金 8 阶段 · 学校助学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villages / projects / funds / schools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70832" y="1691640"/>
            <a:ext cx="3639312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26864" y="18562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政策与审批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26864" y="231343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政策库 FTS5 全文检索 · 审批工作流 · 我的申请 · 审批历史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26864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policies / approval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84464" y="1691640"/>
            <a:ext cx="3639312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540496" y="18562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数据协同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40496" y="231343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数据包全量/增量导出导入 · 版本管理 · 冲突解决 · 接收包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40496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dataPackage / dataSync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3639312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13232" y="40965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数据分析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13232" y="455371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分析仪表盘 · 年度对比 · 成效评估 · 报表导出 · 帮扶大屏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" y="5394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analytics / bigscreen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70832" y="3931920"/>
            <a:ext cx="3639312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626864" y="40965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驻村工作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626864" y="455371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工作台账 · 驻村任务 · 工作日历 · 考核评估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26864" y="5394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ruralWorks / work-calendar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84464" y="3931920"/>
            <a:ext cx="3639312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540496" y="40965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系统管理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540496" y="455371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用户/角色/菜单/组织 · 权限包 · 审计 · 备份 · 更新日志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40496" y="5394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system / admin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消息中心 · 待办中心 · 提醒中心 · 全局搜索 · 回收站 —— 贯穿各业务域的横向能力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功能模块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工作台：打开系统的第一屏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个人工作台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KPI 卡片真实环比：本年资金 / 项目 / 村 / 学校，方向箭头动态化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待办聚合：待审批 / 待办任务 / 未读消息一键直达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快捷操作自定义布局（QuickActions 拖拽）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图表年度趋势：资金 / 项目双轴联动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工作台可按角色裁剪：viewer 只见只读面板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56248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分析仪表盘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624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年度对比：任选两年，村/项目/资金多维并排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帮扶成效评估：村庄打分、排名、历年对比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ECharts 统一主题（军绿科技风），全站图表一致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帮扶大屏：深色全屏模式，适用于展示/汇报场景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图表空态统一：无数据不出现“白板图”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功能模块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帮扶村：一村一档，一年一账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E8EFEA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169164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基本情况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64992" y="169164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E8EFE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64992" y="169164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人口变动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72784" y="169164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E8EFEA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72784" y="169164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收入结构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80576" y="169164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E8EFE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80576" y="169164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产业帮扶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E8EFE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292608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基础设施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364992" y="292608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E8EFE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364992" y="292608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组织建设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72784" y="292608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E8EFEA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272784" y="292608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帮扶成效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80576" y="292608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E8EFE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180576" y="292608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年度对比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4434840"/>
            <a:ext cx="11247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按年度记录全村数据，跨年对比自动生成（人口/收入/资金投入趋势）</a:t>
            </a:r>
            <a:endParaRPr lang="en-US" sz="13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村档案变更历史：字段级 old → new 记录，谁改的、何时改、改了什么全程可溯</a:t>
            </a:r>
            <a:endParaRPr lang="en-US" sz="13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村委会成员、脱贫跟踪、荣誉展示；软删除进回收站，管理员可恢复或彻底删除</a:t>
            </a:r>
            <a:endParaRPr lang="en-US" sz="13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年度板块数据支持 Excel 模板按板块导入（工作表名需与板块对应）；整村档案可导出（脱敏可选），支撑向上汇报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功能模块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项目管理：从立项到验收的全生命周期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011680" cy="822960"/>
          </a:xfrm>
          <a:prstGeom prst="chevron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1783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立项申请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68296" y="1783080"/>
            <a:ext cx="2011680" cy="822960"/>
          </a:xfrm>
          <a:prstGeom prst="chevron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459736" y="1783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审批通过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79392" y="1783080"/>
            <a:ext cx="2011680" cy="822960"/>
          </a:xfrm>
          <a:prstGeom prst="chevron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370832" y="1783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执行跟踪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90488" y="1783080"/>
            <a:ext cx="2011680" cy="822960"/>
          </a:xfrm>
          <a:prstGeom prst="chevron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81928" y="1783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里程碑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01584" y="1783080"/>
            <a:ext cx="2011680" cy="822960"/>
          </a:xfrm>
          <a:prstGeom prst="chevron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193024" y="1783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竣工验收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012680" y="1783080"/>
            <a:ext cx="2011680" cy="822960"/>
          </a:xfrm>
          <a:prstGeom prst="chevron">
            <a:avLst/>
          </a:prstGeom>
          <a:solidFill>
            <a:srgbClr val="2D6A4F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104120" y="1783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归档沉淀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063240"/>
            <a:ext cx="11247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项目档案：负责单位（组织隔离）、帮扶村关联、预算/实际花费、进度百分比、优先级、负责人</a:t>
            </a:r>
            <a:endParaRPr lang="en-US" sz="1400" dirty="0"/>
          </a:p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里程碑管理：阶段节点 + 甘特图（自研轻量 gantt，ADR-0012），进度照片墙留证</a:t>
            </a:r>
            <a:endParaRPr lang="en-US" sz="1400" dirty="0"/>
          </a:p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任务分解：项目任务看板，执行人/截止日/完成状态；变更历史全程留痕</a:t>
            </a:r>
            <a:endParaRPr lang="en-US" sz="1400" dirty="0"/>
          </a:p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软删除 + 回收站：误删可恢复；删除前级联检查，防误伤资金数据</a:t>
            </a:r>
            <a:endParaRPr lang="en-US" sz="1400" dirty="0"/>
          </a:p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数据范围：普通用户仅见本人录入，管理员见本组织及下级，超级管理员全局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功能模块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资金管理：一笔钱的八个阶段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41248" y="1783080"/>
            <a:ext cx="658368" cy="658368"/>
          </a:xfrm>
          <a:prstGeom prst="ellipse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41248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12648" y="254203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申请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536192" y="2112264"/>
            <a:ext cx="34747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290572" y="1783080"/>
            <a:ext cx="658368" cy="658368"/>
          </a:xfrm>
          <a:prstGeom prst="ellipse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290572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61972" y="254203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985516" y="2112264"/>
            <a:ext cx="34747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739896" y="1783080"/>
            <a:ext cx="658368" cy="658368"/>
          </a:xfrm>
          <a:prstGeom prst="ellipse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739896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11296" y="254203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拨付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434840" y="2112264"/>
            <a:ext cx="34747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189220" y="1783080"/>
            <a:ext cx="658368" cy="658368"/>
          </a:xfrm>
          <a:prstGeom prst="ellipse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189220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60620" y="254203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884164" y="2112264"/>
            <a:ext cx="34747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638544" y="1783080"/>
            <a:ext cx="658368" cy="658368"/>
          </a:xfrm>
          <a:prstGeom prst="ellipse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38544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9944" y="254203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报销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333488" y="2112264"/>
            <a:ext cx="34747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087868" y="1783080"/>
            <a:ext cx="658368" cy="658368"/>
          </a:xfrm>
          <a:prstGeom prst="ellipse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087868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859268" y="254203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核销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782812" y="2112264"/>
            <a:ext cx="34747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537192" y="1783080"/>
            <a:ext cx="658368" cy="658368"/>
          </a:xfrm>
          <a:prstGeom prst="ellipse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537192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308592" y="254203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决算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10232136" y="2112264"/>
            <a:ext cx="34747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986516" y="1783080"/>
            <a:ext cx="658368" cy="658368"/>
          </a:xfrm>
          <a:prstGeom prst="ellipse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0986516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757916" y="254203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归档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457200" y="3246120"/>
            <a:ext cx="548640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49808" y="3456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资金台账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49808" y="388620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资金来源 / 金额 / 阶段状态 / 凭证附件全要素</a:t>
            </a:r>
            <a:endParaRPr lang="en-US" sz="13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编号 ZJ 自动生成；预算三级预警 80/90/100%</a:t>
            </a:r>
            <a:endParaRPr lang="en-US" sz="13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年度对比与资金分析图表（走势/结构/单位排名）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263640" y="3246120"/>
            <a:ext cx="548640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556248" y="3456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监管闭环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556248" y="388620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合同 → 支付凭证 → 划转凭证 全链条挂接</a:t>
            </a:r>
            <a:endParaRPr lang="en-US" sz="13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异常监控：超支 / 偏差 / 闲置 / 重复支付 / 缺凭证</a:t>
            </a:r>
            <a:endParaRPr lang="en-US" sz="13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普通用户全流程可操作（申请/审批/拨付/结算），审批留痕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功能模块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学校帮扶 · 政策法规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帮扶学校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学校档案：校长/联系电话（加密列）/地区层级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受助学生与助学名单：助学金发放记录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奖学金台账：发放批次 / 金额 / 对象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学校帮扶项目挂接与附件（图片/文档预览）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删除关联预警与软删除回收站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56248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政策法规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624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政策库：分类 / 层级 / 发布年份多维筛选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FTS5 全文检索：命中片段高亮 + XSS 消毒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文件在线预览（PDF/图片），收藏与阅读痕迹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全角色公开模块：普通用户与管理员可见性一致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政策执行情况跟踪与关联业务引用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功能模块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审批中心：流转可视，留痕完整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395728" cy="868680"/>
          </a:xfrm>
          <a:prstGeom prst="chevron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85216" y="1783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提交申请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61488" y="1783080"/>
            <a:ext cx="2395728" cy="868680"/>
          </a:xfrm>
          <a:prstGeom prst="chevron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889504" y="1783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待审批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65776" y="1783080"/>
            <a:ext cx="2395728" cy="868680"/>
          </a:xfrm>
          <a:prstGeom prst="chevron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93792" y="1783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审批中（可转审）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70064" y="1783080"/>
            <a:ext cx="2395728" cy="868680"/>
          </a:xfrm>
          <a:prstGeom prst="chevron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0" y="1783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 / 驳回（必填原因）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674352" y="1783080"/>
            <a:ext cx="2395728" cy="868680"/>
          </a:xfrm>
          <a:prstGeom prst="chevron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802368" y="1783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归档历史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11247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申请人视角：我的申请全状态跟踪；审批人视角：待办池 + 全部任务（/approval/tasks/all）</a:t>
            </a:r>
            <a:endParaRPr lang="en-US" sz="1400" dirty="0"/>
          </a:p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「待我审批 / 我发起的 / 已完成」状态页签切换，支持批量通过 / 驳回（原因必填）</a:t>
            </a:r>
            <a:endParaRPr lang="en-US" sz="1400" dirty="0"/>
          </a:p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驳回必填原因（前后端双向校验）；转审批将任务移交其他管理员，链条完整记录</a:t>
            </a:r>
            <a:endParaRPr lang="en-US" sz="1400" dirty="0"/>
          </a:p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审批概览：通过率 / 平均时长 / 按类型分布，管理视角一眼看清瓶颈</a:t>
            </a:r>
            <a:endParaRPr lang="en-US" sz="1400" dirty="0"/>
          </a:p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与经费申请深度联动：审批通过自动推进资金阶段状态</a:t>
            </a:r>
            <a:endParaRPr lang="en-US" sz="1400" dirty="0"/>
          </a:p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全部审批动作写工作日志 + 操作历史，支持审计追溯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功能模块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数据包协同：增量更新 + 版本管理（v1.11 新功能）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548640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增量更新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267712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检测变更：对比基准包时间戳，输出新增/修改/软删统计</a:t>
            </a:r>
            <a:endParaRPr lang="en-US" sz="125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导出增量包：仅打包变更记录，包型 update</a:t>
            </a:r>
            <a:endParaRPr lang="en-US" sz="125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导入预览：先看“将新增几条、覆盖几条”，再决定是否应用</a:t>
            </a:r>
            <a:endParaRPr lang="en-US" sz="125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应用导入：管理员 + 覆盖式 upsert，保留原始 ID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627632"/>
            <a:ext cx="548640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56248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版本管理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6248" y="2267712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为数据包创建版本快照（变更集记录）</a:t>
            </a:r>
            <a:endParaRPr lang="en-US" sz="125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两版本对比：新增 / 修改 / 移除 按类型列出</a:t>
            </a:r>
            <a:endParaRPr lang="en-US" sz="125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版本详情按数据类型分页查看记录 ID 集合</a:t>
            </a:r>
            <a:endParaRPr lang="en-US" sz="125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组织访问校验 + 审计日志（本轮补齐）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11274552" cy="1554480"/>
          </a:xfrm>
          <a:prstGeom prst="roundRect">
            <a:avLst>
              <a:gd name="adj" fmla="val 4118"/>
            </a:avLst>
          </a:prstGeom>
          <a:solidFill>
            <a:srgbClr val="E8EFEA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4736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工程细节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" y="50749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manifest.json 清单（包型/组织/记录数/校验和/增量基准）+ data/{type}.json 明细；导入走 SAVEPOINT 事务 + 独占写锁（防 SQLITE_BUSY）；批量 upsert 保留原始主键，杜绝外键孤儿；三个端点 12 项接口测试锁定契约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功能模块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数据分析与报表：让数据开口说话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639312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13232" y="18562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分析仪表盘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13232" y="2295144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任选两年多维对比；村庄人口/收入趋势、资金投入走势、项目完成率一览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0832" y="1691640"/>
            <a:ext cx="3639312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26864" y="18562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成效评估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626864" y="2295144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村庄年度评分 + 排名 + 历年对比；评估结果回流帮扶决策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84464" y="1691640"/>
            <a:ext cx="3639312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540496" y="18562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报表导出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540496" y="2295144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Word / PDF 真实渲染（python-docx / reportlab 内置中文字体），按年度真实聚合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3639312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13232" y="40965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帮扶大屏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13232" y="4535424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深色全屏大屏：核心指标 + 图表轮播，适配汇报展示场景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70832" y="3931920"/>
            <a:ext cx="3639312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626864" y="40965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地图可视化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626864" y="4535424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贵州 88 县区区域数据，帮扶分布上图；离线地图瓦片管理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84464" y="3931920"/>
            <a:ext cx="3639312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540496" y="40965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工作分析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540496" y="4535424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驻村工作量统计（按人/按单位/按月），支撑考核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功能模块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系统管理：管理员的全套工具箱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8196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用户与组织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203704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用户增删改、组织树管理（启动钩子自动自愈）、组织删除级联守卫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37960" y="18196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角色与菜单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203704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四角色体系；菜单可见性按角色 + 用户级 + 权限包三级裁剪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72968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1520" y="33009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权限包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68503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菜单权限套餐化管理：给一批用户一键授权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172968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37960" y="33009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审计中心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368503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操作日志 / 登录尝试 / 安全事件 / API 访问，支持导出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654296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31520" y="47823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备份中心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" y="51663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智能备份、加密备份、上传恢复（流式防 OOM）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4654296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37960" y="47823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系统运维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37960" y="51663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更新日志、配置包、机器码/通行码、密钥管理、数据分层归档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22960"/>
            <a:ext cx="4206240" cy="43151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0" b="1" dirty="0">
                <a:solidFill>
                  <a:srgbClr val="1C36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914400" y="3977640"/>
            <a:ext cx="10332720" cy="87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安全体系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32688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SECURITY &amp; COMPLIANCE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40664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四角色权限模型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组织数据隔离（fail-closed）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PII 字段透明加密（ADR-0005）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审计合规与供应链完整性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E81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安全体系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四角色权限模型：简单即安全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697480" cy="301752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85800" y="1920240"/>
            <a:ext cx="2240280" cy="548640"/>
          </a:xfrm>
          <a:prstGeom prst="roundRect">
            <a:avLst>
              <a:gd name="adj" fmla="val 8333"/>
            </a:avLst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5800" y="1920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super_admin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超级管理员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0175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全局数据 · 组织管理 · 系统配置 · 用户与角色管理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64992" y="1691640"/>
            <a:ext cx="2697480" cy="301752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593592" y="1920240"/>
            <a:ext cx="2240280" cy="548640"/>
          </a:xfrm>
          <a:prstGeom prst="roundRect">
            <a:avLst>
              <a:gd name="adj" fmla="val 8333"/>
            </a:avLst>
          </a:prstGeom>
          <a:solidFill>
            <a:srgbClr val="E8EFE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593592" y="1920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admin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93592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管理员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93592" y="30175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本组织及下级数据 · 业务管理 · 数据包收发 · 备份恢复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72784" y="1691640"/>
            <a:ext cx="2697480" cy="301752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501384" y="1920240"/>
            <a:ext cx="2240280" cy="548640"/>
          </a:xfrm>
          <a:prstGeom prst="roundRect">
            <a:avLst>
              <a:gd name="adj" fmla="val 8333"/>
            </a:avLst>
          </a:prstGeom>
          <a:solidFill>
            <a:srgbClr val="E8EFE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01384" y="1920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user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01384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普通用户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01384" y="30175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本人录入数据 · 业务全流程操作（申请/审批/录入/上报）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80576" y="1691640"/>
            <a:ext cx="2697480" cy="301752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409176" y="1920240"/>
            <a:ext cx="2240280" cy="548640"/>
          </a:xfrm>
          <a:prstGeom prst="roundRect">
            <a:avLst>
              <a:gd name="adj" fmla="val 8333"/>
            </a:avLst>
          </a:prstGeom>
          <a:solidFill>
            <a:srgbClr val="E8EFEA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409176" y="1920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viewer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409176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查看者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409176" y="30175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授权范围只读 · 无任何写操作（后端强制 403）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502920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历史角色自动归一化：approval_leader / manager → admin，operator → user（前后端同源映射）</a:t>
            </a:r>
            <a:endParaRPr lang="en-US" sz="13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菜单可见性三级裁剪：角色默认 → 权限包 → 用户级配置；公开模块（政策/数据分析）全角色一致</a:t>
            </a:r>
            <a:endParaRPr lang="en-US" sz="13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写操作后端二次校验：viewer 写入一律 403，前端隐藏按钮只是体验层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安全体系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数据隔离：fail-closed 哲学（ADR-0002）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63931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ALL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37744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超级管理员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4414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不过滤，全局可见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70832" y="1691640"/>
            <a:ext cx="363931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45152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OWN_DEPT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91072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45152" y="24414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本组织 + 下级组织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84464" y="1691640"/>
            <a:ext cx="363931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558784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OWN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204704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普通用户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58784" y="24414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仅本人录入（created_by）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11274552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49808" y="36393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三条 fail-closed 铁律（回归测试锁定）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9808" y="40690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无组织用户绝不升级为管理员：旧实现“无组织 → is_admin=True”已根除，一律回退“仅本人”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模型缺过滤列 = 拒绝而非放行：缺组织列降级“仅本人”；连 owner 列都缺则返回空集（绝不返回全量）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组织删除级联守卫（ADR-0003）：名下有项目/用户时拒绝硬删并提示计数；外键 CASCADE→SET NULL 截断级联链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安全体系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PII 字段透明加密（ADR-0005）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00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1847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读写全透明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2286000"/>
            <a:ext cx="1965960" cy="603504"/>
          </a:xfrm>
          <a:prstGeom prst="roundRect">
            <a:avLst>
              <a:gd name="adj" fmla="val 7576"/>
            </a:avLst>
          </a:prstGeom>
          <a:solidFill>
            <a:srgbClr val="E8EFEA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2286000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ORM 写入 · 明文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71216" y="2587752"/>
            <a:ext cx="21945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68680" y="2999232"/>
            <a:ext cx="1965960" cy="603504"/>
          </a:xfrm>
          <a:prstGeom prst="roundRect">
            <a:avLst>
              <a:gd name="adj" fmla="val 7576"/>
            </a:avLst>
          </a:prstGeom>
          <a:solidFill>
            <a:srgbClr val="E8EFE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2999232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EncryptedText · AES-SIV 加密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71216" y="3300984"/>
            <a:ext cx="21945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8680" y="3712464"/>
            <a:ext cx="1965960" cy="603504"/>
          </a:xfrm>
          <a:prstGeom prst="roundRect">
            <a:avLst>
              <a:gd name="adj" fmla="val 7576"/>
            </a:avLst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3712464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SQLite · enc.v1: 密文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54680" y="2331720"/>
            <a:ext cx="2697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 9 列：身份证号 / 电话类（含 users.phone）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密钥：ENCRYPTION_KEY 派生（多机同配）或运行时密钥库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1645920"/>
            <a:ext cx="5486400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56248" y="1847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确定性加密 = 查询零改写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56248" y="233172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AES-SIV（RFC 5297）：同明文恒同密文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WHERE phone = :明文 绑定参数加密后直接命中密文——既有等值查询一行不改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DB 文件直接打开看不到任何明文 PII（测试实证）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历史明文行原样透出：迁移前数据不报错、不二次加密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709160"/>
            <a:ext cx="11274552" cy="1417320"/>
          </a:xfrm>
          <a:prstGeom prst="roundRect">
            <a:avLst>
              <a:gd name="adj" fmla="val 4516"/>
            </a:avLst>
          </a:prstGeom>
          <a:solidFill>
            <a:srgbClr val="E8EFEA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" y="4864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纵深防御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519379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SQLCipher fail-closed：启用加密时先探测驱动，普通 sqlite3 会静默忽略 PRAGMA key 造成“假加密”——探测不到直接拒绝启动；PRAGMA key 为连接首条语句字面量。前端 DataMaskingService 在解密后的明文上按权限掩码展示。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安全体系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审计合规：每一步都留痕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64792"/>
            <a:ext cx="109728" cy="1051560"/>
          </a:xfrm>
          <a:prstGeom prst="rect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13232" y="17099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双写审计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2093976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AuditLogger 同时写文件日志与数据库（audit_logs / login_attempts / api_access_logs），断电不丢证据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764792"/>
            <a:ext cx="109728" cy="105156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19672" y="17099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全程留痕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9672" y="2093976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所有写操作强制 write_work_log；导入导出/确认各环节写操作历史；字段级变更历史 old→new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109728" cy="1051560"/>
          </a:xfrm>
          <a:prstGeom prst="rect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13232" y="31912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错误不泄密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3232" y="3575304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api/v1 响应禁止内插异常对象——源码扫描测试强制拦截，detail 一律泛化文案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246120"/>
            <a:ext cx="109728" cy="105156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19672" y="31912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限流防线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9672" y="3575304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登录 5/分 · 注册 3/分 · 刷新 10/分 · CSRF 30/分（滑动窗口，签名 fail-closed）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727448"/>
            <a:ext cx="109728" cy="1051560"/>
          </a:xfrm>
          <a:prstGeom prst="rect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13232" y="46725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破窗恢复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13232" y="5056632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ADR-0008：出厂管理员密码恢复仅限本机 + 未激活账号 + 全程审计，唯一例外通道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4727448"/>
            <a:ext cx="109728" cy="105156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19672" y="46725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令牌治理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19672" y="5056632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JWT 携带 jti + Token 黑名单持久化；登出/改密立即失效；token_version 版本化吊销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安全体系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供应链完整性：从源码到安装包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395728" cy="868680"/>
          </a:xfrm>
          <a:prstGeom prst="chevron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85216" y="17830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源码仓库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61488" y="1783080"/>
            <a:ext cx="2395728" cy="868680"/>
          </a:xfrm>
          <a:prstGeom prst="chevron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889504" y="17830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CI 构建（Actions pin SHA）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65776" y="1783080"/>
            <a:ext cx="2395728" cy="868680"/>
          </a:xfrm>
          <a:prstGeom prst="chevron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93792" y="17830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依赖钉扎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70064" y="1783080"/>
            <a:ext cx="2395728" cy="868680"/>
          </a:xfrm>
          <a:prstGeom prst="chevron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0" y="17830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安装包 + SHA256SUMS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74352" y="1783080"/>
            <a:ext cx="2395728" cy="868680"/>
          </a:xfrm>
          <a:prstGeom prst="chevron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802368" y="17830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离线分发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11247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VC++ 运行库 37.7MB 移出 git：CI 从微软官方直链下载 + SHA256 钉扎；安装期 NSIS 钩子二次校验（三态语义：匹配安装 / 篡改中止 / 工具缺失跳过）</a:t>
            </a:r>
            <a:endParaRPr lang="en-US" sz="1350" dirty="0"/>
          </a:p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Release 附三个产物族独立 SHA256SUMS 清单；前端产物同步由字节粗校验升级为逐文件哈希比对</a:t>
            </a:r>
            <a:endParaRPr lang="en-US" sz="1350" dirty="0"/>
          </a:p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 Actions 全量 pin 到 commit SHA（57 处 uses），消除 tag 漂移的供应链风险</a:t>
            </a:r>
            <a:endParaRPr lang="en-US" sz="1350" dirty="0"/>
          </a:p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代码签名管线就绪：配置证书后自动签名后端 exe 与安装包/卸载器</a:t>
            </a:r>
            <a:endParaRPr lang="en-US" sz="1350" dirty="0"/>
          </a:p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NSIS 钩子路径转义根修（v1.11.1）：C 风格转义损坏路径曾致真机安装全部中止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22960"/>
            <a:ext cx="4206240" cy="43151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0" b="1" dirty="0">
                <a:solidFill>
                  <a:srgbClr val="1C36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914400" y="3977640"/>
            <a:ext cx="10332720" cy="87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质量工程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32688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QUALITY ENGINEERING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40664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18,745 项自动化测试（后端 12716 + 前端 6363）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三重前端门禁 + 双重后端门禁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CI/CD 流水线（PR Checks 7 作业）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代码深度审查（376 文件 / 918 条发现）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双平台安装包自动构建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项预防棘轮门禁 + 11 个真实 HTTP 探针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E81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质量工程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测试体系：数字不会说谎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783080"/>
          <a:ext cx="60350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7150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数据来源：2026-10-17 实测（v1.12.17）· 后端 12716 / 前端 6363 用例 · 覆盖率 100%（行+分支）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949440" y="1783080"/>
            <a:ext cx="48006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42048" y="1965960"/>
            <a:ext cx="4215384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测试纪律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242048" y="2384012"/>
            <a:ext cx="4215384" cy="3733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前后端覆盖率门禁均 100%（CI 硬阈值，12 个源码分组全约束）</a:t>
            </a:r>
            <a:endParaRPr lang="en-US" sz="11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新增接口/页面必须配套测试（协作约定强制）</a:t>
            </a:r>
            <a:endParaRPr lang="en-US" sz="11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弱断言治理：安全守卫补真实断言（开放重定向 / javascript: 协议防线）</a:t>
            </a:r>
            <a:endParaRPr lang="en-US" sz="11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安全回归：限流签名 / loopback 门禁 / 错误不泄露 / PII 加密 / 组织守卫 均有专项锁定</a:t>
            </a:r>
            <a:endParaRPr lang="en-US" sz="11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项预防棘轮门禁接入 CI（os._exit / 上传限长 / 无界读 / 子进程编码 / 目录替换 / 周期任务注册），NEW=0</a:t>
            </a:r>
            <a:endParaRPr lang="en-US" sz="11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个真实 HTTP 探针脚本（backend/tests/probe/）：与运行时刻 / 时区无关</a:t>
            </a:r>
            <a:endParaRPr lang="en-US" sz="11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 个 skip 滥用：仅 13 个平台专属跳过（Win/Linux 差异）；flaky 用例公开记录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质量工程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CI/CD：从提交到安装包全自动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7373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 Checks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383280" y="1810512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每次 PR：后端测试 + 前端测试 + flake8 + Codecov 覆盖率对比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8346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Nightly Full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383280" y="2907792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每日全量：三 job（后端/前端/质量报告）+ JUnit/HTML 报告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39319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Tag → 安装包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383280" y="4005072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 tag 自动构建：Windows NSIS + 麒麟 ARM64 双 DEB + SHA256SUMS → Release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502920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50292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质量门禁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383280" y="5102352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pre-commit（ruff/空白/YAML）+ pre-push（flake8/bandit/vue-tsc）两阶段拦截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构建产物：Setup-x64.exe（Windows）· Electron DEB + standalone DEB（麒麟 ARM64，buildx+QEMU 交叉构建，layer 缓存加速）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质量工程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发布工程：目标机器零依赖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Windows x64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PyInstaller onedir（ADR-0006）：冷启动 32.3s → 8.6s（3.8 倍）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electron-builder NSIS：静默安装 VC++ 运行库（哈希校验）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内置 Python 运行时 + 全部 pip 依赖 + 前端静态资源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安装/卸载/升级全程保留用户数据；卸载静默默认保留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SHA256SUMS 随 Release 附带，分发前可校验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56248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麒麟 V10 ARM64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624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Docker buildx + QEMU 交叉构建（x86 CI 出 ARM64 产物）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最低 GLIBC（Buster）构建，保证向前兼容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双形态：Electron 桌面版 / standalone 纯 Web 版（systemd 服务）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CRLF 回归门禁：DEB 内脚本 \r 即构建失败（历史事故防线）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postinst 自动 chmod + 桌面数据库刷新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质量工程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代码深度审查：OpenCodeReview 全量扫描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扫描规模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工具：alibaba/open-code-review v1.12.4（全文件 scan 模式）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范围：376 个源文件（backend/app 全覆盖）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产出：918 条发现 — critical 36 / high 177 / medium 458 / low 247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消耗约 2,534 万 token，逐条甄别而非机械采纳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确证缺陷 19 处已修复；有意设计/误报显式记录不改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56248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代表性修复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624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事务装饰器两条路径均缺 commit：写入被静默丢弃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令牌 extra_claims 可覆盖 type/exp；缺 type 令牌 fail-open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永久吊销被降级为 24 小时 —— 已吊销令牌复活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require_admin 模式判定 fail-open（约 100 处调用）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AES 密钥长度非法时静默换随机密钥 → 数据永不可解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归档恢复路径穿越；本地门禁在 cp936 下「通过即崩溃」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22960"/>
            <a:ext cx="4206240" cy="43151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0" b="1" dirty="0">
                <a:solidFill>
                  <a:srgbClr val="1C36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914400" y="3977640"/>
            <a:ext cx="10332720" cy="87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部署运行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32688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DEPLOYMENT &amp; OPERATION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40664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三种部署形态对比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备份恢复与离线升级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版本历程 1.10 → 1.11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后续演进方向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E81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部署运行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三种部署形态：按环境选型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639312" cy="3931920"/>
          </a:xfrm>
          <a:prstGeom prst="roundRect">
            <a:avLst>
              <a:gd name="adj" fmla="val 1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Windows 单机版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395728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23957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NSIS 安装包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Win10/11 x64</a:t>
            </a:r>
            <a:endParaRPr lang="en-US" sz="13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双击安装零依赖</a:t>
            </a:r>
            <a:endParaRPr lang="en-US" sz="13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托盘/开机自启</a:t>
            </a:r>
            <a:endParaRPr lang="en-US" sz="13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223 MB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5074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70832" y="1691640"/>
            <a:ext cx="3639312" cy="3931920"/>
          </a:xfrm>
          <a:prstGeom prst="roundRect">
            <a:avLst>
              <a:gd name="adj" fmla="val 1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645152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麒麟桌面版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645152" y="2395728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645152" y="23957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Electron DEB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45152" y="30175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银河麒麟 V10 ARM64</a:t>
            </a:r>
            <a:endParaRPr lang="en-US" sz="13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桌面双击运行</a:t>
            </a:r>
            <a:endParaRPr lang="en-US" sz="13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党政机适配</a:t>
            </a:r>
            <a:endParaRPr lang="en-US" sz="13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132 MB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45152" y="5074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84464" y="1691640"/>
            <a:ext cx="3639312" cy="3931920"/>
          </a:xfrm>
          <a:prstGeom prst="roundRect">
            <a:avLst>
              <a:gd name="adj" fmla="val 1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558784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麒麟服务版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558784" y="2395728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558784" y="23957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Standalone DEB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558784" y="30175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纯 Web 无桌面</a:t>
            </a:r>
            <a:endParaRPr lang="en-US" sz="13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systemd 托管</a:t>
            </a:r>
            <a:endParaRPr lang="en-US" sz="13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浏览器访问</a:t>
            </a:r>
            <a:endParaRPr lang="en-US" sz="13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55 MB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58784" y="5074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全部形态离线可用；安装包内含 VC++ 运行库（Windows）与 Python 运行时，目标机器无需预装任何环境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部署运行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备份恢复与离线升级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1828800"/>
            <a:ext cx="4901184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备份与恢复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266188"/>
            <a:ext cx="4901184" cy="3713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备份包必含数据库本体，缺失即抛错（fail-loud）；列表标注 is_encrypted / database_included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上传恢复：8MB 分块流式落盘防 OOM、10GB 防御上限；上传前内存预校验（加密标记 / 损坏 ZIP / 缺库文件）→ 拒绝零残留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恢复流程 WAL 安全：先释放连接池再覆盖数据库文件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加密备份口令（PBKDF2+Fernet）；全部拒绝路径清理临时文件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路径单一来源：以会话引擎 / DATABASE_URL 为准（历史错源事故根治）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56248" y="1828800"/>
            <a:ext cx="4901184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离线升级（ADR 指南）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6248" y="2266188"/>
            <a:ext cx="4901184" cy="3713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升级四步：备份 → SHA256/签名校验 → 覆盖安装 → Alembic 迁移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失败回滚路径文档化；用户数据与安装目录分离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出厂恢复通道（ADR-0008）：仅本机 + 仅未激活管理员 + 全程审计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删库守卫：完整性失败默认 SystemExit 保留现场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机器码三级回退：Windows 重装也能通过通行码恢复授权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升级期间写请求闸门（maintenance gate）挡住并发写入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部署运行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版本历程：三个月的密集演进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5840" y="2834640"/>
            <a:ext cx="10149840" cy="0"/>
          </a:xfrm>
          <a:prstGeom prst="line">
            <a:avLst/>
          </a:prstGeom>
          <a:noFill/>
          <a:ln w="25400">
            <a:solidFill>
              <a:srgbClr val="D8E0D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41248" y="2706624"/>
            <a:ext cx="274320" cy="274320"/>
          </a:xfrm>
          <a:prstGeom prst="ellipse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v1.12.5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09-12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3520440"/>
            <a:ext cx="19659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深度审计 13 项修复：目录穿越 / 存储型 XSS / 并发 / 备份 fail-loud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81528" y="2706624"/>
            <a:ext cx="274320" cy="274320"/>
          </a:xfrm>
          <a:prstGeom prst="ellipse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74320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v1.12.7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4320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09-13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3520440"/>
            <a:ext cx="19659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遗留风险二批：上传体积三层上限、导出回收、导入拒绝记录、Windows CI 可见性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21808" y="2706624"/>
            <a:ext cx="274320" cy="274320"/>
          </a:xfrm>
          <a:prstGeom prst="ellipse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98348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v1.12.8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8348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09-14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520440"/>
            <a:ext cx="19659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R7 恢复维护闸门 / R12 低危批量 7 项 / R2 残余清零 / P-1~P-3 门禁 / R14 组织树修复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562088" y="2706624"/>
            <a:ext cx="274320" cy="274320"/>
          </a:xfrm>
          <a:prstGeom prst="ellipse">
            <a:avLst/>
          </a:prstGeom>
          <a:solidFill>
            <a:srgbClr val="1F4A38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22376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v1.12.9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2376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09-14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3520440"/>
            <a:ext cx="19659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深审缺陷批量修复（越权/数据完整性/静默失效）+ 响应信封与凭据语义修复 + 前后端覆盖率双双补齐至 100%（前端 10 个文件：安全守卫零覆盖、弱断言、死代码）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802368" y="2706624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46404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v1.12.10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46404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10-02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81160" y="3520440"/>
            <a:ext cx="19659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跨平台 CI 双红根因修复：归档恢复穿越判定去平台化（Windows 风格路径曾绕过校验）、审批时间轴断言去时区依赖（UTC runner 与本地结论相反）+ 测试会话数据根隔离契约（Linux 上 override 曾被短路忽略）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394960"/>
            <a:ext cx="11274552" cy="868680"/>
          </a:xfrm>
          <a:prstGeom prst="roundRect">
            <a:avLst>
              <a:gd name="adj" fmla="val 7368"/>
            </a:avLst>
          </a:prstGeom>
          <a:solidFill>
            <a:srgbClr val="E8EFEA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49808" y="539496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净效果：12716 后端用例（行+分支覆盖率 100%）+ 6363 前端用例全绿；Windows x64 与麒麟 ARM64 两个离线安装包由 GitHub Actions 全自动构建并发布 Release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部署运行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后续演进：已立项的工单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8196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调度任务注册表（P-2）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203704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scheduler_registry 清单化 + /health 全量暴露（当前仅落地裸 threading.Timer 扫描门禁）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37960" y="18196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依赖门禁分级（P-4）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203704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pip-audit 分级：有修复版本的高危阻断合入；无修复版本强制登记豁免理由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172968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1520" y="33009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本地环境标准化（R10）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68503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 3.11.9+ 重建 .venv + make venv/test-local 固化 PYTHONUTF8 与 IDE 注入清理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172968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37960" y="33009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代码签名落地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368503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采购证书后接入 CSC secrets，安装包/后端 exe 全签名（W6-T1）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654296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31520" y="47823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评审清单与 PR 模板（P-5）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" y="51663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新增线程/Timer、except-pass、文件写入、新依赖四类必答项并入 PR 模板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4654296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37960" y="47823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E2E 扩充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37960" y="51663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Docker E2E 关键路径 Playwright 用例扩容（当前 150 例，CI 全绿）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486400" cy="5486400"/>
          </a:xfrm>
          <a:prstGeom prst="ellipse">
            <a:avLst/>
          </a:prstGeom>
          <a:solidFill>
            <a:srgbClr val="1C362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14400" y="2286000"/>
            <a:ext cx="237744" cy="237744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80160" y="217627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spc="4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数据可信 · 流程可控 · 成效可查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77824" y="2743200"/>
            <a:ext cx="10058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谢谢观看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41605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v1.12.17  ·  仓库：github.com/lzh745200/MRRS  ·  完整文档见 docs/ 目录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46177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8FA2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12716 后端用例（行+分支覆盖率 100%）+ 6363 前端用例 全绿守护 · Windows x64 / 麒麟 ARM64 双平台离线交付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帮扶管理信息系统 — 系统介绍</dc:title>
  <dc:subject>PptxGenJS Presentation</dc:subject>
  <dc:creator>帮扶管理信息系统</dc:creator>
  <cp:lastModifiedBy>帮扶管理信息系统</cp:lastModifiedBy>
  <cp:revision>1</cp:revision>
  <dcterms:created xsi:type="dcterms:W3CDTF">2026-10-08T10:13:59Z</dcterms:created>
  <dcterms:modified xsi:type="dcterms:W3CDTF">2026-10-08T10:13:59Z</dcterms:modified>
</cp:coreProperties>
</file>