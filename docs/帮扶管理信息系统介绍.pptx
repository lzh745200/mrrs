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intro-v2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intro-v2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0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9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7200900" y="-514350"/>
            <a:ext cx="5448300" cy="5448300"/>
          </a:xfrm>
          <a:prstGeom prst="ellipse">
            <a:avLst/>
          </a:prstGeom>
          <a:noFill/>
          <a:ln w="9525">
            <a:solidFill>
              <a:schemeClr val="accent2">
                <a:alpha val="16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8058150" y="342900"/>
            <a:ext cx="3733800" cy="37338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4" name="Ellipse 4"/>
          <p:cNvSpPr/>
          <p:nvPr/>
        </p:nvSpPr>
        <p:spPr>
          <a:xfrm>
            <a:off x="8915400" y="1200150"/>
            <a:ext cx="2019300" cy="2019300"/>
          </a:xfrm>
          <a:prstGeom prst="ellipse">
            <a:avLst/>
          </a:prstGeom>
          <a:solidFill>
            <a:schemeClr val="accent2">
              <a:alpha val="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0" y="5829300"/>
            <a:ext cx="12192000" cy="1028700"/>
          </a:xfrm>
          <a:prstGeom prst="rect">
            <a:avLst/>
          </a:prstGeom>
          <a:solidFill>
            <a:srgbClr val="0F1C15">
              <a:alpha val="55000"/>
            </a:srgbClr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0" y="5829300"/>
            <a:ext cx="12192000" cy="9525"/>
          </a:xfrm>
          <a:prstGeom prst="rect">
            <a:avLst/>
          </a:prstGeom>
          <a:solidFill>
            <a:schemeClr val="accent2">
              <a:alpha val="28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7" name="Rectangle 7"/>
          <p:cNvSpPr/>
          <p:nvPr/>
        </p:nvSpPr>
        <p:spPr>
          <a:xfrm>
            <a:off x="762000" y="2038350"/>
            <a:ext cx="3238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1213485" y="1974850"/>
            <a:ext cx="150032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b="1" spc="30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2950" y="2609850"/>
            <a:ext cx="5529806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军民融合 · 乡村振兴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42950" y="3314700"/>
            <a:ext cx="4197858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帮扶数字化平台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75335" y="4108450"/>
            <a:ext cx="365540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120" dirty="0">
                <a:solidFill>
                  <a:srgbClr val="8FA79A"/>
                </a:solidFill>
                <a:latin typeface="Arial"/>
                <a:ea typeface="Arial"/>
                <a:cs typeface="Arial"/>
              </a:rPr>
              <a:t>Assistance Management Information System</a:t>
            </a:r>
          </a:p>
        </p:txBody>
      </p:sp>
      <p:sp>
        <p:nvSpPr>
          <p:cNvPr id="12" name="Rectangle 12"/>
          <p:cNvSpPr/>
          <p:nvPr/>
        </p:nvSpPr>
        <p:spPr>
          <a:xfrm>
            <a:off x="762000" y="4629150"/>
            <a:ext cx="1866900" cy="19050"/>
          </a:xfrm>
          <a:prstGeom prst="rect">
            <a:avLst/>
          </a:prstGeom>
          <a:gradFill>
            <a:gsLst>
              <a:gs pos="0">
                <a:schemeClr val="accent2">
                  <a:alpha val="95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753999" y="4914900"/>
            <a:ext cx="19622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完全离线 · 数据本机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3999" y="5257800"/>
            <a:ext cx="2174903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多机协同 · 军工级安全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V1.18.23 | 2026-10-28 | FastAPI + Vue 3 + Electron + SQLite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60000">
              <a:schemeClr val="lt1"/>
            </a:gs>
            <a:gs pos="100000">
              <a:srgbClr val="14251B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38100" cy="6858000"/>
          </a:xfrm>
          <a:prstGeom prst="rect">
            <a:avLst/>
          </a:prstGeom>
          <a:solidFill>
            <a:schemeClr val="accent2">
              <a:alpha val="8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762000" y="1428750"/>
            <a:ext cx="285750" cy="2857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2950" y="1562100"/>
            <a:ext cx="1158812" cy="7905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050" b="1" spc="225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75335" y="2279650"/>
            <a:ext cx="126100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CONTENTS</a:t>
            </a:r>
          </a:p>
        </p:txBody>
      </p:sp>
      <p:sp>
        <p:nvSpPr>
          <p:cNvPr id="6" name="Ellipse 6"/>
          <p:cNvSpPr/>
          <p:nvPr/>
        </p:nvSpPr>
        <p:spPr>
          <a:xfrm>
            <a:off x="247650" y="4248150"/>
            <a:ext cx="2857500" cy="2857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grpSp>
        <p:nvGrpSpPr>
          <p:cNvPr id="31" name="toc-list"/>
          <p:cNvGrpSpPr/>
          <p:nvPr/>
        </p:nvGrpSpPr>
        <p:grpSpPr>
          <a:xfrm>
            <a:off x="4944999" y="1371600"/>
            <a:ext cx="6485001" cy="4867275"/>
            <a:chOff x="4944999" y="1371600"/>
            <a:chExt cx="6485001" cy="4867275"/>
          </a:xfrm>
        </p:grpSpPr>
        <p:sp>
          <p:nvSpPr>
            <p:cNvPr id="7" name="TextBox 7"/>
            <p:cNvSpPr txBox="1"/>
            <p:nvPr/>
          </p:nvSpPr>
          <p:spPr>
            <a:xfrm>
              <a:off x="4944999" y="1409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476875" y="1371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系统概述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481066" y="1739900"/>
              <a:ext cx="146658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定位 · 使命 · 关键数字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4953000" y="2038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4944999" y="22479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476875" y="22098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技术架构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5481066" y="2578100"/>
              <a:ext cx="270660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技术栈 · UI v2.0 · R35 精细化 · 分层设计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4953000" y="28765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944999" y="30861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76875" y="30480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功能模块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481066" y="3416300"/>
              <a:ext cx="345763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六大板块 · 一户一档入口迁移 · 影像库/消费帮扶/OCR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4953000" y="37147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944999" y="39243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476875" y="38862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安全体系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481066" y="4254500"/>
              <a:ext cx="211639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四角色权限 · PII 加密 · 审计合规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4953000" y="45529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4944999" y="47625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476875" y="47244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质量工程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5481066" y="5092700"/>
              <a:ext cx="264073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22,280 项自动化测试 · 视觉回归 · CI/CD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953000" y="53911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4944999" y="5600700"/>
              <a:ext cx="26167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476875" y="5562600"/>
              <a:ext cx="1031392" cy="36766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8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部署运行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5481066" y="5930900"/>
              <a:ext cx="231468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8FA79A"/>
                  </a:solidFill>
                  <a:latin typeface="Arial"/>
                  <a:ea typeface="Microsoft YaHei"/>
                  <a:cs typeface="Arial"/>
                </a:rPr>
                <a:t>双平台安装包 · 备份升级 · 版本历程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4953000" y="6229350"/>
              <a:ext cx="6477000" cy="9525"/>
            </a:xfrm>
            <a:custGeom>
              <a:avLst/>
              <a:gdLst/>
              <a:ahLst/>
              <a:cxnLst/>
              <a:rect l="l" t="t" r="r" b="b"/>
              <a:pathLst>
                <a:path w="6477000" h="9525">
                  <a:moveTo>
                    <a:pt x="0" y="0"/>
                  </a:moveTo>
                  <a:lnTo>
                    <a:pt x="6477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系统概述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31610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SYSTEM OVERVIEW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609725"/>
            <a:ext cx="4000500" cy="3162300"/>
            <a:chOff x="5334000" y="1609725"/>
            <a:chExt cx="4000500" cy="3162300"/>
          </a:xfrm>
        </p:grpSpPr>
        <p:sp>
          <p:nvSpPr>
            <p:cNvPr id="6" name="Rectangle 6"/>
            <p:cNvSpPr/>
            <p:nvPr/>
          </p:nvSpPr>
          <p:spPr>
            <a:xfrm>
              <a:off x="5334000" y="1676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6097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为什么需要这套系统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4955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4288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系统的定位与形态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3147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2480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离线优先的产品决策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4133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40671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一眼看懂的关键数字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762500"/>
              <a:ext cx="4000500" cy="9525"/>
            </a:xfrm>
            <a:custGeom>
              <a:avLst/>
              <a:gdLst/>
              <a:ahLst/>
              <a:cxnLst/>
              <a:rect l="l" t="t" r="r" b="b"/>
              <a:pathLst>
                <a:path w="4000500" h="9525">
                  <a:moveTo>
                    <a:pt x="0" y="0"/>
                  </a:moveTo>
                  <a:lnTo>
                    <a:pt x="40005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项目背景与使命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5904" y="1428750"/>
            <a:ext cx="471226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chemeClr val="accent5"/>
                </a:solidFill>
                <a:latin typeface="Arial"/>
                <a:ea typeface="Microsoft YaHei"/>
                <a:cs typeface="Arial"/>
              </a:rPr>
              <a:t>把驻村帮扶工作从“纸质台账 + Excel 报表”搬进可信的数字化轨道</a:t>
            </a:r>
          </a:p>
        </p:txBody>
      </p:sp>
      <p:sp>
        <p:nvSpPr>
          <p:cNvPr id="7" name="Line 7"/>
          <p:cNvSpPr/>
          <p:nvPr/>
        </p:nvSpPr>
        <p:spPr>
          <a:xfrm>
            <a:off x="762000" y="18288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mission-cards"/>
          <p:cNvGrpSpPr/>
          <p:nvPr/>
        </p:nvGrpSpPr>
        <p:grpSpPr>
          <a:xfrm>
            <a:off x="762000" y="2057400"/>
            <a:ext cx="10668000" cy="4019550"/>
            <a:chOff x="762000" y="2057400"/>
            <a:chExt cx="10668000" cy="4019550"/>
          </a:xfrm>
        </p:grpSpPr>
        <p:sp>
          <p:nvSpPr>
            <p:cNvPr id="8" name="Rectangle 8"/>
            <p:cNvSpPr/>
            <p:nvPr/>
          </p:nvSpPr>
          <p:spPr>
            <a:xfrm>
              <a:off x="762000" y="20574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97280" y="22225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驻村帮扶的现实约束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994785" y="23558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帮扶村镇多位于网络条件受限地区，互联网云服务不可依赖，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3994785" y="26416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数据必须留在本机、随人走、可备份、可交接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762000" y="344805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97280" y="361315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军民融合的协同需求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994785" y="37465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军队帮扶单位与地方协同：任务下达、经费监管、成效上报，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994785" y="40322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全流程需要留痕可审计，满足军事审计红线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838700"/>
              <a:ext cx="10668000" cy="1238250"/>
            </a:xfrm>
            <a:prstGeom prst="roundRect">
              <a:avLst>
                <a:gd name="adj" fmla="val 230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762000" y="4838700"/>
              <a:ext cx="28575" cy="12382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1097280" y="5003800"/>
              <a:ext cx="1832610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数据资产的长期价值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94785" y="5137150"/>
              <a:ext cx="4052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大板块年度数据、项目全生命周期、资金全流程——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94785" y="5422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沉淀多年后就是帮扶成效最有说服力的证据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系统定位与核心价值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value-cards"/>
          <p:cNvGrpSpPr/>
          <p:nvPr/>
        </p:nvGrpSpPr>
        <p:grpSpPr>
          <a:xfrm>
            <a:off x="762000" y="1866900"/>
            <a:ext cx="10668000" cy="4229100"/>
            <a:chOff x="762000" y="1866900"/>
            <a:chExt cx="10668000" cy="4229100"/>
          </a:xfrm>
        </p:grpSpPr>
        <p:sp>
          <p:nvSpPr>
            <p:cNvPr id="7" name="Rectangle 7"/>
            <p:cNvSpPr/>
            <p:nvPr/>
          </p:nvSpPr>
          <p:spPr>
            <a:xfrm>
              <a:off x="762000" y="18669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10668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11430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0580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完全离线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061085" y="307975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装在电脑上就能用，不依赖任何外网服务；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61085" y="3346450"/>
              <a:ext cx="29742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数据全部落在本机 SQLite，断网功能零损失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24600" y="18669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629400" y="22098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6705600" y="22860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620637" y="2660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多机协同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623685" y="3079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单位内多台电脑通过加密数据包交换数据：全量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623685" y="3346450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包 + 增量包，支持版本管理与冲突解决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76700"/>
              <a:ext cx="52959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10668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11430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58037" y="48704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军工级安全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1061085" y="5289550"/>
              <a:ext cx="29563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四角色权限、组织数据隔离、PII 字段透明加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610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密、全程审计留痕，直面军事审计要求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24600" y="4076700"/>
              <a:ext cx="5105400" cy="2019300"/>
            </a:xfrm>
            <a:prstGeom prst="roundRect">
              <a:avLst>
                <a:gd name="adj" fmla="val 1887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629400" y="4419600"/>
              <a:ext cx="247650" cy="247650"/>
            </a:xfrm>
            <a:prstGeom prst="roundRect">
              <a:avLst>
                <a:gd name="adj" fmla="val 7692"/>
              </a:avLst>
            </a:prstGeom>
            <a:solidFill>
              <a:schemeClr val="accent2">
                <a:alpha val="16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705600" y="4495800"/>
              <a:ext cx="95250" cy="95250"/>
            </a:xfrm>
            <a:prstGeom prst="roundRect">
              <a:avLst>
                <a:gd name="adj" fmla="val 1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620637" y="48704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开箱即用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623685" y="5289550"/>
              <a:ext cx="30775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NSIS / DEB 安装包内置全部运行时，目标机器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623685" y="5556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4A5A50"/>
                  </a:solidFill>
                  <a:latin typeface="Arial"/>
                  <a:ea typeface="Microsoft YaHei"/>
                  <a:cs typeface="Arial"/>
                </a:rPr>
                <a:t>零依赖；内置备份恢复与出厂恢复通道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01 系统概述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一眼看懂：系统规模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kpi-grid"/>
          <p:cNvGrpSpPr/>
          <p:nvPr/>
        </p:nvGrpSpPr>
        <p:grpSpPr>
          <a:xfrm>
            <a:off x="744474" y="2063750"/>
            <a:ext cx="10685526" cy="2565400"/>
            <a:chOff x="744474" y="2063750"/>
            <a:chExt cx="10685526" cy="2565400"/>
          </a:xfrm>
        </p:grpSpPr>
        <p:sp>
          <p:nvSpPr>
            <p:cNvPr id="7" name="TextBox 7"/>
            <p:cNvSpPr txBox="1"/>
            <p:nvPr/>
          </p:nvSpPr>
          <p:spPr>
            <a:xfrm>
              <a:off x="744474" y="2063750"/>
              <a:ext cx="164433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14,896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56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后端自动化测试用例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3792474" y="2063750"/>
              <a:ext cx="1376120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7,384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3804666" y="26733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前端自动化测试用例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3810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6840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104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852666" y="2673350"/>
              <a:ext cx="166447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菜单 key（含 16 legacy）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858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888474" y="20637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144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900666" y="2673350"/>
              <a:ext cx="85877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业务页面视图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9906000" y="29337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Line 19"/>
            <p:cNvSpPr/>
            <p:nvPr/>
          </p:nvSpPr>
          <p:spPr>
            <a:xfrm>
              <a:off x="762000" y="3429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744474" y="3740150"/>
              <a:ext cx="571479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52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56666" y="4349750"/>
              <a:ext cx="21586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API 路由模块（52 顶层 + 5 子包）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3792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112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804666" y="4349750"/>
              <a:ext cx="154432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后端服务文件（5 子包）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3810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840474" y="3740150"/>
              <a:ext cx="839693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118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852666" y="4349750"/>
              <a:ext cx="128282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数据表（模型计数）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858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88474" y="3740150"/>
              <a:ext cx="303266" cy="67475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45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9900666" y="4349750"/>
              <a:ext cx="57607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用户角色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906000" y="4610100"/>
              <a:ext cx="2667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</p:grpSp>
      <p:sp>
        <p:nvSpPr>
          <p:cNvPr id="33" name="Rectangle 33"/>
          <p:cNvSpPr/>
          <p:nvPr/>
        </p:nvSpPr>
        <p:spPr>
          <a:xfrm>
            <a:off x="762000" y="5067300"/>
            <a:ext cx="10668000" cy="781050"/>
          </a:xfrm>
          <a:prstGeom prst="roundRect">
            <a:avLst>
              <a:gd name="adj" fmla="val 3659"/>
            </a:avLst>
          </a:prstGeom>
          <a:solidFill>
            <a:srgbClr val="E8EFEA"/>
          </a:solidFill>
          <a:ln>
            <a:noFill/>
          </a:ln>
        </p:spPr>
        <p:txBody>
          <a:bodyPr/>
          <a:p/>
        </p:txBody>
      </p:sp>
      <p:sp>
        <p:nvSpPr>
          <p:cNvPr id="34" name="TextBox 34"/>
          <p:cNvSpPr txBox="1"/>
          <p:nvPr/>
        </p:nvSpPr>
        <p:spPr>
          <a:xfrm>
            <a:off x="985838" y="5238750"/>
            <a:ext cx="638849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数据来源：2026-10-28（v1.18.23）—— 后端 14,896 用例（0 skipped）/ 行+分支 100%；前端 344 文件 / 7,384 用例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85838" y="5467350"/>
            <a:ext cx="602993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dirty="0">
                <a:solidFill>
                  <a:srgbClr val="3D4B43"/>
                </a:solidFill>
                <a:latin typeface="Arial"/>
                <a:ea typeface="Microsoft YaHei"/>
                <a:cs typeface="Arial"/>
              </a:rPr>
              <a:t>（12 组 glob 100%）；UI 主题 3 套 · 显示偏好 4 档 · R35 表格规范 117/117 · 硬编码色 146（棘轮 146/146）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技术架构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2668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TECHNICAL ARCHITECTURE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7175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技术栈选型与理由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432056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UI v2.0 设计系统：主题 3 套 + 显示偏好 4 档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479612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R35 UI 精细化（方案 C）：品牌区 / 表格 / 筛选栏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256839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四层架构与前后端工程结构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离线优先的实现路径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技术栈全景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0" name="stack-cards"/>
          <p:cNvGrpSpPr/>
          <p:nvPr/>
        </p:nvGrpSpPr>
        <p:grpSpPr>
          <a:xfrm>
            <a:off x="762000" y="2643188"/>
            <a:ext cx="10668000" cy="2695575"/>
            <a:chOff x="762000" y="2643188"/>
            <a:chExt cx="10668000" cy="2695575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31813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桌面壳层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60750"/>
              <a:ext cx="641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727450"/>
              <a:ext cx="17755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x64 NSIS 安装包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975100"/>
              <a:ext cx="1452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麒麟 V10 ARM64 DEB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4222750"/>
              <a:ext cx="1888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 / 自启 / 锁屏 / 快捷键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47040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后端进程托管与健康检查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471862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3471862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3673412" y="2881312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前端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75698" y="3160712"/>
              <a:ext cx="1370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Vue 3 + TypeScript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141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89998" y="3427412"/>
              <a:ext cx="18804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Element Plus + Pinia + Vue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3789998" y="3627438"/>
              <a:ext cx="513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Router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3681412" y="39433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3789998" y="3875088"/>
              <a:ext cx="22085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设计 Token（3 套主题 ·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3789998" y="4075112"/>
              <a:ext cx="21386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档）+ R35 精细化层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368141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3789998" y="432276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个视图 · 32 个共享组件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3681412" y="4629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3789998" y="4570412"/>
              <a:ext cx="20599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Axios 统一信封 + CSRF + 离线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3789998" y="4770438"/>
              <a:ext cx="3784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Mock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2981325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后端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385560" y="3260725"/>
              <a:ext cx="1675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FastAPI (Python 3.11)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391275" y="35909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9860" y="3527425"/>
              <a:ext cx="1835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52 个路由模块（+ 5 子包）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391275" y="3838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3775075"/>
              <a:ext cx="163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112 个服务（5 个子包）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0862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022725"/>
              <a:ext cx="22117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SQLAlchemy 2.x + Alembic（63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499860" y="4222750"/>
              <a:ext cx="9914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版本单 head）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391275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9860" y="4470400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依赖登记表单一事实源（三级自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9860" y="46704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检）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891588" y="2643188"/>
              <a:ext cx="2538412" cy="2695575"/>
            </a:xfrm>
            <a:prstGeom prst="roundRect">
              <a:avLst>
                <a:gd name="adj" fmla="val 150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9" name="Rectangle 49"/>
            <p:cNvSpPr/>
            <p:nvPr/>
          </p:nvSpPr>
          <p:spPr>
            <a:xfrm>
              <a:off x="8891588" y="264318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9093136" y="318135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9095422" y="3460750"/>
              <a:ext cx="515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SQLite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9101138" y="3790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9209722" y="3727450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单文件数据库，随备份带走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9101138" y="4038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9209722" y="3975100"/>
              <a:ext cx="1431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并发 + 外键强制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9101138" y="4286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9209722" y="4222750"/>
              <a:ext cx="1898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EncryptedText 列透明加密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9101138" y="4533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9" name="TextBox 59"/>
            <p:cNvSpPr txBox="1"/>
            <p:nvPr/>
          </p:nvSpPr>
          <p:spPr>
            <a:xfrm>
              <a:off x="9209722" y="4470400"/>
              <a:ext cx="17453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118 张表 · 63 个迁移版本</a:t>
              </a:r>
            </a:p>
          </p:txBody>
        </p:sp>
      </p:grpSp>
      <p:sp>
        <p:nvSpPr>
          <p:cNvPr id="61" name="TextBox 6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四层架构：进程间协作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layer-row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324100"/>
              <a:ext cx="165497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Electron 主进程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613785" y="2355850"/>
              <a:ext cx="4324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窗口/托盘 · 后端 exe 托管 · DATABASE_URL 注入 · 导航白名单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37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37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200400"/>
              <a:ext cx="23547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Vue 3 前端（渲染进程）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613785" y="3232150"/>
              <a:ext cx="42524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视图 · Pinia · Axios 信封拦截器 · CSRF 续期 · 离线 Mock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00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00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4076700"/>
              <a:ext cx="155327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FastAPI 应用层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13785" y="4108450"/>
              <a:ext cx="4151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 API 模块 · 数据范围过滤 · 限流 · 审计中间件 · 统一信封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686300"/>
              <a:ext cx="10668000" cy="762000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686300"/>
              <a:ext cx="38100" cy="762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0699" y="4953000"/>
              <a:ext cx="146937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SQLite 数据层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613785" y="4984750"/>
              <a:ext cx="363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WAL · 54 迁移 · EncryptedText 加密列 · 备份/恢复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1111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HTTP 127.0.0.1（同机回环，Token 黑名单 + CSRF 双重校验）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前端工程：规范即生产力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fe-cols"/>
          <p:cNvGrpSpPr/>
          <p:nvPr/>
        </p:nvGrpSpPr>
        <p:grpSpPr>
          <a:xfrm>
            <a:off x="753237" y="2012950"/>
            <a:ext cx="10600664" cy="2991803"/>
            <a:chOff x="753237" y="2012950"/>
            <a:chExt cx="10600664" cy="29918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2325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144 个业务视图（37 个功能目录）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87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32 个共享组件（含 common/ 6 个 UI v2 通用组件）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3782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9 个 Pinia store + 15 个组合式函数（含 useUiPrefs 显示偏好）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6939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 个 SCSS：tokens 单源 + 全局模板（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card/states/dialog/ui-v2/ui-refine…）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5546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344 个测试文件 / 7,384 个用例（12 组 glob 100%）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070350"/>
              <a:ext cx="4834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 v2 菜单单一源：侧栏 / 移动端 / 权限面板全部数据驱动（Ctrl+K /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289425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收藏 / 最近访问）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619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565650"/>
              <a:ext cx="4979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覆盖率门禁（行 + 分支 100%）+ lint --max-warnings=0 + vue-tsc 三重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784725"/>
              <a:ext cx="496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门禁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460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UI v2.0 设计系统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tokens.scss：主色阶 50→900、卡片边框、两级阴影、三档圆角、字号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calc 缩放、行高 1.6、tabular-nums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120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主题 5→3：军绿默认 / 深色大屏 / 户外高对比；旧值自动迁移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8635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显示偏好 4 档：字号 / 密度 / 高对比 / 简化（localStorage ui:prefs）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 6 组 + 通用组件 6 个，新页面直接套用（组件为可选增强）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45874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视觉回归门禁：ui-tokens 契约测试 + 44 个关键页面 DOM 结构基线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070350"/>
              <a:ext cx="47844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统一信封拦截器：data 自动展开 + CSRF 自动续期 + 401/403 分类处理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832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UI v2.0 设计系统：庄重 × 高效 × 低负担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7" name="ui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色彩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6540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军绿主色阶 50/100/500/600/700/900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813050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金色仅三用：板块竖条 / 数据高亮 / 表头底线（≤5%）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80135" y="3060700"/>
              <a:ext cx="2642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页面提亮 #f5f7f5 + 卡片边框 #e5e9e6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181725" y="20574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383274" y="22479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形态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391275" y="2628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9860" y="2565400"/>
              <a:ext cx="25896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圆角 3 档：卡片 8 / 控件 6 / 胶囊 999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391275" y="2876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9860" y="2813050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阴影 2 档：--shadow-card / --shadow-pop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391275" y="3124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9860" y="30607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侧栏深绿渐变 + 当前板块金色竖条，表格去斑马纹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39243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文字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241800"/>
              <a:ext cx="23635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8 档字号全部 calc × --font-scale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489450"/>
              <a:ext cx="17377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正文行高 1.6，标题 1.25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1080135" y="4737100"/>
              <a:ext cx="2250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数字全站 tabular-nums，列对齐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181725" y="3733800"/>
              <a:ext cx="5248275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6181725" y="37338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383274" y="3886200"/>
              <a:ext cx="4414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组件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391275" y="42672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9860" y="42037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全局类：.app-card / .app-stat-card / 三件套 / 工具条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391275" y="4514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6499860" y="4451350"/>
              <a:ext cx="48481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通用组件 6 个：PageHeader / StatCard / Empty / Loading / Error /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499860" y="4651375"/>
              <a:ext cx="939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TableToolbar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391275" y="49625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9860" y="4899025"/>
              <a:ext cx="20242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对话框三档宽度 480/720/960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5" name="TextBox 45"/>
            <p:cNvSpPr txBox="1"/>
            <p:nvPr/>
          </p:nvSpPr>
          <p:spPr>
            <a:xfrm>
              <a:off x="985647" y="5505450"/>
              <a:ext cx="918387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工程纪律｜颜色只用 var(--token)：硬编码色棘轮只降不升（基线 345 → 当前 146（40 个文件），目标 ≤200 已达成，改动文件零新增）；设计 Token 单源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985647" y="5695950"/>
              <a:ext cx="59508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tokens.scss，全局模板样式集中在 styles/components/*.scss；视觉回归基线可在 CI 稳定运行。</a:t>
              </a:r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916680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主题 3 套 × 显示偏好 4 档：一套系统适配所有场景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the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7952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主题（5 → 3 套）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3360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军绿（默认，:root 无 data-theme）：日常办公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446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深色大屏 dark-bigscreen：会议室大屏专用（大屏页强制）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298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户外高对比 outdoor：强光 / 低视力，字号 ×1.5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090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旧值 light / military / dark / high-contrast 由 normalizeTheme 自动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迁移，历史用户不失效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200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入口：顶栏主题切换器 + 头像下拉「外观设置」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397940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显示偏好（localStorage ui:prefs）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33586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字号：紧凑 / 标准 / 大号（×0.92 / ×1 / ×1.12）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8610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密度：舒适 / 紧凑（表格行高 44 / 34px）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2506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高对比：文字/边框加深、卡片去阴影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简化模式：隐藏趋势箭头/辅助说明/高级字段，保留主操作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46552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&lt;html data-font-size/density/contrast/simplify&gt; 四属性驱动，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794125"/>
              <a:ext cx="31193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useUiPrefs 唯一读写入口；损坏数据回退默认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407035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外观设置面板即时生效并持久化，可一键恢复默认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563686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侧栏：当前板块金色竖条 · 收起态 hover/键盘浮层 · 面包屑「板块 › 页面」 · Ctrl+K 命令面板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701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R35 UI 精细化：方案 C（v1.15.15）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r35-cols"/>
          <p:cNvGrpSpPr/>
          <p:nvPr/>
        </p:nvGrpSpPr>
        <p:grpSpPr>
          <a:xfrm>
            <a:off x="753237" y="2012950"/>
            <a:ext cx="10678851" cy="2934653"/>
            <a:chOff x="753237" y="2012950"/>
            <a:chExt cx="10678851" cy="29346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视觉层级与品牌区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77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侧栏品牌名 20px/800 单行（logo 36px、侧栏头 64px），与板块标题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1293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18px 形成正确层级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364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工作台提升为板块级入口：18px/700 + Home 图标，与七大板块标题同构，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消除字号与图标倒挂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266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页面 8px 栅格：.page-container 内边距 16px、块间距 16px；768px 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6899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下收 12px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8268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侧栏金色竖条 / 收起态浮层 / 面包屑延续 UI v2.0；金色仅三用、面积 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20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5%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表格与筛选栏规范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941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全站 el-table border 117/117；序号列 72px（25/25）、选择列 48px（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689225"/>
              <a:ext cx="2778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10/10）、操作列 fixed=right（67/67）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965450"/>
              <a:ext cx="4783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筛选栏 4 档宽度：input 220 / select 160 / date 240 / number 120；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184525"/>
              <a:ext cx="13608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114 处行内宽度清理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搜索/重置按钮图标统一：24 文件 / 40 个按钮（搜索 28 + 重置 27，筛选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6798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栏 100% 覆盖）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956050"/>
              <a:ext cx="39188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共享 PageHeader：19 个列表页接入，全站使用页 12 → 31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23227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ui-refine.scss：筛选栏 / 表格 / 8px 栅格 / 响应式断点（1200 · 992 ·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451350"/>
              <a:ext cx="17754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768），全部走设计 token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727575"/>
              <a:ext cx="4909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质量门禁：Token 契约测试 + 44 页视觉回归基线；lint / vue-tsc 0 告警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009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v1.16.0：系统管理梳理 + 危险操作硬化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6" name="v116-cols"/>
          <p:cNvGrpSpPr/>
          <p:nvPr/>
        </p:nvGrpSpPr>
        <p:grpSpPr>
          <a:xfrm>
            <a:off x="753237" y="2012950"/>
            <a:ext cx="10728208" cy="3429953"/>
            <a:chOff x="753237" y="2012950"/>
            <a:chExt cx="10728208" cy="34299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系统管理与安全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34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个聚合页改「左分组 + 右内容」，30 个 tab 按语义归组；纯呈现层，不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改菜单 key / tab path / 权限 / ?tab= 深链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958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危险操作两档确认（useDangerConfirm）；重置他人密码必须手工输入目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标用户名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四类危险操作强制审计：删除组织 / 恢复备份 / 轮换密钥 / 管理员重置密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码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1275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权限抽屉「生效概览」：角色 + 数据范围 + 菜单来源一屏可见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设备与授权中心：机器码 / 通行码批量复制，直达单位授权配置与导入授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权包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4727575"/>
              <a:ext cx="4278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备份权限：普通用户可创建备份，下载 / 恢复 / 删除仍限管理员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2777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离线能力与门禁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470150"/>
              <a:ext cx="4803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离线瓦片地图：Leaflet 栅格瓦片，瓦片包构建机预置并进安装包；npm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689225"/>
              <a:ext cx="11874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run tiles:verify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2965450"/>
              <a:ext cx="48485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密钥跨机迁移：/system/pii-key 查看指纹 / 导出 / 导入（只记指纹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1845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不记密钥本体）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460750"/>
              <a:ext cx="4862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ARM64 离线 OCR 出包门禁：真实识别冒烟 + 载荷断言，保持零外部依赖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736975"/>
              <a:ext cx="48044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新门禁：console tab ↔ TAB_COMPONENTS 双向一致、文档数字漂移、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490335" y="39560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安全审计覆盖棘轮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62865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232275"/>
              <a:ext cx="45281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三层对齐门禁：前端 API 路径 ↔ 后端路由、ORM 模型 ↔ 数据库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490335" y="4451350"/>
              <a:ext cx="2499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schema、前后端字段，一次跑通三轴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6286500" y="47815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727575"/>
              <a:ext cx="48302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修复：R33 单位授权两个 tab 因漏加组件映射而不可见（契约 28 → 30）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5057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5003800"/>
              <a:ext cx="4991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本版移出 R35 删表迁移：升级演练暴露数据丢失 / 升级中断风险，schema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6490335" y="5222875"/>
              <a:ext cx="983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维持 r34 head</a:t>
              </a:r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v1.17.2：端到端排查 —— 单测绿、真机废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v1172-cols"/>
          <p:cNvGrpSpPr/>
          <p:nvPr/>
        </p:nvGrpSpPr>
        <p:grpSpPr>
          <a:xfrm>
            <a:off x="753237" y="2012950"/>
            <a:ext cx="10605483" cy="2439353"/>
            <a:chOff x="753237" y="2012950"/>
            <a:chExt cx="10605483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两个真机缺陷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340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组织创建恒 422：OrganizationCreate 漏 code 字段，端点直读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757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data.code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4927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单测用 MagicMock 传 data 不会暴露 → 新装机器无法创建任何组织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系统自检恒 404：后端注册在 /api/v1/self-check，前端调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2039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/api/v1/system/self-check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两者都属「测试全绿、真机全废」，覆盖率 100% 也拦不住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492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修法：code 必填 6 位；自检改为经 system 包聚合注册并删除根级重复注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册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排查方法与防回归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989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隔离实例（独立 DB + 独立端口）走真实 HTTP 全链路：登录→强制改密→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18215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CSRF→组织树→数据包→自检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48683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TestClient 契约测试 8 例，锁定「缺 code/短码/非数字码 → 422」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46832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路径契约用例：断言前端 selfCheck.ts 与后端路由一致，根级不存在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40220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全仓契约审计：412 条前端路径 vs 720 条后端路由，零错位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39391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死代码清理：6 个未接入组件 + barrel + 3 个一次性脚本（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4013200"/>
              <a:ext cx="21999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ErrorBoundary 经核实仍在用）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63415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v1.17.3：安装包可用性 —— 只在真机出现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v1173-cols"/>
          <p:cNvGrpSpPr/>
          <p:nvPr/>
        </p:nvGrpSpPr>
        <p:grpSpPr>
          <a:xfrm>
            <a:off x="753237" y="2012950"/>
            <a:ext cx="10452689" cy="2439353"/>
            <a:chOff x="753237" y="2012950"/>
            <a:chExt cx="10452689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两处真机缺陷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8393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打包后端找不到前端 → 桌面白屏：onedir 布局 _MEIPASS = _internal，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35923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前端在 &lt;resources&gt;/frontend（与 backend 同级）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786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原候选表缺「自 _MEIPASS 上溯三级」：漏传 FRONTEND_DIST_PATH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2327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时访问 / 返回 404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8965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启动日志误报「关键文件缺失」：对 4 个 .py 做存在性检查，打包后源码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2511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已编译进 exe → 每次刷 4 条 WARNING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47326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修法：新增两条目录候选（_MEIPASS 上溯三级 / 冻结 exe 上溯四级）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4593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修法：sys.frozen 时跳过源码检查并记 INFO，开发态逻辑原样保留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378439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离线安装包实测（空 %APPDATA%）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715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自动建库：data / data_sync / uploads / archives / cache / logs /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68922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offline_tiles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2965450"/>
              <a:ext cx="3675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/health 200，status=ok，migration.at_head=true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41675"/>
              <a:ext cx="34943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出厂口令登录 200，must_change_password=true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17900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访问 / 修复后 200 且含 id=app（修复前 404）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94125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启动日志不再出现「关键文件缺失」误报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40703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结论：空环境首装即可用，不依赖外部环境变量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50940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v1.18.1：登录门面与门禁真绿复验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v1181-cols"/>
          <p:cNvGrpSpPr/>
          <p:nvPr/>
        </p:nvGrpSpPr>
        <p:grpSpPr>
          <a:xfrm>
            <a:off x="753237" y="2308225"/>
            <a:ext cx="10776854" cy="3158491"/>
            <a:chOff x="753237" y="2308225"/>
            <a:chExt cx="10776854" cy="3158491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308225"/>
              <a:ext cx="256453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登录页重构（务实优先）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770188"/>
              <a:ext cx="4819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注册入口死链：SELF_REGISTER_MODE 默认 off，而前端从未调用已存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989262"/>
              <a:ext cx="1323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在的 public-config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3265488"/>
              <a:ext cx="47306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修法：按 public_config 显隐，取不到配置即隐藏（fail-closed），不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48456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给必然失败的按钮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760788"/>
              <a:ext cx="4187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锁定/限流可见化：423/429 显示倒计时并禁用按钮（后端透出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979862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lockout_minutes / max_failed_attempts）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4256088"/>
              <a:ext cx="49835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失败即清空密码并聚焦；CapsLock 提示；2FA 满 6 位自动提交（防重复触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475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751388"/>
              <a:ext cx="50339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背景 12 张 3.51MB 轮播 → 1 张静态（-3.16MB）：首屏更快、气质更庄重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076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5027612"/>
              <a:ext cx="49768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顺带修：authStore 读 data.message 而非 detail → 后端中文错误文案全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5835" y="5246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部丢失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308225"/>
              <a:ext cx="441690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门禁真绿：从「段数通过」到「阈值生效」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638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828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770188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发现 backend/.coveragerc 被误删 → fail_under=100 静默失效，12/12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9892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段「通过」实为 99%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324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265488"/>
              <a:ext cx="48211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恢复配置后补齐 7 处缺口：repr×2 / 备份元信息 / 增量指纹 / 无组织字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484562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段模型 / 单位码 409 / 临时包清理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286500" y="3819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490335" y="3760788"/>
              <a:ext cx="50397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模型↔库漂移：r42 迁移要求 tea、cactus 改名为 supported_village_id，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79862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模型没跟上 → 已对齐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43148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4256088"/>
              <a:ext cx="48603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调度器断言口径：R36 新增 _schedule_backup_catchup，旧计数漏算 →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475162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改通用正则匹配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751388"/>
              <a:ext cx="4971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结果：后端 12/12 段 + 100.00%（0 缺失 / 0 分支）、前端 332 文件 / 7,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4970462"/>
              <a:ext cx="14890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023 用例 + 四项 100%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610369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v1.18.2 → v1.18.8：六版收口要点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9" name="v1186-cards"/>
          <p:cNvGrpSpPr/>
          <p:nvPr/>
        </p:nvGrpSpPr>
        <p:grpSpPr>
          <a:xfrm>
            <a:off x="762000" y="2057400"/>
            <a:ext cx="10714906" cy="3867150"/>
            <a:chOff x="762000" y="2057400"/>
            <a:chExt cx="10714906" cy="386715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14562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错误体验（v1.18.2）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32062"/>
              <a:ext cx="253690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422 校验错误中文化，且不回显 input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2838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779712"/>
              <a:ext cx="22956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前端统一出口 detail → message →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2979738"/>
              <a:ext cx="23107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err.message，永不显示技术原文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3295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227388"/>
              <a:ext cx="32229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check_error_message_leaks 门禁扫描泄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080135" y="3427412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漏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374832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576382" y="2209800"/>
              <a:ext cx="21520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门禁加固（v1.18.6）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8438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2968" y="25273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全仓归零：app 79 → 0、scripts 19 →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692968" y="27273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0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584382" y="3038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4692968" y="2974975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覆盖率门禁 fail-fast：.coveragerc 缺失即失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1750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34861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422650"/>
              <a:ext cx="31475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12 段跑完统一 report + --cov-unique 防并发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692968" y="36226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988618" y="2057400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8190166" y="2314575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录入效率包（v1.18.8）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8198168" y="26955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8306752" y="2632075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批量粘贴弹窗：粘贴 → 预览 → 逐行校验 → 确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06752" y="283210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198168" y="3143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306752" y="3079750"/>
              <a:ext cx="30891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useBulkCreate 串行提交 + 失败行号原样回传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198168" y="3390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306752" y="3327400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草稿自动保存扩到 4 页面 + 未保存离开拦截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63549" y="4424362"/>
              <a:ext cx="23647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性能与协同（v1.18.8）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971550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741862"/>
              <a:ext cx="2952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VirtualList 虚拟滚动基座 + 窗口算术 22 例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971550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1080135" y="4989512"/>
              <a:ext cx="30514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usePageSize 每页条数记忆（项目列表接入）</a:t>
              </a:r>
            </a:p>
          </p:txBody>
        </p:sp>
        <p:sp>
          <p:nvSpPr>
            <p:cNvPr id="47" name="Rectangle 47"/>
            <p:cNvSpPr/>
            <p:nvPr/>
          </p:nvSpPr>
          <p:spPr>
            <a:xfrm>
              <a:off x="971550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1080135" y="5237162"/>
              <a:ext cx="2898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顶栏数据同步胶囊 + 台账抽屉（只读日志）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374832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0" name="Rectangle 50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1" name="TextBox 51"/>
            <p:cNvSpPr txBox="1"/>
            <p:nvPr/>
          </p:nvSpPr>
          <p:spPr>
            <a:xfrm>
              <a:off x="4576382" y="4424362"/>
              <a:ext cx="24466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OCR 与质量（v1.18.8）</a:t>
              </a:r>
            </a:p>
          </p:txBody>
        </p:sp>
        <p:sp>
          <p:nvSpPr>
            <p:cNvPr id="52" name="Rectangle 52"/>
            <p:cNvSpPr/>
            <p:nvPr/>
          </p:nvSpPr>
          <p:spPr>
            <a:xfrm>
              <a:off x="4584382" y="4800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3" name="TextBox 53"/>
            <p:cNvSpPr txBox="1"/>
            <p:nvPr/>
          </p:nvSpPr>
          <p:spPr>
            <a:xfrm>
              <a:off x="4692968" y="4741862"/>
              <a:ext cx="26633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经费凭证 OCR 字段级建议接入转账凭证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4584382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5" name="TextBox 55"/>
            <p:cNvSpPr txBox="1"/>
            <p:nvPr/>
          </p:nvSpPr>
          <p:spPr>
            <a:xfrm>
              <a:off x="4692968" y="4989512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视觉回归 10 → 44 页（30 tab + 4 表单）</a:t>
              </a:r>
            </a:p>
          </p:txBody>
        </p:sp>
        <p:sp>
          <p:nvSpPr>
            <p:cNvPr id="56" name="Rectangle 56"/>
            <p:cNvSpPr/>
            <p:nvPr/>
          </p:nvSpPr>
          <p:spPr>
            <a:xfrm>
              <a:off x="4584382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7" name="TextBox 57"/>
            <p:cNvSpPr txBox="1"/>
            <p:nvPr/>
          </p:nvSpPr>
          <p:spPr>
            <a:xfrm>
              <a:off x="4692968" y="5237162"/>
              <a:ext cx="28082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PR/Nightly 覆盖一致性门禁 + 根目录补跑</a:t>
              </a:r>
            </a:p>
          </p:txBody>
        </p:sp>
        <p:sp>
          <p:nvSpPr>
            <p:cNvPr id="58" name="Rectangle 58"/>
            <p:cNvSpPr/>
            <p:nvPr/>
          </p:nvSpPr>
          <p:spPr>
            <a:xfrm>
              <a:off x="7988618" y="4067175"/>
              <a:ext cx="3441382" cy="1857375"/>
            </a:xfrm>
            <a:prstGeom prst="roundRect">
              <a:avLst>
                <a:gd name="adj" fmla="val 2051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9" name="Rectangle 59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0" name="TextBox 60"/>
            <p:cNvSpPr txBox="1"/>
            <p:nvPr/>
          </p:nvSpPr>
          <p:spPr>
            <a:xfrm>
              <a:off x="8190166" y="4224338"/>
              <a:ext cx="26104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数据与发布（v1.18.3–7）</a:t>
              </a:r>
            </a:p>
          </p:txBody>
        </p:sp>
        <p:sp>
          <p:nvSpPr>
            <p:cNvPr id="61" name="Rectangle 61"/>
            <p:cNvSpPr/>
            <p:nvPr/>
          </p:nvSpPr>
          <p:spPr>
            <a:xfrm>
              <a:off x="8198168" y="46101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2" name="TextBox 62"/>
            <p:cNvSpPr txBox="1"/>
            <p:nvPr/>
          </p:nvSpPr>
          <p:spPr>
            <a:xfrm>
              <a:off x="8306752" y="4541838"/>
              <a:ext cx="317015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迁移 r43 清理 26 个零引用死字段（有数据列归</a:t>
              </a:r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8306752" y="47418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档不删）</a:t>
              </a:r>
            </a:p>
          </p:txBody>
        </p:sp>
        <p:sp>
          <p:nvSpPr>
            <p:cNvPr id="64" name="Rectangle 64"/>
            <p:cNvSpPr/>
            <p:nvPr/>
          </p:nvSpPr>
          <p:spPr>
            <a:xfrm>
              <a:off x="8198168" y="50482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5" name="TextBox 65"/>
            <p:cNvSpPr txBox="1"/>
            <p:nvPr/>
          </p:nvSpPr>
          <p:spPr>
            <a:xfrm>
              <a:off x="8306752" y="4989512"/>
              <a:ext cx="29967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瓦片 bbox 多包并集 + 最细 zoom + 数值校验</a:t>
              </a:r>
            </a:p>
          </p:txBody>
        </p:sp>
        <p:sp>
          <p:nvSpPr>
            <p:cNvPr id="66" name="Rectangle 66"/>
            <p:cNvSpPr/>
            <p:nvPr/>
          </p:nvSpPr>
          <p:spPr>
            <a:xfrm>
              <a:off x="8198168" y="5295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7" name="TextBox 67"/>
            <p:cNvSpPr txBox="1"/>
            <p:nvPr/>
          </p:nvSpPr>
          <p:spPr>
            <a:xfrm>
              <a:off x="8306752" y="5237162"/>
              <a:ext cx="27360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release_tag 加固：UTF-8 / 脏区逃生 /</a:t>
              </a:r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8306752" y="5437188"/>
              <a:ext cx="637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ci_green</a:t>
              </a:r>
            </a:p>
          </p:txBody>
        </p:sp>
      </p:grpSp>
      <p:sp>
        <p:nvSpPr>
          <p:cNvPr id="70" name="TextBox 7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71" name="TextBox 7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后端工程：一个请求的旅程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2" name="req-flow"/>
          <p:cNvGrpSpPr/>
          <p:nvPr/>
        </p:nvGrpSpPr>
        <p:grpSpPr>
          <a:xfrm>
            <a:off x="753237" y="2114550"/>
            <a:ext cx="10492234" cy="2975928"/>
            <a:chOff x="753237" y="2114550"/>
            <a:chExt cx="10492234" cy="2975928"/>
          </a:xfrm>
        </p:grpSpPr>
        <p:sp>
          <p:nvSpPr>
            <p:cNvPr id="7" name="Line 7"/>
            <p:cNvSpPr/>
            <p:nvPr/>
          </p:nvSpPr>
          <p:spPr>
            <a:xfrm>
              <a:off x="1828800" y="23050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4461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审计中间件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1203787" y="2828925"/>
              <a:ext cx="12500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记录 谁·何时·做什么</a:t>
              </a:r>
            </a:p>
          </p:txBody>
        </p:sp>
        <p:sp>
          <p:nvSpPr>
            <p:cNvPr id="12" name="Ellipse 12"/>
            <p:cNvSpPr/>
            <p:nvPr/>
          </p:nvSpPr>
          <p:spPr>
            <a:xfrm>
              <a:off x="37719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38754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5797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认证与限流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2989808" y="2828925"/>
              <a:ext cx="194518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JWT 校验 · Token 黑名单 · 滑动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93592" y="3009900"/>
              <a:ext cx="53761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窗口限流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59055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0090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56379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数据范围过滤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5157659" y="28289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按角色 + 组织自动限定可见数据</a:t>
              </a:r>
            </a:p>
          </p:txBody>
        </p:sp>
        <p:sp>
          <p:nvSpPr>
            <p:cNvPr id="21" name="Ellipse 21"/>
            <p:cNvSpPr/>
            <p:nvPr/>
          </p:nvSpPr>
          <p:spPr>
            <a:xfrm>
              <a:off x="80391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81426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846949" y="25654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业务服务层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218699" y="2828925"/>
              <a:ext cx="202180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107 个服务：资金 / 项目 / 数据包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449510" y="3009900"/>
              <a:ext cx="15601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/ 审批 / 一户一档 / OCR…</a:t>
              </a:r>
            </a:p>
          </p:txBody>
        </p:sp>
        <p:sp>
          <p:nvSpPr>
            <p:cNvPr id="26" name="Ellipse 26"/>
            <p:cNvSpPr/>
            <p:nvPr/>
          </p:nvSpPr>
          <p:spPr>
            <a:xfrm>
              <a:off x="101727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102762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99051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统一信封响应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480928" y="2816225"/>
              <a:ext cx="17645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success_response / ok_list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753237" y="3213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工程纪律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3543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62000" y="3743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3689350"/>
              <a:ext cx="5590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事务工具箱：with_transaction / 嵌套事务 / 死锁重试 / 批量操作（1000 条/批）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038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3984625"/>
              <a:ext cx="55448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错误细节不出站：detail 一律泛化文案 + 日志 exc_info（源码扫描测试强制拦截）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62000" y="4333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965835" y="4279900"/>
              <a:ext cx="30193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响应格式统一：全部列表端点走 ok_list 信封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762000" y="4629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965835" y="4575175"/>
              <a:ext cx="69624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新模块坚守：EncryptedText PII（一户一档）、软删必带 is_active、数据域 get_org_scope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762000" y="4924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5835" y="4870450"/>
              <a:ext cx="32756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flake8 --count=0 与 bandit 中高危=0 是硬门禁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470474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数据层：64 个模型的安全基座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data-cols"/>
          <p:cNvGrpSpPr/>
          <p:nvPr/>
        </p:nvGrpSpPr>
        <p:grpSpPr>
          <a:xfrm>
            <a:off x="753237" y="2012950"/>
            <a:ext cx="10856082" cy="2439353"/>
            <a:chOff x="753237" y="2012950"/>
            <a:chExt cx="10856082" cy="2439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模型与迁移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9115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64 个模型文件 / 118 张表：村、一户一档、项目、资金、影像、消费台账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943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…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617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数据迁移：+5 新表（households 三表 / photo_archives /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25444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consumption_records），−4 旧表（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403600"/>
              <a:ext cx="35320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villages/villagers/industries/sentiment_news）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733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920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TimestampMixin：created_at / updated_at / sync_version 自动维护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38165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SoftDeleteMixin：is_active 软删 + deleted_by 审计列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286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5835" y="4232275"/>
              <a:ext cx="5090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Schema 权威来源 = models/ + Alembic 63 版本单 head（init.sql 已删除）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完整性守护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470150"/>
              <a:ext cx="4263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组织删除级联守卫：名下有项目/用户时拒绝硬删（ADR-0003）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2746375"/>
              <a:ext cx="39015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projects 组织外键 CASCADE→SET NULL，截断级联删除链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022600"/>
              <a:ext cx="4639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PII 列 EncryptedText：写入自动加密、读取自动解密（ADR-0005）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298825"/>
              <a:ext cx="42531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sync_version 增量水位：ORM 事件自动递增，支撑增量数据包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490335" y="3575050"/>
              <a:ext cx="51189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删库守卫：库完整性校验失败默认拒绝启动（ALLOW_DB_RESET 显式解锁）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02 技术架构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34325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离线优先：数据如何“随人走”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offline"/>
          <p:cNvGrpSpPr/>
          <p:nvPr/>
        </p:nvGrpSpPr>
        <p:grpSpPr>
          <a:xfrm>
            <a:off x="753237" y="2517775"/>
            <a:ext cx="10676763" cy="3540125"/>
            <a:chOff x="753237" y="2517775"/>
            <a:chExt cx="10676763" cy="354012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517775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单机模式（默认）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979738"/>
              <a:ext cx="27686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数据全部在本机 %APPDATA% 数据库文件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3255962"/>
              <a:ext cx="33081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智能备份中心：自动/即时/磁盘检测/备份到 U 盘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532188"/>
              <a:ext cx="27578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断网零功能损失（AI 增强除外，可关闭）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51777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多机协同模式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847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90335" y="2979738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加密数据包（口令 + PBKDF2）在机器间摆渡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305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32559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包内 manifest 记录 org/类型/记录数/校验和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590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532188"/>
              <a:ext cx="35395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跨机同步需配置相同 ENCRYPTION_KEY（密文可解）</a:t>
              </a:r>
            </a:p>
          </p:txBody>
        </p:sp>
        <p:sp>
          <p:nvSpPr>
            <p:cNvPr id="23" name="Line 23"/>
            <p:cNvSpPr/>
            <p:nvPr/>
          </p:nvSpPr>
          <p:spPr>
            <a:xfrm>
              <a:off x="1650682" y="4519612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Ellipse 24"/>
            <p:cNvSpPr/>
            <p:nvPr/>
          </p:nvSpPr>
          <p:spPr>
            <a:xfrm>
              <a:off x="1488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563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205234" y="4779962"/>
              <a:ext cx="8908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本机 SQLite</a:t>
              </a:r>
            </a:p>
          </p:txBody>
        </p:sp>
        <p:sp>
          <p:nvSpPr>
            <p:cNvPr id="27" name="Ellipse 27"/>
            <p:cNvSpPr/>
            <p:nvPr/>
          </p:nvSpPr>
          <p:spPr>
            <a:xfrm>
              <a:off x="3267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3342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3046349" y="477996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导出数据包</a:t>
              </a:r>
            </a:p>
          </p:txBody>
        </p:sp>
        <p:sp>
          <p:nvSpPr>
            <p:cNvPr id="30" name="Ellipse 30"/>
            <p:cNvSpPr/>
            <p:nvPr/>
          </p:nvSpPr>
          <p:spPr>
            <a:xfrm>
              <a:off x="5045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5120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872726" y="4779962"/>
              <a:ext cx="6691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加密 .zip</a:t>
              </a:r>
            </a:p>
          </p:txBody>
        </p:sp>
        <p:sp>
          <p:nvSpPr>
            <p:cNvPr id="33" name="Ellipse 33"/>
            <p:cNvSpPr/>
            <p:nvPr/>
          </p:nvSpPr>
          <p:spPr>
            <a:xfrm>
              <a:off x="6822758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897718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6677419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介质摆渡</a:t>
              </a:r>
            </a:p>
          </p:txBody>
        </p:sp>
        <p:sp>
          <p:nvSpPr>
            <p:cNvPr id="36" name="Ellipse 36"/>
            <p:cNvSpPr/>
            <p:nvPr/>
          </p:nvSpPr>
          <p:spPr>
            <a:xfrm>
              <a:off x="8601075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8676036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455736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对端导入</a:t>
              </a:r>
            </a:p>
          </p:txBody>
        </p:sp>
        <p:sp>
          <p:nvSpPr>
            <p:cNvPr id="39" name="Ellipse 39"/>
            <p:cNvSpPr/>
            <p:nvPr/>
          </p:nvSpPr>
          <p:spPr>
            <a:xfrm>
              <a:off x="10379392" y="4357688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10454353" y="4440238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10234054" y="47799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确认落库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516827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全流程留痕：导入/导出/确认各环节写入工作日志与操作历史，包完整性校验失败即中止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功能模块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76816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FUNCTIONAL MODULES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525904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一个工作台 + 六大板块 · 104 个菜单 key（16 legacy）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375951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一户一档 / 影像库 / 消费帮扶 三新模块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31003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经费凭证 OCR · 报表模板组合导出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36941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系统管理：6 个聚合页 · 页内 Tab 切换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功能地图：一个工作台 + 六大板块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64" name="feature-map"/>
          <p:cNvGrpSpPr/>
          <p:nvPr/>
        </p:nvGrpSpPr>
        <p:grpSpPr>
          <a:xfrm>
            <a:off x="762000" y="2057400"/>
            <a:ext cx="10752599" cy="4000500"/>
            <a:chOff x="762000" y="2057400"/>
            <a:chExt cx="107525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3361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工作台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551112"/>
              <a:ext cx="22569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固定首位 · 板块级入口（R35）：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751138"/>
              <a:ext cx="21141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卡 · 待办聚合 · 快捷操作 ·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295116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年度趋势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6597" y="3249612"/>
              <a:ext cx="66294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dashboard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1862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1862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3412" y="220980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帮扶业务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2590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2527300"/>
              <a:ext cx="2461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帮扶村 10 板块（含一户一档入口）·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2727325"/>
              <a:ext cx="2009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项目全周期 · 经费台账/申请/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789998" y="2927350"/>
              <a:ext cx="20921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资金周期 · 结对/捐赠/政策/移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789998" y="3127375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交 · 消费帮扶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76460" y="3425825"/>
              <a:ext cx="18502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villages / households / funds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181725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5" name="Rectangle 25"/>
            <p:cNvSpPr/>
            <p:nvPr/>
          </p:nvSpPr>
          <p:spPr>
            <a:xfrm>
              <a:off x="6181725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383274" y="2333625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乡村振兴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391275" y="2714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9860" y="265112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工作首页 · 工作列表（驻村工作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2851150"/>
              <a:ext cx="15870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台已于 v1.14.0 下线）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86322" y="3149600"/>
              <a:ext cx="204159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rural-works / rural-works-list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891588" y="2057400"/>
              <a:ext cx="253841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891588" y="2057400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093136" y="22336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工作协同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9101138" y="2609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209722" y="2551112"/>
              <a:ext cx="21599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 · 审批管理（总览/待审批/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9209722" y="2751138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我的申请/历史）· 日历 · 提醒 ·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209722" y="2951162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消息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9096184" y="3249612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todos / approval / reminder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62000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963549" y="40957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分析汇报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971550" y="44767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1080135" y="4413250"/>
              <a:ext cx="30646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汇报大屏 · 数据分析（仪表盘/地图/工作分析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1080135" y="4613275"/>
              <a:ext cx="2891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/成效排名评估）· 报表模板/导出 · 影像库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966597" y="4911725"/>
              <a:ext cx="187668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bigscreen / analytics / media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4374832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7" name="Rectangle 47"/>
            <p:cNvSpPr/>
            <p:nvPr/>
          </p:nvSpPr>
          <p:spPr>
            <a:xfrm>
              <a:off x="4374832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8" name="TextBox 48"/>
            <p:cNvSpPr txBox="1"/>
            <p:nvPr/>
          </p:nvSpPr>
          <p:spPr>
            <a:xfrm>
              <a:off x="4576382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数据管理</a:t>
              </a:r>
            </a:p>
          </p:txBody>
        </p:sp>
        <p:sp>
          <p:nvSpPr>
            <p:cNvPr id="49" name="Rectangle 49"/>
            <p:cNvSpPr/>
            <p:nvPr/>
          </p:nvSpPr>
          <p:spPr>
            <a:xfrm>
              <a:off x="4584382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0" name="TextBox 50"/>
            <p:cNvSpPr txBox="1"/>
            <p:nvPr/>
          </p:nvSpPr>
          <p:spPr>
            <a:xfrm>
              <a:off x="4692968" y="43132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概览 · 导入导出 · 数据包与批量导入 · 数据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4692968" y="4513262"/>
              <a:ext cx="28967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校验（三 Tab）· 综合录入 · 批量操作 · 数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4692968" y="47132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据上报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4579430" y="5011738"/>
              <a:ext cx="179752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data-package / data-upload</a:t>
              </a:r>
            </a:p>
          </p:txBody>
        </p:sp>
        <p:sp>
          <p:nvSpPr>
            <p:cNvPr id="54" name="Rectangle 54"/>
            <p:cNvSpPr/>
            <p:nvPr/>
          </p:nvSpPr>
          <p:spPr>
            <a:xfrm>
              <a:off x="7988618" y="3819525"/>
              <a:ext cx="3441382" cy="1628775"/>
            </a:xfrm>
            <a:prstGeom prst="roundRect">
              <a:avLst>
                <a:gd name="adj" fmla="val 2339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55" name="Rectangle 55"/>
            <p:cNvSpPr/>
            <p:nvPr/>
          </p:nvSpPr>
          <p:spPr>
            <a:xfrm>
              <a:off x="7988618" y="381952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6" name="TextBox 56"/>
            <p:cNvSpPr txBox="1"/>
            <p:nvPr/>
          </p:nvSpPr>
          <p:spPr>
            <a:xfrm>
              <a:off x="8190166" y="3995738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系统管理</a:t>
              </a:r>
            </a:p>
          </p:txBody>
        </p:sp>
        <p:sp>
          <p:nvSpPr>
            <p:cNvPr id="57" name="Rectangle 57"/>
            <p:cNvSpPr/>
            <p:nvPr/>
          </p:nvSpPr>
          <p:spPr>
            <a:xfrm>
              <a:off x="8198168" y="43815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8" name="TextBox 58"/>
            <p:cNvSpPr txBox="1"/>
            <p:nvPr/>
          </p:nvSpPr>
          <p:spPr>
            <a:xfrm>
              <a:off x="8306752" y="4313238"/>
              <a:ext cx="31441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聚合页：组织与权限（含 R33 单位授权）/安</a:t>
              </a:r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8306752" y="4513262"/>
              <a:ext cx="3207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全与审计/运维与监控/备份与存储/系统设置/关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8306752" y="47132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于与反馈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193215" y="5011738"/>
              <a:ext cx="116427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980" dirty="0">
                  <a:solidFill>
                    <a:srgbClr val="7E9488"/>
                  </a:solidFill>
                  <a:latin typeface="Arial"/>
                  <a:ea typeface="Arial"/>
                  <a:cs typeface="Arial"/>
                </a:rPr>
                <a:t>system-console-*</a:t>
              </a:r>
            </a:p>
          </p:txBody>
        </p:sp>
        <p:sp>
          <p:nvSpPr>
            <p:cNvPr id="62" name="Rectangle 6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63" name="TextBox 63"/>
            <p:cNvSpPr txBox="1"/>
            <p:nvPr/>
          </p:nvSpPr>
          <p:spPr>
            <a:xfrm>
              <a:off x="985647" y="5695950"/>
              <a:ext cx="82361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v2）：6 板块 / 104 key / 84 路径 / 16 legacy · Ctrl+K 菜单搜索 · 收藏 / 最近访问 · 权限包三级裁剪 · 旧路由全部保留</a:t>
              </a:r>
            </a:p>
          </p:txBody>
        </p:sp>
      </p:grpSp>
      <p:sp>
        <p:nvSpPr>
          <p:cNvPr id="65" name="TextBox 6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工作台：打开系统的第一屏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dashboard-cols"/>
          <p:cNvGrpSpPr/>
          <p:nvPr/>
        </p:nvGrpSpPr>
        <p:grpSpPr>
          <a:xfrm>
            <a:off x="753237" y="2012950"/>
            <a:ext cx="10754238" cy="3153728"/>
            <a:chOff x="753237" y="2012950"/>
            <a:chExt cx="10754238" cy="31537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248355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个人工作台（UI v2.0）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22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KPI 统计卡 .app-stat-card：数值 28/700 tabular-nums、趋势箭头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up/down，60s 自动刷新 + 手动刷新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48814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待办清单：待审批 / 待办任务 / 未读消息，按优先级与到期排序、一键直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达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4936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快捷操作自定义布局（QuickActions 拖拽）+ 图表年度趋势（资金 / 项目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67982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双轴）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010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956050"/>
              <a:ext cx="50301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方案 C：工作台提升为板块级入口（18px/700 + Home 图标），与六大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1751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板块标题同构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4505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4451350"/>
              <a:ext cx="43386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状态三件套统一：加载 .app-loading / 空态 .app-empty / 错误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4670425"/>
              <a:ext cx="1594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.app-error（带重试）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5000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494665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角色裁剪：viewer 只见只读面板；工作台布局可预设/保存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信息层级与可视化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2470150"/>
              <a:ext cx="501714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主图表在前，辅助信息（趋势箭头/说明）用 .stat-trend/.list-hint，简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268922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化模式自动隐藏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29654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可点卡片 role="button" tabindex="0" + 键盘事件，键盘全流程可达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241675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数字列等宽、表头浅主色 + 金色底线、去斑马纹（全局表格规范）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517900"/>
              <a:ext cx="4260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图表主题随设计 Token（军绿科技风），空数据不出现“白板图”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6490335" y="3794125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大屏入口：全屏汇报 + 按帮扶村/学校/单位筛选下钻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帮扶村：一村一档，一年一账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illage-chips"/>
          <p:cNvGrpSpPr/>
          <p:nvPr/>
        </p:nvGrpSpPr>
        <p:grpSpPr>
          <a:xfrm>
            <a:off x="762000" y="2824162"/>
            <a:ext cx="10668000" cy="2175828"/>
            <a:chOff x="762000" y="2824162"/>
            <a:chExt cx="10668000" cy="2175828"/>
          </a:xfrm>
        </p:grpSpPr>
        <p:sp>
          <p:nvSpPr>
            <p:cNvPr id="7" name="Rectangle 7"/>
            <p:cNvSpPr/>
            <p:nvPr/>
          </p:nvSpPr>
          <p:spPr>
            <a:xfrm>
              <a:off x="76200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07957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基本情况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210693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242545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人口变动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3452812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770389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收入结构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79869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11627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产业帮扶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14362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6461201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基础设施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488555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780708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组织建设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8834438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152014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帮扶成效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10180320" y="2824162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10497896" y="29702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年度对比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48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598862"/>
              <a:ext cx="47005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按年度记录全村数据，跨年对比自动生成（人口/收入/资金投入趋势）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52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894138"/>
              <a:ext cx="9268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v1.15.15 起一户一档入口迁入本页：年度数据管理首卡按村预筛选；侧栏入口移除，菜单 key households 转 legacy（权限包/深链兼容）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189412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村档案变更历史：字段级 old → new 记录，谁改的、何时改、改了什么全程可溯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43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484688"/>
              <a:ext cx="5288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村委会成员、脱贫跟踪、荣誉展示；软删除进回收站，管理员可恢复或彻底删除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29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779962"/>
              <a:ext cx="59120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年度板块数据支持 Excel 模板按板块导入；整村档案可导出（脱敏可选），支撑向上汇报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25157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一户一档：从“一村一档”细到“一户一档”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4" name="household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户档案与成员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532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户主 / 户编号 / 户类型（一般户 / 脱贫户 / 监测户）/ 风险类型与等级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5291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帮扶责任人 + 联系电话（PII 透明加密，ADR-0005）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家庭成员：关系 / 身份证（加密）/ 健康 / 就业 / 个人年收入 / 兜底保障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走访挂户：走访记录关联到户，自动回写“最近走访日期”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0344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csv（含成员数、风险等级）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风险预警与汇总回填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6349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连续未走访 &gt;90 天且非一般户 → 中风险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大病 / 住房不安全 / 突发困难 → 高风险（逐项独立命中）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预警实时计算不落库；可一键登记风险记录并关闭闭环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一键汇总回填帮扶村年度人口：总户数 / 总人口 / 脱贫户 / 监测户（幂等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517900"/>
              <a:ext cx="659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upsert）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8481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794125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数据域沿用：普通用户本人、管理员本组织及子树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85647" y="5695950"/>
              <a:ext cx="879095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新增三表 + /households/* API（15 端点）；v1.15.15 入口迁入帮扶村年度数据页（路由 menuKey=villages，key households 转 legacy）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8961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项目管理：从立项到验收的全生命周期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oject-flow"/>
          <p:cNvGrpSpPr/>
          <p:nvPr/>
        </p:nvGrpSpPr>
        <p:grpSpPr>
          <a:xfrm>
            <a:off x="762000" y="2881312"/>
            <a:ext cx="10086582" cy="2147254"/>
            <a:chOff x="762000" y="2881312"/>
            <a:chExt cx="10086582" cy="2147254"/>
          </a:xfrm>
        </p:grpSpPr>
        <p:sp>
          <p:nvSpPr>
            <p:cNvPr id="7" name="Line 7"/>
            <p:cNvSpPr/>
            <p:nvPr/>
          </p:nvSpPr>
          <p:spPr>
            <a:xfrm>
              <a:off x="1650682" y="3043238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43419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立项申请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121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审批通过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执行跟踪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752806" y="33035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里程碑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455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竣工验收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881312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234054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归档沉淀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5835" y="3627438"/>
              <a:ext cx="6426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项目档案：负责单位（组织隔离）、帮扶村关联、预算/实际花费、进度百分比、优先级、负责人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3922712"/>
              <a:ext cx="55673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里程碑管理：阶段节点 + 甘特图（自研轻量 gantt，ADR-0012），进度照片墙留证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217988"/>
              <a:ext cx="4851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任务分解：项目任务看板，执行人/截止日/完成状态；变更历史全程留痕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513262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软删除 + 回收站：误删可恢复；删除前级联检查，防误伤资金数据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808538"/>
              <a:ext cx="51377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数据范围：普通用户仅见本人录入，管理员见本组织及下级，超级管理员全局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资金管理：一笔钱的八个阶段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0" name="fund-chips"/>
          <p:cNvGrpSpPr/>
          <p:nvPr/>
        </p:nvGrpSpPr>
        <p:grpSpPr>
          <a:xfrm>
            <a:off x="753237" y="2643188"/>
            <a:ext cx="10676763" cy="2537778"/>
            <a:chOff x="753237" y="2643188"/>
            <a:chExt cx="10676763" cy="2537778"/>
          </a:xfrm>
        </p:grpSpPr>
        <p:sp>
          <p:nvSpPr>
            <p:cNvPr id="7" name="Rectangle 7"/>
            <p:cNvSpPr/>
            <p:nvPr/>
          </p:nvSpPr>
          <p:spPr>
            <a:xfrm>
              <a:off x="76200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85229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23035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申请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10693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219722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57623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3452812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3543110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3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921163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拨付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79869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88899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4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526704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使用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14362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23392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5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611976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报销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488555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78852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6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785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核销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834438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924734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7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9302788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决算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10180320" y="2643188"/>
              <a:ext cx="1249680" cy="438150"/>
            </a:xfrm>
            <a:prstGeom prst="roundRect">
              <a:avLst>
                <a:gd name="adj" fmla="val 65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270617" y="2687638"/>
              <a:ext cx="8609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chemeClr val="accent2"/>
                  </a:solidFill>
                  <a:latin typeface="Arial"/>
                  <a:ea typeface="Arial"/>
                  <a:cs typeface="Arial"/>
                </a:rPr>
                <a:t>8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648671" y="2846388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532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资金台账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3913188"/>
              <a:ext cx="309476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资金来源 / 金额 / 阶段状态 / 凭证附件全要素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189412"/>
              <a:ext cx="3146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编号 ZJ 自动生成；预算三级预警 80/90/100%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465638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年度对比与资金分析图表（走势/结构/单位排名）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6277737" y="345122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监管闭环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3781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Rectangle 41"/>
            <p:cNvSpPr/>
            <p:nvPr/>
          </p:nvSpPr>
          <p:spPr>
            <a:xfrm>
              <a:off x="62865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6490335" y="3913188"/>
              <a:ext cx="2665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合同 → 支付凭证 → 划转凭证 全链条挂接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286500" y="4238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6490335" y="4189412"/>
              <a:ext cx="3418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异常监控：超支 / 偏差 / 闲置 / 重复支付 / 缺凭证</a:t>
              </a:r>
            </a:p>
          </p:txBody>
        </p:sp>
        <p:sp>
          <p:nvSpPr>
            <p:cNvPr id="45" name="Rectangle 45"/>
            <p:cNvSpPr/>
            <p:nvPr/>
          </p:nvSpPr>
          <p:spPr>
            <a:xfrm>
              <a:off x="62865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6490335" y="4465638"/>
              <a:ext cx="49374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凭证 OCR（v1.14.0）：拍照识别金额/日期回填，离线引擎不可用时降级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6490335" y="46847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手工录入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6286500" y="5019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6490335" y="4960938"/>
              <a:ext cx="402956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普通用户全流程可操作（申请/审批/拨付/结算），审批留痕</a:t>
              </a:r>
            </a:p>
          </p:txBody>
        </p:sp>
      </p:grpSp>
      <p:sp>
        <p:nvSpPr>
          <p:cNvPr id="51" name="TextBox 5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4555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经费凭证 OCR：拍一张，金额日期自动填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ocr-flow"/>
          <p:cNvGrpSpPr/>
          <p:nvPr/>
        </p:nvGrpSpPr>
        <p:grpSpPr>
          <a:xfrm>
            <a:off x="753237" y="2114550"/>
            <a:ext cx="9801301" cy="2318703"/>
            <a:chOff x="753237" y="2114550"/>
            <a:chExt cx="9801301" cy="2318703"/>
          </a:xfrm>
        </p:grpSpPr>
        <p:sp>
          <p:nvSpPr>
            <p:cNvPr id="7" name="Line 7"/>
            <p:cNvSpPr/>
            <p:nvPr/>
          </p:nvSpPr>
          <p:spPr>
            <a:xfrm>
              <a:off x="2095500" y="23050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37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上传凭证图片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166461" y="2565400"/>
              <a:ext cx="11920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离线识别（CPU）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880432" y="2565400"/>
              <a:ext cx="10981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回填金额 / 日期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11455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2256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38462" y="25654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人工核对保存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53237" y="29845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识别能力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620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620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5835" y="3441700"/>
              <a:ext cx="45585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离线引擎 rapidocr-onnxruntime 1.4.4（CPU / 中英文 / 不联网）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5835" y="3717925"/>
              <a:ext cx="488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金额：￥ / ¥ / 元 / 千分位 / 小数；日期：YYYY-MM-DD / YYYY年M月D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37000"/>
              <a:ext cx="12853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日 / YYYY/MM/DD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3225"/>
              <a:ext cx="50020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返回 text / amount / date / confidence / engine，结果自动回填录入项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277737" y="2984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降级与安全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3147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Rectangle 31"/>
            <p:cNvSpPr/>
            <p:nvPr/>
          </p:nvSpPr>
          <p:spPr>
            <a:xfrm>
              <a:off x="6286500" y="34956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441700"/>
              <a:ext cx="37732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引擎不可用 → 503 + 前端提示手工录入，不阻断经费业务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717925"/>
              <a:ext cx="26956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图片限长 10MB；空内容 / 非图片 → 400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6286500" y="4048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6490335" y="3994150"/>
              <a:ext cx="36839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安装包内置 OCR 模型；ARM64 构建过滤降级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74902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学校帮扶 · 政策法规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school-cols"/>
          <p:cNvGrpSpPr/>
          <p:nvPr/>
        </p:nvGrpSpPr>
        <p:grpSpPr>
          <a:xfrm>
            <a:off x="753237" y="2012950"/>
            <a:ext cx="8914790" cy="1782128"/>
            <a:chOff x="753237" y="2012950"/>
            <a:chExt cx="8914790" cy="178212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帮扶学校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学校档案：校长/联系电话（加密列）/地区层级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受助学生与助学名单：助学金发放记录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4690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奖学金台账：发放批次 / 金额 / 对象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29590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学校帮扶项目挂接与附件（图片/文档预览）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删除关联预警与软删除回收站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政策法规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27706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政策库：分类 / 层级 / 发布年份多维筛选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28636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FTS5 全文检索：命中片段高亮 + XSS 消毒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758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文件在线预览（PDF/图片），收藏与阅读痕迹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全角色公开模块：普通用户与管理员可见性一致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政策执行情况跟踪与关联业务引用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消费帮扶台账：逐笔记录帮销成果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consum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台账要素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4863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品类：农产品 / 畜禽 / 手工 / 其他；产品名称与数量单位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成交金额（元，必填）、采购方（单位）、供货方及类型（农户 / 合作社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919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企业）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7620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965835" y="3241675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年度（必填）、成交日期、凭证文件、备注；可关联帮扶村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7620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5835" y="3517900"/>
              <a:ext cx="37430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新建 / 编辑 / 软删除；按年度 / 品类 / 村 / 关键词筛选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统计与导出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490335" y="2470150"/>
              <a:ext cx="36978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年度统计：总金额 / 记录笔数 / 按品类分布 / 按村分布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746375"/>
              <a:ext cx="27329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台账导出 xlsx / csv（按当前筛选条件）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022600"/>
              <a:ext cx="48588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与帮扶村年度数据第 8 板块「消费帮扶」区分：年度板块按村按年统计，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416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本台账逐笔记账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517900"/>
              <a:ext cx="49040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替换已下线的舆情监测；旧菜单 key sentiment 仅保留权限兼容、不再有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7369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导航入口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44628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consumption_records 表 + /consumption/* API（6 端点）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审批中心：流转可视，留痕完整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approval-flow"/>
          <p:cNvGrpSpPr/>
          <p:nvPr/>
        </p:nvGrpSpPr>
        <p:grpSpPr>
          <a:xfrm>
            <a:off x="762000" y="2705100"/>
            <a:ext cx="9908464" cy="2471103"/>
            <a:chOff x="762000" y="2705100"/>
            <a:chExt cx="9908464" cy="2471103"/>
          </a:xfrm>
        </p:grpSpPr>
        <p:sp>
          <p:nvSpPr>
            <p:cNvPr id="7" name="Line 7"/>
            <p:cNvSpPr/>
            <p:nvPr/>
          </p:nvSpPr>
          <p:spPr>
            <a:xfrm>
              <a:off x="1828800" y="289560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提交申请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15595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487187" y="315595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审批中（可转审）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378983" y="3155950"/>
              <a:ext cx="17012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通过 / 驳回（必填原因）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705100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8162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1559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归档历史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533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479800"/>
              <a:ext cx="6321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申请人视角：我的申请全状态跟踪；审批人视角：待办池 + 全部任务（/approval/tasks/all）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829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775075"/>
              <a:ext cx="56579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「待我审批 / 我发起的 / 已完成」状态页签切换，支持批量通过 / 驳回（原因必填）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124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070350"/>
              <a:ext cx="5439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驳回必填原因（前后端双向校验）；转审批将任务移交其他管理员，链条完整记录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4196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365625"/>
              <a:ext cx="45798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审批概览：通过率 / 平均时长 / 按类型分布，管理视角一眼看清瓶颈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714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660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与经费申请深度联动：审批通过自动推进资金阶段状态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762000" y="50101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65835" y="4956175"/>
              <a:ext cx="35018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全部审批动作写工作日志 + 操作历史，支持审计追溯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7218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数据包协同：增量更新 + 版本管理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package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增量更新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7958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检测变更：对比基准包时间戳，输出新增/修改/软删统计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导出增量包：仅打包变更记录，包型 update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94664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导入预览：先看“将新增几条、覆盖几条”，再决定是否应用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323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应用导入：管理员 + 覆盖式 upsert，保留原始 ID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版本管理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为数据包创建版本快照（变更集记录）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29666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两版本对比：新增 / 修改 / 移除 按类型列出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022600"/>
              <a:ext cx="28055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版本详情按数据类型分页查看记录 ID 集合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298825"/>
              <a:ext cx="2597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组织访问校验 + 审计日志（本轮补齐）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505450"/>
              <a:ext cx="988468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链路校验（v1.14.0）｜「下级生成上报包 → 上级接收 / 导入 → 数据列表可见」整条链路已补端到端集成测试并修复断点；上报协议、端点与请求/响应结构不变，升级后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192945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建议做一次完整上报+接收演练。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数据上报链路：下级打包 → 上级接收 → 数据可见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eport-flow"/>
          <p:cNvGrpSpPr/>
          <p:nvPr/>
        </p:nvGrpSpPr>
        <p:grpSpPr>
          <a:xfrm>
            <a:off x="753237" y="2781300"/>
            <a:ext cx="10246118" cy="2347278"/>
            <a:chOff x="753237" y="2781300"/>
            <a:chExt cx="10246118" cy="2347278"/>
          </a:xfrm>
        </p:grpSpPr>
        <p:sp>
          <p:nvSpPr>
            <p:cNvPr id="7" name="Line 7"/>
            <p:cNvSpPr/>
            <p:nvPr/>
          </p:nvSpPr>
          <p:spPr>
            <a:xfrm>
              <a:off x="1650682" y="2943225"/>
              <a:ext cx="8890635" cy="9525"/>
            </a:xfrm>
            <a:custGeom>
              <a:avLst/>
              <a:gdLst/>
              <a:ahLst/>
              <a:cxnLst/>
              <a:rect l="l" t="t" r="r" b="b"/>
              <a:pathLst>
                <a:path w="8890635" h="9525">
                  <a:moveTo>
                    <a:pt x="0" y="0"/>
                  </a:moveTo>
                  <a:lnTo>
                    <a:pt x="889063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488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563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192644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下级录入数据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267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342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046349" y="32035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生成上报包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045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120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900054" y="32035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上级接收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6822758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897718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451257" y="32035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字段级校验纠正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8601075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676036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304962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预览确认入库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10379392" y="2781300"/>
              <a:ext cx="323850" cy="32385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10454353" y="286385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06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0083279" y="32035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数据列表可见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53237" y="36226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链路要素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5835" y="4079875"/>
              <a:ext cx="44074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上报包：ZIP + manifest.json（组织/记录数/校验和/增量基准）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5835" y="4356100"/>
              <a:ext cx="33284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上报范围：普通用户仅本人录入，管理员为全组织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7620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65835" y="4632325"/>
              <a:ext cx="33963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接收端：仅管理员可校验 / 接收 / 导入 / 确认入库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49625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65835" y="4908550"/>
              <a:ext cx="344908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自动字段级校验：ok / corrected / rejected 三级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77737" y="3622675"/>
              <a:ext cx="1489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v1.14.0 交付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286500" y="39528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6286500" y="41338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6490335" y="4079875"/>
              <a:ext cx="44517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补端到端集成测试并修复链路断点：生成 → 接收 → 导入 → 列表可见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62865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6490335" y="4356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上报协议与端点路径、请求/响应结构均未改变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6286500" y="46863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6490335" y="4632325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升级后建议按用户手册做一次完整上报 + 接收演练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0883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数据分析与报表：让数据开口说话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3" name="analysis-cards"/>
          <p:cNvGrpSpPr/>
          <p:nvPr/>
        </p:nvGrpSpPr>
        <p:grpSpPr>
          <a:xfrm>
            <a:off x="762000" y="2200275"/>
            <a:ext cx="10677212" cy="3581400"/>
            <a:chOff x="762000" y="2200275"/>
            <a:chExt cx="10677212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分析仪表盘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任选两年多维对比；村庄人口/收入趋势、资金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投入走势、项目完成率一览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成效评估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村庄年度评分 + 排名 + 历年对比；评估结果回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流帮扶决策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报表模板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任意字段组合 + xlsx/csv/docx/pdf 导出 + 打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印（v1.14.0 增强）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汇报大屏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31927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全屏汇报模式，支持按帮扶村/学校/单位筛选下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钻；顶部可退出大屏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地图可视化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1324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贵州 88 县区区域数据，帮扶分布上图；离线地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图瓦片管理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500562"/>
              <a:ext cx="65410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影像库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818062"/>
              <a:ext cx="30370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现场照片归档 + EXIF/GPS 自动归类 + 多期对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5018088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比图（v1.14.0 新增）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787142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汇报大屏：三层结构 · 距离字号 · 自动轮播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bigscreen"/>
          <p:cNvGrpSpPr/>
          <p:nvPr/>
        </p:nvGrpSpPr>
        <p:grpSpPr>
          <a:xfrm>
            <a:off x="753237" y="2057400"/>
            <a:ext cx="10676763" cy="3433128"/>
            <a:chOff x="753237" y="2057400"/>
            <a:chExt cx="10676763" cy="3433128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20699" y="2264092"/>
              <a:ext cx="126933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① 标题时间条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137535" y="2295842"/>
              <a:ext cx="47457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标题 + 当前时间 + 距离档（3m/6m/10m）+ 自动轮播/暂停 + 退出大屏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12732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812732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20699" y="3019425"/>
              <a:ext cx="14685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② KPI 大数字区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137535" y="3051175"/>
              <a:ext cx="51302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核心指标大数字（--bs-kpi-size 随距离档缩放），轮播时高亮当前数据视角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69018"/>
              <a:ext cx="10668000" cy="641032"/>
            </a:xfrm>
            <a:prstGeom prst="roundRect">
              <a:avLst>
                <a:gd name="adj" fmla="val 594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569018"/>
              <a:ext cx="38100" cy="64103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20699" y="3774758"/>
              <a:ext cx="84393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③ 图表区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137535" y="3806508"/>
              <a:ext cx="45572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2–3 列图表（资金/项目/成效），支持按帮扶村/学校/单位筛选下钻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53237" y="459422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距离字号分档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7620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965835" y="5051425"/>
              <a:ext cx="4956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data-bigscreen-distance：3m（22/32）· 6m（28/40，默认）· 10m（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965835" y="5270500"/>
              <a:ext cx="163225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36/56），仅大屏页生效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77737" y="4594225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自动轮播与退出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492442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286500" y="5105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5051425"/>
              <a:ext cx="47778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默认关闭；开启后 15s 在 KPI 组 ↔ 图表组间切换，可暂停/继续/关闭（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5270500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卸载清理定时器）；退出先退全屏再回工作台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67914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报表模板：任意字段组合 · 四种格式 · 一键打印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report-tpl"/>
          <p:cNvGrpSpPr/>
          <p:nvPr/>
        </p:nvGrpSpPr>
        <p:grpSpPr>
          <a:xfrm>
            <a:off x="753237" y="2012950"/>
            <a:ext cx="10706303" cy="4044950"/>
            <a:chOff x="753237" y="2012950"/>
            <a:chExt cx="1070630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字段自由组合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38637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按模块读取可用字段（available-fields），勾选需要的列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479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按字段映射保存为报表模板（模板可复用、可下发）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导出前可预览数据，确认无误再生成文件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1994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保留原有模板导入 / 下载能力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6277737" y="20129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多格式导出与打印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Rectangle 19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470150"/>
              <a:ext cx="35847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格式：xlsx / csv / docx / pdf（单次上限 5000 行）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746375"/>
              <a:ext cx="49324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Word / PDF 复用 report_export_service，PDF 用 reportlab 内置中文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965450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字体（不依赖系统字体）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3241675"/>
              <a:ext cx="496920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打印：先取 print-data（JSON），再走浏览器打印样式，适合 A4 台账上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460750"/>
              <a:ext cx="1622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736975"/>
              <a:ext cx="3780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组织数据域沿用模板既有逻辑，导出结果与列表筛选一致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610827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POST /report-templates/{id}/export 与 GET /report-templates/{id}/print-data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59534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影像库：照片归档 + 多期对比，现场变化看得见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media-cols"/>
          <p:cNvGrpSpPr/>
          <p:nvPr/>
        </p:nvGrpSpPr>
        <p:grpSpPr>
          <a:xfrm>
            <a:off x="753237" y="2012950"/>
            <a:ext cx="10676763" cy="4044950"/>
            <a:chOff x="753237" y="2012950"/>
            <a:chExt cx="10676763" cy="404495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归档与自动归类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06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上传后登记归档：关联帮扶村 / 学校 / 项目（三选一或空）+ 标签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0886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自动解析 EXIF：拍摄时间（DateTimeOriginal）与 GPS 坐标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0072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GPS ≤5km 就近自动匹配帮扶村；无 EXIF 时标记为手工来源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499864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拍摄点标识 spot_key（默认 GPS 量化串）：同一拍摄点多期照片自动分组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72048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按村 / 校 / 项目 / 标签 / 日期区间筛选；删除为软删除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多期对比图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234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选同一拍摄点的多张照片，一键生成 PNG 对比图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36224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≤3 张横排；≥4 张按 2 列排列；每张下方标注拍摄日期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3510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单次最多 9 张，可下载留存，用于汇报与验收举证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02691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图片只允许读取上传目录内文件，防路径穿越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85647" y="5695950"/>
              <a:ext cx="54498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新增 photo_archives 表 + /media/photos/* API（7 端点，含对比图合成与下载）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03 功能模块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6163551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系统管理：6 个聚合页 · 页内 Tab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sys-card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组织与权限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130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用户与组织 · 角色管理 · 菜单管理 · 权限包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13062"/>
              <a:ext cx="243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管理 · 组织机构 · 单位授权（R33）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安全与审计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713038"/>
              <a:ext cx="29213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安全审计 · 零信任 · 密钥管理 · 数据分级 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913062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加密设置 · 机器码管理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0574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3955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运维与监控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2781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713038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系统总览 · 健康检查 · 系统监控 · 缓存管理 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2913062"/>
              <a:ext cx="216750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后台任务 · 运行环境 · 错误上报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071938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备份与存储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4577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389438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备份管理 · 分片上传 · 地图瓦片 · 管控配置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4589462"/>
              <a:ext cx="9386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包 · 系统配置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1719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系统设置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489450"/>
              <a:ext cx="33736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更新日志（v1.14.0 起多语言 / 邮件设置已下线）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7988618" y="3733800"/>
              <a:ext cx="3441382" cy="1524000"/>
            </a:xfrm>
            <a:prstGeom prst="roundRect">
              <a:avLst>
                <a:gd name="adj" fmla="val 25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7" name="Rectangle 37"/>
            <p:cNvSpPr/>
            <p:nvPr/>
          </p:nvSpPr>
          <p:spPr>
            <a:xfrm>
              <a:off x="7988618" y="37338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190166" y="4171950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关于与反馈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5529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4489450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关于系统 · 反馈管理 · 帮助中心 · 管理面板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85647" y="5505450"/>
              <a:ext cx="1009104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统一入口 + 页内 Tab：旧页面/旧路由全保留，菜单 key 与权限包全兼容（下线 key 仅权限兼容）；v1.15.0 外观设置收在头像下拉；v1.15.12 起组织与权限含 R33 单位授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985647" y="5695950"/>
              <a:ext cx="14183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权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安全体系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1319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SECURITY &amp; COMPLIANCE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7" name="section-items"/>
          <p:cNvGrpSpPr/>
          <p:nvPr/>
        </p:nvGrpSpPr>
        <p:grpSpPr>
          <a:xfrm>
            <a:off x="5334000" y="1552575"/>
            <a:ext cx="5715000" cy="3486150"/>
            <a:chOff x="5334000" y="1552575"/>
            <a:chExt cx="5715000" cy="34861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150489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四角色权限模型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284490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组织数据隔离（fail-closed）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303232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PII 字段透明加密（ADR-0005）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4527441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R33 单位授权：上级下发授权包 · 下级只读执行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591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4524375"/>
              <a:ext cx="23556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审计合规与供应链完整性</a:t>
              </a:r>
            </a:p>
          </p:txBody>
        </p:sp>
        <p:sp>
          <p:nvSpPr>
            <p:cNvPr id="16" name="Line 16"/>
            <p:cNvSpPr/>
            <p:nvPr/>
          </p:nvSpPr>
          <p:spPr>
            <a:xfrm>
              <a:off x="5334000" y="50292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8" name="TextBox 18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2806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四角色权限模型：简单即安全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-cards"/>
          <p:cNvGrpSpPr/>
          <p:nvPr/>
        </p:nvGrpSpPr>
        <p:grpSpPr>
          <a:xfrm>
            <a:off x="762000" y="2547938"/>
            <a:ext cx="10668000" cy="2728278"/>
            <a:chOff x="762000" y="2547938"/>
            <a:chExt cx="10668000" cy="2728278"/>
          </a:xfrm>
        </p:grpSpPr>
        <p:sp>
          <p:nvSpPr>
            <p:cNvPr id="7" name="Rectangle 7"/>
            <p:cNvSpPr/>
            <p:nvPr/>
          </p:nvSpPr>
          <p:spPr>
            <a:xfrm>
              <a:off x="762000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62275"/>
              <a:ext cx="135600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super_admin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4167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508375"/>
              <a:ext cx="20167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全局数据 · 组织管理 · 系统配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708400"/>
              <a:ext cx="1391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置 · 用户与角色管理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1862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1862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3412" y="2962275"/>
              <a:ext cx="6190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admin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675698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3681412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3789998" y="3508375"/>
              <a:ext cx="21222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本组织及下级数据 · 业务管理 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789998" y="3708400"/>
              <a:ext cx="154179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数据包收发 · 备份恢复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81725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81725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83274" y="2962275"/>
              <a:ext cx="50733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user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385560" y="324167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391275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9860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本人录入数据 · 业务全流程操作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499860" y="3708400"/>
              <a:ext cx="17679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（申请/审批/录入/上报）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891588" y="2547938"/>
              <a:ext cx="2538412" cy="190500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891588" y="2547938"/>
              <a:ext cx="253841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093136" y="2962275"/>
              <a:ext cx="7418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viewer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095422" y="3241675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查看者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9101138" y="35718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209722" y="3508375"/>
              <a:ext cx="21448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授权范围只读 · 无任何写操作（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209722" y="3708400"/>
              <a:ext cx="10593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后端强制 403）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45243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65835" y="4465638"/>
              <a:ext cx="67284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历史角色自动归一化：approval_leader / manager → admin，operator → user（前后端同源映射）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4810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65835" y="4760912"/>
              <a:ext cx="77750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菜单单一源（后端 v2：板块→入口→Tab）；可见性三级裁剪：角色默认 → 权限包 → 用户级配置；公开模块全角色一致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114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65835" y="5056188"/>
              <a:ext cx="47608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写操作后端二次校验：viewer 写入一律 403，前端隐藏按钮只是体验层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011363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数据隔离：fail-closed 哲学（ADR-0002）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cope-cards"/>
          <p:cNvGrpSpPr/>
          <p:nvPr/>
        </p:nvGrpSpPr>
        <p:grpSpPr>
          <a:xfrm>
            <a:off x="753237" y="2509838"/>
            <a:ext cx="10676763" cy="2804478"/>
            <a:chOff x="753237" y="2509838"/>
            <a:chExt cx="10676763" cy="2804478"/>
          </a:xfrm>
        </p:grpSpPr>
        <p:sp>
          <p:nvSpPr>
            <p:cNvPr id="7" name="Rectangle 7"/>
            <p:cNvSpPr/>
            <p:nvPr/>
          </p:nvSpPr>
          <p:spPr>
            <a:xfrm>
              <a:off x="762000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767012"/>
              <a:ext cx="40536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ALL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046412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超级管理员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313112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不过滤，全局可见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767012"/>
              <a:ext cx="114868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OWN_DEPT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4578668" y="3046412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管理员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313112"/>
              <a:ext cx="12402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本组织 + 下级组织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509838"/>
              <a:ext cx="3441382" cy="1390650"/>
            </a:xfrm>
            <a:prstGeom prst="roundRect">
              <a:avLst>
                <a:gd name="adj" fmla="val 2740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509838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767012"/>
              <a:ext cx="4997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OWN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8192452" y="3046412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普通用户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198168" y="33718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313112"/>
              <a:ext cx="18961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仅本人录入（created_by）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753237" y="4041775"/>
              <a:ext cx="423051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三条 fail-closed 铁律（回归测试锁定）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762000" y="4371975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Rectangle 27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503738"/>
              <a:ext cx="62299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无组织用户绝不升级为管理员：旧实现“无组织 → is_admin=True”已根除，一律回退“仅本人”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8482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799012"/>
              <a:ext cx="69168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模型缺过滤列 = 拒绝而非放行：缺组织列降级“仅本人”；连 owner 列都缺则返回空集（绝不返回全量）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153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5094288"/>
              <a:ext cx="76808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组织删除级联守卫（ADR-0003）：名下有项目/用户时拒绝硬删并提示计数；外键 CASCADE→SET NULL 截断级联链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882488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PII 字段透明加密（ADR-0005）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8" name="pii-flow"/>
          <p:cNvGrpSpPr/>
          <p:nvPr/>
        </p:nvGrpSpPr>
        <p:grpSpPr>
          <a:xfrm>
            <a:off x="753237" y="2012950"/>
            <a:ext cx="10676763" cy="3673475"/>
            <a:chOff x="753237" y="2012950"/>
            <a:chExt cx="10676763" cy="3673475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读写全透明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79097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覆盖 9 列：身份证号 / 电话类（含一户一档 helper_phone / id_card，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265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v1.14.0 起替换 villagers 两列）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39918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密钥：ENCRYPTION_KEY 派生（多机同配）或运行时密钥库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6277737" y="2012950"/>
              <a:ext cx="261258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确定性加密 = 查询零改写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0335" y="2470150"/>
              <a:ext cx="275381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AES-SIV（RFC 5297）：同明文恒同密文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490335" y="2746375"/>
              <a:ext cx="48841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WHERE phone = :明文 绑定参数加密后直接命中密文——既有等值查询一行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490335" y="296545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不改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2956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324167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DB 文件直接打开看不到任何明文 PII（测试实证）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5718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35179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历史明文行原样透出：迁移前数据不报错、不二次加密</a:t>
              </a:r>
            </a:p>
          </p:txBody>
        </p:sp>
        <p:sp>
          <p:nvSpPr>
            <p:cNvPr id="25" name="Line 25"/>
            <p:cNvSpPr/>
            <p:nvPr/>
          </p:nvSpPr>
          <p:spPr>
            <a:xfrm>
              <a:off x="2540318" y="4448175"/>
              <a:ext cx="7111365" cy="9525"/>
            </a:xfrm>
            <a:custGeom>
              <a:avLst/>
              <a:gdLst/>
              <a:ahLst/>
              <a:cxnLst/>
              <a:rect l="l" t="t" r="r" b="b"/>
              <a:pathLst>
                <a:path w="7111365" h="9525">
                  <a:moveTo>
                    <a:pt x="0" y="0"/>
                  </a:moveTo>
                  <a:lnTo>
                    <a:pt x="7111365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Ellipse 26"/>
            <p:cNvSpPr/>
            <p:nvPr/>
          </p:nvSpPr>
          <p:spPr>
            <a:xfrm>
              <a:off x="2349818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2453353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945476" y="4708525"/>
              <a:ext cx="1189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ORM 写入 · 明文</a:t>
              </a:r>
            </a:p>
          </p:txBody>
        </p:sp>
        <p:sp>
          <p:nvSpPr>
            <p:cNvPr id="29" name="Ellipse 29"/>
            <p:cNvSpPr/>
            <p:nvPr/>
          </p:nvSpPr>
          <p:spPr>
            <a:xfrm>
              <a:off x="5905500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009036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950785" y="4708525"/>
              <a:ext cx="22904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EncryptedText · AES-SIV 加密</a:t>
              </a:r>
            </a:p>
          </p:txBody>
        </p:sp>
        <p:sp>
          <p:nvSpPr>
            <p:cNvPr id="32" name="Ellipse 32"/>
            <p:cNvSpPr/>
            <p:nvPr/>
          </p:nvSpPr>
          <p:spPr>
            <a:xfrm>
              <a:off x="9461182" y="4257675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564718" y="4368800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06912" y="4708525"/>
              <a:ext cx="1689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SQLite · enc.v1: 密文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019675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133975"/>
              <a:ext cx="9511385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纵深防御｜SQLCipher fail-closed：启用加密时先探测驱动，普通 sqlite3 会静默忽略 PRAGMA key 造成“假加密”——探测不到直接拒绝启动；PRAGMA key 为连接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985647" y="5324475"/>
              <a:ext cx="479838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首条语句字面量。前端 DataMaskingService 在解密后的明文上按权限掩码展示。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审计合规：每一步都留痕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audit-cards"/>
          <p:cNvGrpSpPr/>
          <p:nvPr/>
        </p:nvGrpSpPr>
        <p:grpSpPr>
          <a:xfrm>
            <a:off x="762000" y="2200275"/>
            <a:ext cx="10668000" cy="3581400"/>
            <a:chOff x="762000" y="2200275"/>
            <a:chExt cx="10668000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双写审计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851150"/>
              <a:ext cx="274991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AuditLogger 同时写文件日志与数据库（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051175"/>
              <a:ext cx="21825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audit_logs / login_attempts /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251200"/>
              <a:ext cx="23861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api_access_logs），断电不丢证据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533650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全程留痕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84382" y="29146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2851150"/>
              <a:ext cx="324554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所有写操作强制 write_work_log；导入导出/确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3051175"/>
              <a:ext cx="2913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认各环节写操作历史；字段级变更历史 old→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251200"/>
              <a:ext cx="29036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new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633662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错误不泄密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06752" y="2951162"/>
              <a:ext cx="29439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api/v1 响应禁止内插异常对象——源码扫描测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3151188"/>
              <a:ext cx="22881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试强制拦截，detail 一律泛化文案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8" name="Rectangle 28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63549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限流防线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1080135" y="4818062"/>
              <a:ext cx="29650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 5/分 · 注册 3/分 · 刷新 10/分 · CSRF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080135" y="5018088"/>
              <a:ext cx="26122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30/分（滑动窗口，签名 fail-closed）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4" name="Rectangle 34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576382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破窗恢复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7" name="TextBox 37"/>
            <p:cNvSpPr txBox="1"/>
            <p:nvPr/>
          </p:nvSpPr>
          <p:spPr>
            <a:xfrm>
              <a:off x="4692968" y="4818062"/>
              <a:ext cx="31473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ADR-0008：出厂管理员密码恢复仅限本机 + 未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4692968" y="5018088"/>
              <a:ext cx="2446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激活账号 + 全程审计，唯一例外通道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0" name="Rectangle 40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190166" y="450056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令牌治理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198168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4818062"/>
              <a:ext cx="31040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JWT 携带 jti + Token 黑名单持久化；登出/改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306752" y="5018088"/>
              <a:ext cx="275552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密立即失效；token_version 版本化吊销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04 安全体系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供应链完整性：从源码到安装包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supply-flow"/>
          <p:cNvGrpSpPr/>
          <p:nvPr/>
        </p:nvGrpSpPr>
        <p:grpSpPr>
          <a:xfrm>
            <a:off x="762000" y="2852738"/>
            <a:ext cx="10453131" cy="2175828"/>
            <a:chOff x="762000" y="2852738"/>
            <a:chExt cx="10453131" cy="2175828"/>
          </a:xfrm>
        </p:grpSpPr>
        <p:sp>
          <p:nvSpPr>
            <p:cNvPr id="7" name="Line 7"/>
            <p:cNvSpPr/>
            <p:nvPr/>
          </p:nvSpPr>
          <p:spPr>
            <a:xfrm>
              <a:off x="1828800" y="3043238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5215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源码仓库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975073" y="3303588"/>
              <a:ext cx="19746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CI 构建（Actions pin SHA）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7887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依赖钉扎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424809" y="3303588"/>
              <a:ext cx="16095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安装包 + SHA256SUMS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852738"/>
              <a:ext cx="381000" cy="381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2963862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Arial"/>
                  <a:ea typeface="Arial"/>
                  <a:cs typeface="Arial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55936" y="330358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Arial"/>
                  <a:ea typeface="Microsoft YaHei"/>
                  <a:cs typeface="Arial"/>
                </a:rPr>
                <a:t>离线分发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686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5835" y="3627438"/>
              <a:ext cx="102492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VC++ 运行库 37.7MB 移出 git：CI 从微软官方直链下载 + SHA256 钉扎；安装期 NSIS 钩子二次校验（三态语义：匹配安装 / 篡改中止 / 工具缺失跳过）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39719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5835" y="3922712"/>
              <a:ext cx="65834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Release 附三个产物族独立 SHA256SUMS 清单；前端产物同步由字节粗校验升级为逐文件哈希比对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276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5835" y="4217988"/>
              <a:ext cx="57864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全量 pin 到 commit SHA（57 处 uses），消除 tag 漂移的供应链风险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562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5835" y="4513262"/>
              <a:ext cx="45045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代码签名管线就绪：配置证书后自动签名后端 exe 与安装包/卸载器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48672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808538"/>
              <a:ext cx="545822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NSIS 钩子路径转义根修（v1.11.1）：C 风格转义损坏路径曾致真机安装全部中止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质量工程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2812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QUALITY ENGINEERING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9" name="section-items"/>
          <p:cNvGrpSpPr/>
          <p:nvPr/>
        </p:nvGrpSpPr>
        <p:grpSpPr>
          <a:xfrm>
            <a:off x="5334000" y="1552575"/>
            <a:ext cx="5715000" cy="3562350"/>
            <a:chOff x="5334000" y="1552575"/>
            <a:chExt cx="5715000" cy="356235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49931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22,280 项自动化测试（后端 14,896 + 前端 7,384）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2288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162175"/>
              <a:ext cx="281300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三重前端门禁 + 双重后端门禁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2838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2771775"/>
              <a:ext cx="340487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CI/CD 流水线（PR Checks 7 作业）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4480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381375"/>
              <a:ext cx="411368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AI 代码深度审查（376 文件 / 918 条发现）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5334000" y="40576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5630799" y="3990975"/>
              <a:ext cx="21429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双平台安装包自动构建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5334000" y="4667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5630799" y="4600575"/>
              <a:ext cx="392084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6 项预防棘轮门禁 + 11 个真实 HTTP 探针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5334000" y="51054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测试体系：数字不会说谎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9" name="test-chart"/>
          <p:cNvGrpSpPr/>
          <p:nvPr/>
        </p:nvGrpSpPr>
        <p:grpSpPr>
          <a:xfrm>
            <a:off x="762000" y="2057400"/>
            <a:ext cx="10773882" cy="4000500"/>
            <a:chOff x="762000" y="2057400"/>
            <a:chExt cx="10773882" cy="4000500"/>
          </a:xfrm>
        </p:grpSpPr>
        <p:sp>
          <p:nvSpPr>
            <p:cNvPr id="7" name="TextBox 7"/>
            <p:cNvSpPr txBox="1"/>
            <p:nvPr/>
          </p:nvSpPr>
          <p:spPr>
            <a:xfrm>
              <a:off x="6087237" y="20701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测试纪律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6096000" y="24003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057400"/>
              <a:ext cx="4953000" cy="3143250"/>
            </a:xfrm>
            <a:prstGeom prst="roundRect">
              <a:avLst>
                <a:gd name="adj" fmla="val 121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84504" y="2209800"/>
              <a:ext cx="98145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用例数（个）</a:t>
              </a:r>
            </a:p>
          </p:txBody>
        </p:sp>
        <p:sp>
          <p:nvSpPr>
            <p:cNvPr id="11" name="Line 11"/>
            <p:cNvSpPr/>
            <p:nvPr/>
          </p:nvSpPr>
          <p:spPr>
            <a:xfrm>
              <a:off x="1047750" y="4762500"/>
              <a:ext cx="4438650" cy="9525"/>
            </a:xfrm>
            <a:custGeom>
              <a:avLst/>
              <a:gdLst/>
              <a:ahLst/>
              <a:cxnLst/>
              <a:rect l="l" t="t" r="r" b="b"/>
              <a:pathLst>
                <a:path w="4438650" h="9525">
                  <a:moveTo>
                    <a:pt x="0" y="0"/>
                  </a:moveTo>
                  <a:lnTo>
                    <a:pt x="443865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1619250" y="2933700"/>
              <a:ext cx="762000" cy="18288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Rectangle 13"/>
            <p:cNvSpPr/>
            <p:nvPr/>
          </p:nvSpPr>
          <p:spPr>
            <a:xfrm>
              <a:off x="3143250" y="3848100"/>
              <a:ext cx="762000" cy="9144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590333" y="2584450"/>
              <a:ext cx="81983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14,896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3181192" y="3498850"/>
              <a:ext cx="68611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7,384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599133" y="4883150"/>
              <a:ext cx="80223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后端 pytest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3140802" y="4883150"/>
              <a:ext cx="76689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前端 vitest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6096000" y="26003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6299835" y="2546350"/>
              <a:ext cx="428062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前后端覆盖率门禁均 100%（CI 硬阈值，12 个源码分组全约束）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096000" y="28194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6299835" y="2765425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新增接口/页面必须配套测试（协作约定强制）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096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299835" y="2984500"/>
              <a:ext cx="52360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 E2E 154+ 例（17 个 spec）+ 44 个关键页面视觉回归基线（DOM 结构快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299835" y="3175000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照，不比对像素）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096000" y="3448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299835" y="3394075"/>
              <a:ext cx="514558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Token 契约测试：主题 3 套 / 显示偏好 4 档 / 大屏字号档 / 全局类存在性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299835" y="3584575"/>
              <a:ext cx="168630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+ R35 表格规范 117/117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096000" y="38576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299835" y="3803650"/>
              <a:ext cx="5024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硬编码色棘轮只降不升：基线 345 → 当前 146（40 个文件；目标 ≤200 已达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299835" y="39941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成），改动文件零新增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096000" y="42672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299835" y="4213225"/>
              <a:ext cx="51098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项预防棘轮门禁接入 CI（os._exit / 上传限长 / 无界读 / 子进程编码 / 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6299835" y="4403725"/>
              <a:ext cx="23133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录替换 / 周期任务注册），NEW=0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6096000" y="46767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6299835" y="4622800"/>
              <a:ext cx="51297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安全回归：限流签名 / loopback 门禁 / 错误不泄露 / PII 加密 / 组织守卫 均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299835" y="48133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有专项锁定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85647" y="5695950"/>
              <a:ext cx="712740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数据来源：2026-10-28 实测（v1.18.23）· 后端 14,896 / 前端 7,384 用例（344 文件）· 覆盖率 100% · 视觉回归 44 页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593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CI/CD：从提交到安装包全自动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cicd-cards"/>
          <p:cNvGrpSpPr/>
          <p:nvPr/>
        </p:nvGrpSpPr>
        <p:grpSpPr>
          <a:xfrm>
            <a:off x="762000" y="2057400"/>
            <a:ext cx="10998799" cy="4000500"/>
            <a:chOff x="762000" y="2057400"/>
            <a:chExt cx="10998799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443162"/>
              <a:ext cx="108795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PR Checks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760662"/>
              <a:ext cx="500362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每次 PR/推 main：后端 12 段独立进程测试（--cov-append 合并、覆盖率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960688"/>
              <a:ext cx="446537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100% 硬门禁）+ 前端测试 + flake8/bandit + 静态门禁 + Codecov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181725" y="205740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6181725" y="205740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383274" y="2443162"/>
              <a:ext cx="122313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Nightly Full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391275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6499860" y="2760662"/>
              <a:ext cx="499295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每日全量：后端同口径 6 段 + 前端全量 + 质量报告（JUnit / HTML 覆盖率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6499860" y="2960688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报告）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3549" y="4214812"/>
              <a:ext cx="1291236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Tag → 安装包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971550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1080135" y="4532312"/>
              <a:ext cx="46722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打 tag 自动构建：发布门禁（tag commit 的 PR Checks 必须全绿）→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080135" y="4732338"/>
              <a:ext cx="37260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Windows NSIS + 麒麟双 DEB + SHA256SUMS → Release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81725" y="3829050"/>
              <a:ext cx="5248275" cy="1619250"/>
            </a:xfrm>
            <a:prstGeom prst="roundRect">
              <a:avLst>
                <a:gd name="adj" fmla="val 2353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81725" y="3829050"/>
              <a:ext cx="524827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83274" y="4214812"/>
              <a:ext cx="8668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质量门禁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391275" y="45910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9860" y="4532312"/>
              <a:ext cx="526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pre-commit（ruff/空白/YAML）+ pre-push（flake8/bandit/vue-tsc）两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499860" y="4732338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阶段拦截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797904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构建产物：Setup-x64.exe（Windows）· Electron DEB + standalone DEB（麒麟 ARM64，buildx+QEMU 交叉构建，layer 缓存加速）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发布工程：目标机器零依赖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elease-cols"/>
          <p:cNvGrpSpPr/>
          <p:nvPr/>
        </p:nvGrpSpPr>
        <p:grpSpPr>
          <a:xfrm>
            <a:off x="753237" y="2012950"/>
            <a:ext cx="10426713" cy="2001203"/>
            <a:chOff x="753237" y="2012950"/>
            <a:chExt cx="10426713" cy="200120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47434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72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Windows x64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6412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PyInstaller onedir（ADR-0006）：冷启动 32.3s → 8.6s（3.8 倍）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413981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electron-builder NSIS：静默安装 VC++ 运行库（哈希校验）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35149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内置 Python 运行时 + 全部 pip 依赖 + 前端静态资源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6450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安装/卸载/升级全程保留用户数据；卸载静默默认保留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48987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CI 安装包冒烟：解包直跑后端断言 /health + 包内禁含测试资产 + 构建指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65835" y="3794125"/>
              <a:ext cx="31209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纹 builder=ci；SHA256SUMS 随 Release 附带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6277737" y="2012950"/>
              <a:ext cx="18164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 V10 ARM64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490335" y="2470150"/>
              <a:ext cx="40224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Docker buildx + QEMU 交叉构建（x86 CI 出 ARM64 产物）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490335" y="2746375"/>
              <a:ext cx="29198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最低 GLIBC（Buster）构建，保证向前兼容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490335" y="3022600"/>
              <a:ext cx="46896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双形态：Electron 桌面版 / standalone 纯 Web 版（systemd 服务）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490335" y="3298825"/>
              <a:ext cx="41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CRLF 回归门禁：DEB 内脚本 \r 即构建失败（历史事故防线）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490335" y="3575050"/>
              <a:ext cx="2702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postinst 自动 chmod + 桌面数据库刷新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05 质量工程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848615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AI 代码深度审查：OpenCodeReview 全量扫描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aireview-cols"/>
          <p:cNvGrpSpPr/>
          <p:nvPr/>
        </p:nvGrpSpPr>
        <p:grpSpPr>
          <a:xfrm>
            <a:off x="753237" y="2012950"/>
            <a:ext cx="9992827" cy="2058353"/>
            <a:chOff x="753237" y="2012950"/>
            <a:chExt cx="9992827" cy="2058353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扫描规模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47435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工具：alibaba/open-code-review v1.12.4（全文件 scan 模式）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5835" y="2746375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范围：376 个源文件（backend/app 全覆盖）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022600"/>
              <a:ext cx="460251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产出：918 条发现 — critical 36 / high 177 / medium 458 / low 247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298825"/>
              <a:ext cx="3238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消耗约 2,534 万 token，逐条甄别而非机械采纳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575050"/>
              <a:ext cx="351693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确证缺陷 19 处已修复；有意设计/误报显式记录不改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2777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代表性修复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Rectangle 21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90335" y="2470150"/>
              <a:ext cx="34415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事务装饰器两条路径均缺 commit：写入被静默丢弃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746375"/>
              <a:ext cx="425572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令牌 extra_claims 可覆盖 type/exp；缺 type 令牌 fail-open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3022600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永久吊销被降级为 24 小时 —— 已吊销令牌复活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298825"/>
              <a:ext cx="36526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require_admin 模式判定 fail-open（约 100 处调用）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575050"/>
              <a:ext cx="35109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AES 密钥长度非法时静默换随机密钥 → 数据永不可解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851275"/>
              <a:ext cx="383356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归档恢复路径穿越；本地门禁在 cp936 下「通过即崩溃」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4251B"/>
            </a:gs>
            <a:gs pos="55000">
              <a:schemeClr val="lt1"/>
            </a:gs>
            <a:gs pos="100000">
              <a:srgbClr val="1E3A2C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71500" y="137795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2">
                    <a:alphaMod val="14000"/>
                  </a:schemeClr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762000" y="3117850"/>
            <a:ext cx="2198751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部署运行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94385" y="3765550"/>
            <a:ext cx="33622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Arial"/>
                <a:ea typeface="Arial"/>
                <a:cs typeface="Arial"/>
              </a:rPr>
              <a:t>DEPLOYMENT &amp; OPERATION</a:t>
            </a:r>
          </a:p>
        </p:txBody>
      </p:sp>
      <p:sp>
        <p:nvSpPr>
          <p:cNvPr id="5" name="Rectangle 5"/>
          <p:cNvSpPr/>
          <p:nvPr/>
        </p:nvSpPr>
        <p:spPr>
          <a:xfrm>
            <a:off x="781050" y="4191000"/>
            <a:ext cx="1333500" cy="19050"/>
          </a:xfrm>
          <a:prstGeom prst="rect">
            <a:avLst/>
          </a:prstGeom>
          <a:gradFill>
            <a:gsLst>
              <a:gs pos="0">
                <a:schemeClr val="accent2">
                  <a:alpha val="90000"/>
                </a:schemeClr>
              </a:gs>
              <a:gs pos="100000">
                <a:schemeClr val="accent2">
                  <a:alpha val="0"/>
                </a:schemeClr>
              </a:gs>
            </a:gsLst>
            <a:lin ang="0" scaled="1"/>
          </a:gradFill>
          <a:ln>
            <a:noFill/>
          </a:ln>
        </p:spPr>
        <p:txBody>
          <a:bodyPr/>
          <a:p/>
        </p:txBody>
      </p:sp>
      <p:grpSp>
        <p:nvGrpSpPr>
          <p:cNvPr id="15" name="section-items"/>
          <p:cNvGrpSpPr/>
          <p:nvPr/>
        </p:nvGrpSpPr>
        <p:grpSpPr>
          <a:xfrm>
            <a:off x="5334000" y="1552575"/>
            <a:ext cx="5715000" cy="2743200"/>
            <a:chOff x="5334000" y="1552575"/>
            <a:chExt cx="5715000" cy="2743200"/>
          </a:xfrm>
        </p:grpSpPr>
        <p:sp>
          <p:nvSpPr>
            <p:cNvPr id="6" name="Rectangle 6"/>
            <p:cNvSpPr/>
            <p:nvPr/>
          </p:nvSpPr>
          <p:spPr>
            <a:xfrm>
              <a:off x="5334000" y="16192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7" name="TextBox 7"/>
            <p:cNvSpPr txBox="1"/>
            <p:nvPr/>
          </p:nvSpPr>
          <p:spPr>
            <a:xfrm>
              <a:off x="5630799" y="1552575"/>
              <a:ext cx="399348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三种部署形态对比（v1.15.15 发布资产）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5334000" y="23622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5630799" y="2295525"/>
              <a:ext cx="1930298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备份恢复与离线升级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334000" y="31051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5630799" y="3038475"/>
              <a:ext cx="2929987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版本历程 v1.13.0 → v1.15.15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5334000" y="38481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5630799" y="3781425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dirty="0">
                  <a:solidFill>
                    <a:srgbClr val="E4EBE6"/>
                  </a:solidFill>
                  <a:latin typeface="Arial"/>
                  <a:ea typeface="Microsoft YaHei"/>
                  <a:cs typeface="Arial"/>
                </a:rPr>
                <a:t>后续演进方向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5334000" y="42862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rgbClr val="2E463B"/>
              </a:solidFill>
            </a:ln>
          </p:spPr>
          <p:txBody>
            <a:bodyPr/>
            <a:p/>
          </p:txBody>
        </p:sp>
      </p:grpSp>
      <p:sp>
        <p:nvSpPr>
          <p:cNvPr id="16" name="TextBox 16"/>
          <p:cNvSpPr txBox="1"/>
          <p:nvPr/>
        </p:nvSpPr>
        <p:spPr>
          <a:xfrm>
            <a:off x="757047" y="6286500"/>
            <a:ext cx="72231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三种部署形态：按环境选型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deploy-cards"/>
          <p:cNvGrpSpPr/>
          <p:nvPr/>
        </p:nvGrpSpPr>
        <p:grpSpPr>
          <a:xfrm>
            <a:off x="762000" y="2705100"/>
            <a:ext cx="10668000" cy="3352800"/>
            <a:chOff x="762000" y="2705100"/>
            <a:chExt cx="10668000" cy="3352800"/>
          </a:xfrm>
        </p:grpSpPr>
        <p:sp>
          <p:nvSpPr>
            <p:cNvPr id="7" name="Rectangle 7"/>
            <p:cNvSpPr/>
            <p:nvPr/>
          </p:nvSpPr>
          <p:spPr>
            <a:xfrm>
              <a:off x="762000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943225"/>
              <a:ext cx="1622205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Windows 单机版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222625"/>
              <a:ext cx="82219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Microsoft YaHei"/>
                  <a:cs typeface="Arial"/>
                </a:rPr>
                <a:t>NSIS 安装包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489325"/>
              <a:ext cx="9747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Win10/11 x64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80135" y="37369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双击安装零依赖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971550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080135" y="3984625"/>
              <a:ext cx="9990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托盘/开机自启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971550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80135" y="4232275"/>
              <a:ext cx="79204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~272.8 MB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374832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4374832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4576382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麒麟桌面版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78668" y="3222625"/>
              <a:ext cx="9500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Electron DEB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84382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2968" y="3489325"/>
              <a:ext cx="14429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银河麒麟 V10 ARM64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4584382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4692968" y="37369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桌面双击运行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4584382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4692968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党政机适配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584382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4692968" y="4232275"/>
              <a:ext cx="61680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~196 MB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988618" y="2705100"/>
              <a:ext cx="3441382" cy="2095500"/>
            </a:xfrm>
            <a:prstGeom prst="roundRect">
              <a:avLst>
                <a:gd name="adj" fmla="val 1818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7988618" y="27051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190166" y="2943225"/>
              <a:ext cx="10795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麒麟服务版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192452" y="3222625"/>
              <a:ext cx="11159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Standalone DEB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8198168" y="35528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8306752" y="3489325"/>
              <a:ext cx="9908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纯 Web 无桌面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198168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8306752" y="3736975"/>
              <a:ext cx="96884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systemd 托管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198168" y="40481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8306752" y="3984625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浏览器访问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8198168" y="42957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232275"/>
              <a:ext cx="52918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~58 MB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679036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2026-10-20 v1.15.15 实测体积；全部形态离线可用，安装包内含 VC++ 运行库与 Python 运行时，目标机器零预装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备份恢复与离线升级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backup-cols"/>
          <p:cNvGrpSpPr/>
          <p:nvPr/>
        </p:nvGrpSpPr>
        <p:grpSpPr>
          <a:xfrm>
            <a:off x="753237" y="2012950"/>
            <a:ext cx="10264079" cy="2220278"/>
            <a:chOff x="753237" y="2012950"/>
            <a:chExt cx="10264079" cy="2220278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0129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备份与恢复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470150"/>
              <a:ext cx="41124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备份包必含数据库本体，缺失即抛错（fail-loud）；列表标注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65835" y="2689225"/>
              <a:ext cx="24765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120" dirty="0">
                  <a:solidFill>
                    <a:srgbClr val="3D4B43"/>
                  </a:solidFill>
                  <a:latin typeface="Arial"/>
                  <a:ea typeface="Arial"/>
                  <a:cs typeface="Arial"/>
                </a:rPr>
                <a:t>is_encrypted / database_included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762000" y="30194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965835" y="2965450"/>
              <a:ext cx="5078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上传恢复：8MB 分块流式落盘防 OOM、10GB 防御上限；上传前内存预校验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65835" y="3184525"/>
              <a:ext cx="3330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（加密标记 / 损坏 ZIP / 缺库文件）→ 拒绝零残留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65835" y="3460750"/>
              <a:ext cx="3567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恢复流程 WAL 安全：先释放连接池再覆盖数据库文件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37909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65835" y="3736975"/>
              <a:ext cx="42890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加密备份口令（PBKDF2+Fernet）；全部拒绝路径清理临时文件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0671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65835" y="4013200"/>
              <a:ext cx="49124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路径单一来源：以会话引擎 / DATABASE_URL 为准（历史错源事故根治）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6277737" y="2012950"/>
              <a:ext cx="237082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离线升级（ADR 指南）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6286500" y="234315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Rectangle 23"/>
            <p:cNvSpPr/>
            <p:nvPr/>
          </p:nvSpPr>
          <p:spPr>
            <a:xfrm>
              <a:off x="6286500" y="25241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90335" y="2470150"/>
              <a:ext cx="4304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升级四步：备份 → SHA256/签名校验 → 覆盖安装 → Alembic 迁移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286500" y="28003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6490335" y="27463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失败回滚路径文档化；用户数据与安装目录分离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86500" y="3076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490335" y="3022600"/>
              <a:ext cx="452698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出厂恢复通道（ADR-0008）：仅本机 + 仅未激活管理员 + 全程审计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286500" y="33528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490335" y="3298825"/>
              <a:ext cx="33463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删库守卫：完整性失败默认 SystemExit 保留现场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6286500" y="36290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6490335" y="3575050"/>
              <a:ext cx="38312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机器码三级回退：Windows 重装也能通过通行码恢复授权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86500" y="39052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6490335" y="3851275"/>
              <a:ext cx="3856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升级期间写请求闸门（maintenance gate）挡住并发写入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8768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版本历程：持续的密集演进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54" name="version-cards"/>
          <p:cNvGrpSpPr/>
          <p:nvPr/>
        </p:nvGrpSpPr>
        <p:grpSpPr>
          <a:xfrm>
            <a:off x="762000" y="2057400"/>
            <a:ext cx="10729784" cy="4000500"/>
            <a:chOff x="762000" y="2057400"/>
            <a:chExt cx="10729784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v1.13.0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2832100"/>
              <a:ext cx="31098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导航架构重构：后端单一菜单源 v2 + 系统管理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080135" y="3032125"/>
              <a:ext cx="28387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6 聚合页 + Ctrl+K 搜索 / 收藏 / 最近访问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74832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74832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76382" y="22860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v1.14.0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578668" y="25654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10-18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4584382" y="28956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4692968" y="2832100"/>
              <a:ext cx="307215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功能大迭代：一户一档 / 影像库对比 / 消费帮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692968" y="3032125"/>
              <a:ext cx="267060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扶台账 / 经费凭证 OCR / 报表组合导出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7988618" y="2057400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7988618" y="2057400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190166" y="2209800"/>
              <a:ext cx="87584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v1.15.0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192452" y="2489200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10-19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198168" y="2819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8306752" y="2755900"/>
              <a:ext cx="28893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UI v2.0 重构：主题 3 套 + 显示偏好 4 档 +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306752" y="2955925"/>
              <a:ext cx="31850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Token/组件类 + 工作台 KPI + 大屏三层/距离字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306752" y="3155950"/>
              <a:ext cx="5466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号/轮播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63549" y="3876675"/>
              <a:ext cx="998674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v1.15.15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965835" y="4156075"/>
              <a:ext cx="42606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10-20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71550" y="44862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1080135" y="4422775"/>
              <a:ext cx="300785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R35 UI 精细化方案 C：品牌区 20px/800、表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080135" y="4622800"/>
              <a:ext cx="30061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格规范 117/117、筛选栏 4 档、PageHeader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1080135" y="4822825"/>
              <a:ext cx="37328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31 页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4374832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4374832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4576382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v1.16.0–v1.17.4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78668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10-21~24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4584382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4692968" y="4498975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系统管理梳理 + 危险操作硬化；端到端排查修 2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4692968" y="4699000"/>
              <a:ext cx="28761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处真机缺陷；安装包前端自发现与白屏修复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7988618" y="3724275"/>
              <a:ext cx="3441382" cy="1533525"/>
            </a:xfrm>
            <a:prstGeom prst="roundRect">
              <a:avLst>
                <a:gd name="adj" fmla="val 2484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45" name="Rectangle 45"/>
            <p:cNvSpPr/>
            <p:nvPr/>
          </p:nvSpPr>
          <p:spPr>
            <a:xfrm>
              <a:off x="7988618" y="3724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6" name="TextBox 46"/>
            <p:cNvSpPr txBox="1"/>
            <p:nvPr/>
          </p:nvSpPr>
          <p:spPr>
            <a:xfrm>
              <a:off x="8190166" y="3952875"/>
              <a:ext cx="1858512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80" b="1" dirty="0">
                  <a:solidFill>
                    <a:schemeClr val="accent1"/>
                  </a:solidFill>
                  <a:latin typeface="Arial"/>
                  <a:ea typeface="Arial"/>
                  <a:cs typeface="Arial"/>
                </a:rPr>
                <a:t>v1.18.0–v1.18.8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8192452" y="4232275"/>
              <a:ext cx="6748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Arial"/>
                  <a:ea typeface="Arial"/>
                  <a:cs typeface="Arial"/>
                </a:rPr>
                <a:t>10-24~26</a:t>
              </a:r>
            </a:p>
          </p:txBody>
        </p:sp>
        <p:sp>
          <p:nvSpPr>
            <p:cNvPr id="48" name="Rectangle 48"/>
            <p:cNvSpPr/>
            <p:nvPr/>
          </p:nvSpPr>
          <p:spPr>
            <a:xfrm>
              <a:off x="8198168" y="4562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9" name="TextBox 49"/>
            <p:cNvSpPr txBox="1"/>
            <p:nvPr/>
          </p:nvSpPr>
          <p:spPr>
            <a:xfrm>
              <a:off x="8306752" y="4498975"/>
              <a:ext cx="30872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登录门面 + 422 中文化 + 门禁加固 + 批量粘贴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306752" y="4699000"/>
              <a:ext cx="204489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/ 草稿 / 虚拟滚动 / OCR 建议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762000" y="5391150"/>
              <a:ext cx="10668000" cy="666750"/>
            </a:xfrm>
            <a:prstGeom prst="roundRect">
              <a:avLst>
                <a:gd name="adj" fmla="val 4286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52" name="TextBox 52"/>
            <p:cNvSpPr txBox="1"/>
            <p:nvPr/>
          </p:nvSpPr>
          <p:spPr>
            <a:xfrm>
              <a:off x="985647" y="5505450"/>
              <a:ext cx="992362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净效果：14,896 后端用例（行+分支覆盖率 100%）+ 7,384 前端用例全绿（344 文件）+ 三层对齐门禁 + 44 页视觉回归基线；Windows x64 与麒麟 ARM64 离线安装包由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985647" y="5695950"/>
              <a:ext cx="550980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GitHub Actions 自动构建并发布 Release（发布前强制校验 tag commit 的 PR Checks 全绿）</a:t>
              </a:r>
            </a:p>
          </p:txBody>
        </p:sp>
      </p:grpSp>
      <p:sp>
        <p:nvSpPr>
          <p:cNvPr id="55" name="TextBox 5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96388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06 部署运行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Arial"/>
                <a:ea typeface="Microsoft YaHei"/>
                <a:cs typeface="Arial"/>
              </a:rPr>
              <a:t>后续演进：已立项的工单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4" name="roadmap-cards"/>
          <p:cNvGrpSpPr/>
          <p:nvPr/>
        </p:nvGrpSpPr>
        <p:grpSpPr>
          <a:xfrm>
            <a:off x="762000" y="2200275"/>
            <a:ext cx="10888296" cy="3581400"/>
            <a:chOff x="762000" y="2200275"/>
            <a:chExt cx="10888296" cy="3581400"/>
          </a:xfrm>
        </p:grpSpPr>
        <p:sp>
          <p:nvSpPr>
            <p:cNvPr id="7" name="Rectangle 7"/>
            <p:cNvSpPr/>
            <p:nvPr/>
          </p:nvSpPr>
          <p:spPr>
            <a:xfrm>
              <a:off x="762000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3549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调度任务注册表（P-2）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80135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scheduler_registry 清单化 + /health 全量暴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080135" y="3151188"/>
              <a:ext cx="326583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露（当前仅落地裸 threading.Timer 扫描门禁）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4374832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4" name="Rectangle 14"/>
            <p:cNvSpPr/>
            <p:nvPr/>
          </p:nvSpPr>
          <p:spPr>
            <a:xfrm>
              <a:off x="4374832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4576382" y="2633662"/>
              <a:ext cx="21069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依赖门禁分级（P-4）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584382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692968" y="2951162"/>
              <a:ext cx="31399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pip-audit 分级：有修复版本的高危阻断合入；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692968" y="3151188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无修复版本强制登记豁免理由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988618" y="22002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988618" y="22002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8190166" y="2633662"/>
              <a:ext cx="231965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本地环境标准化（R10）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8198168" y="30099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306752" y="2951162"/>
              <a:ext cx="334354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用 3.11.9+ 重建 .venv + make venv/test-local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8306752" y="3151188"/>
              <a:ext cx="23891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固化 PYTHONUTF8 与 IDE 注入清理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762000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963549" y="4500562"/>
              <a:ext cx="1292200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代码签名落地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971550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1080135" y="4818062"/>
              <a:ext cx="298976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采购证书后接入 CSC secrets，安装包/后端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1080135" y="5018088"/>
              <a:ext cx="15292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exe 全签名（W6-T1）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4374832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4374832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4576382" y="4500562"/>
              <a:ext cx="2720819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评审清单与 PR 模板（P-5）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4584382" y="48768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4692968" y="4818062"/>
              <a:ext cx="322847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新增线程/Timer、except-pass、文件写入、新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4692968" y="5018088"/>
              <a:ext cx="194077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依赖四类必答项并入 PR 模板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7988618" y="4067175"/>
              <a:ext cx="3441382" cy="1714500"/>
            </a:xfrm>
            <a:prstGeom prst="roundRect">
              <a:avLst>
                <a:gd name="adj" fmla="val 2222"/>
              </a:avLst>
            </a:prstGeom>
            <a:solidFill>
              <a:srgbClr val="FFFFFF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8" name="Rectangle 38"/>
            <p:cNvSpPr/>
            <p:nvPr/>
          </p:nvSpPr>
          <p:spPr>
            <a:xfrm>
              <a:off x="7988618" y="4067175"/>
              <a:ext cx="3441382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9" name="TextBox 39"/>
            <p:cNvSpPr txBox="1"/>
            <p:nvPr/>
          </p:nvSpPr>
          <p:spPr>
            <a:xfrm>
              <a:off x="8190166" y="4400550"/>
              <a:ext cx="1965053" cy="3089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580" b="1" dirty="0">
                  <a:solidFill>
                    <a:schemeClr val="accent1"/>
                  </a:solidFill>
                  <a:latin typeface="Arial"/>
                  <a:ea typeface="Microsoft YaHei"/>
                  <a:cs typeface="Arial"/>
                </a:rPr>
                <a:t>E2E 与视觉回归扩充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198168" y="4781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1" name="TextBox 41"/>
            <p:cNvSpPr txBox="1"/>
            <p:nvPr/>
          </p:nvSpPr>
          <p:spPr>
            <a:xfrm>
              <a:off x="8306752" y="4718050"/>
              <a:ext cx="298197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E2E 154+ 例稳定运行；像素级截图基线接入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306752" y="4918075"/>
              <a:ext cx="287429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nightly；UI v2.0 二期把硬编码色收敛到 ≤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306752" y="5118100"/>
              <a:ext cx="4562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Arial"/>
                  <a:ea typeface="Microsoft YaHei"/>
                  <a:cs typeface="Arial"/>
                </a:rPr>
                <a:t>200 处</a:t>
              </a:r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Arial"/>
                <a:ea typeface="Microsoft YaHei"/>
                <a:cs typeface="Arial"/>
              </a:rPr>
              <a:t>帮扶管理信息系统 v1.18.23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1E3A2C"/>
            </a:gs>
            <a:gs pos="55000">
              <a:schemeClr val="lt1"/>
            </a:gs>
            <a:gs pos="100000">
              <a:srgbClr val="132018"/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2"/>
          <p:cNvSpPr/>
          <p:nvPr/>
        </p:nvSpPr>
        <p:spPr>
          <a:xfrm>
            <a:off x="3714750" y="762000"/>
            <a:ext cx="4762500" cy="4762500"/>
          </a:xfrm>
          <a:prstGeom prst="ellipse">
            <a:avLst/>
          </a:prstGeom>
          <a:noFill/>
          <a:ln w="9525">
            <a:solidFill>
              <a:schemeClr val="accent2">
                <a:alpha val="10000"/>
              </a:schemeClr>
            </a:solidFill>
          </a:ln>
        </p:spPr>
        <p:txBody>
          <a:bodyPr/>
          <a:p/>
        </p:txBody>
      </p:sp>
      <p:sp>
        <p:nvSpPr>
          <p:cNvPr id="3" name="Ellipse 3"/>
          <p:cNvSpPr/>
          <p:nvPr/>
        </p:nvSpPr>
        <p:spPr>
          <a:xfrm>
            <a:off x="4476750" y="1524000"/>
            <a:ext cx="3238500" cy="3238500"/>
          </a:xfrm>
          <a:prstGeom prst="ellipse">
            <a:avLst/>
          </a:prstGeom>
          <a:noFill/>
          <a:ln w="9525">
            <a:solidFill>
              <a:schemeClr val="accent2">
                <a:alpha val="7000"/>
              </a:schemeClr>
            </a:solidFill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5619750" y="2171700"/>
            <a:ext cx="952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2561675" y="2590800"/>
            <a:ext cx="706864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3450" b="1" spc="1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数据可信 · 流程可控 · 成效可查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4814888" y="3314700"/>
            <a:ext cx="2562225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4350" b="1" spc="450" dirty="0">
                <a:solidFill>
                  <a:schemeClr val="accent2"/>
                </a:solidFill>
                <a:latin typeface="Arial"/>
                <a:ea typeface="Microsoft YaHei"/>
                <a:cs typeface="Arial"/>
              </a:rPr>
              <a:t>谢谢观看</a:t>
            </a:r>
          </a:p>
        </p:txBody>
      </p:sp>
      <p:sp>
        <p:nvSpPr>
          <p:cNvPr id="7" name="Rectangle 7"/>
          <p:cNvSpPr/>
          <p:nvPr/>
        </p:nvSpPr>
        <p:spPr>
          <a:xfrm>
            <a:off x="5334000" y="4248150"/>
            <a:ext cx="1524000" cy="19050"/>
          </a:xfrm>
          <a:prstGeom prst="rect">
            <a:avLst/>
          </a:prstGeom>
          <a:solidFill>
            <a:schemeClr val="accent2">
              <a:alpha val="55000"/>
            </a:schemeClr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2949697" y="47371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dirty="0">
                <a:solidFill>
                  <a:schemeClr val="accent6"/>
                </a:solidFill>
                <a:latin typeface="Arial"/>
                <a:ea typeface="Microsoft YaHei"/>
                <a:cs typeface="Arial"/>
              </a:rPr>
              <a:t>帮扶管理信息系统 v1.18.23 · 仓库：github.com/lzh745200/MRRS · 完整文档见 docs/ 目录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2935005" y="5130800"/>
            <a:ext cx="6321990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050" dirty="0">
                <a:solidFill>
                  <a:srgbClr val="8FA79A"/>
                </a:solidFill>
                <a:latin typeface="Arial"/>
                <a:ea typeface="Microsoft YaHei"/>
                <a:cs typeface="Arial"/>
              </a:rPr>
              <a:t>14,896 后端用例 + 7,384 前端用例全绿守护 · 三层对齐门禁 · 44 页视觉回归基线 · 双平台离线交付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018487" y="61595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980" dirty="0">
                <a:solidFill>
                  <a:srgbClr val="7E9488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intro-v2">
  <a:themeElements>
    <a:clrScheme name="mrrs-intro-v2">
      <a:dk1>
        <a:srgbClr val="1F2A24"/>
      </a:dk1>
      <a:lt1>
        <a:srgbClr val="1A2E24"/>
      </a:lt1>
      <a:dk2>
        <a:srgbClr val="1F497D"/>
      </a:dk2>
      <a:lt2>
        <a:srgbClr val="F7F5E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intro-v2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intro-v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56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2026-10-25T23:03:28Z</dcterms:created>
  <dcterms:modified xsi:type="dcterms:W3CDTF">2026-10-25T23:03:28Z</dcterms:modified>
  <cp:category/>
  <cp:contentStatus/>
</cp:coreProperties>
</file>