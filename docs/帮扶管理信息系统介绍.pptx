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用例数</c:v>
                </c:pt>
              </c:strCache>
            </c:strRef>
          </c:tx>
          <c:spPr>
            <a:solidFill>
              <a:srgbClr val="1F4A3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2E24"/>
                    </a:solidFill>
                    <a:latin typeface="微软雅黑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4A3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D6A4F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后端 pytest</c:v>
                  </c:pt>
                  <c:pt idx="1">
                    <c:v>前端 vitest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10142</c:v>
                </c:pt>
                <c:pt idx="1">
                  <c:v>5691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A2E24"/>
                  </a:solidFill>
                  <a:latin typeface="微软雅黑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F6F66"/>
                </a:solidFill>
                <a:latin typeface="微软雅黑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194560"/>
            <a:ext cx="5852160" cy="5852160"/>
          </a:xfrm>
          <a:prstGeom prst="ellipse">
            <a:avLst/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645920" y="4937760"/>
            <a:ext cx="4206240" cy="4206240"/>
          </a:xfrm>
          <a:prstGeom prst="ellipse">
            <a:avLst/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14400" y="1847088"/>
            <a:ext cx="237744" cy="23774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28016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军民融合 · 乡村振兴帮扶数字化平台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77824" y="2331720"/>
            <a:ext cx="10515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</a:t>
            </a:r>
            <a:endParaRPr lang="en-US" sz="5800" dirty="0"/>
          </a:p>
        </p:txBody>
      </p:sp>
      <p:sp>
        <p:nvSpPr>
          <p:cNvPr id="7" name="Text 5"/>
          <p:cNvSpPr/>
          <p:nvPr/>
        </p:nvSpPr>
        <p:spPr>
          <a:xfrm>
            <a:off x="914400" y="361188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Assistance Management Information System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4340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完全离线 · 数据本机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 · 军工级安全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5806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29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V1.11.2  |  2026-08-30  |  FastAPI + Vue 3 + Electron + SQLite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772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目录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932688" y="1645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5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CONTENTS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14400" y="233172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170432" y="247802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148840" y="24597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系统概述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2148840" y="2898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定位 · 使命 · 关键数字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09360" y="233172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565392" y="247802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43800" y="24597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技术架构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7543800" y="2898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 · 分层设计 · 离线优先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365760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170432" y="380390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148840" y="3785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功能模块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214884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七大业务域 · 71 个功能菜单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309360" y="365760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565392" y="380390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543800" y="3785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安全体系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754380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 · PII 加密 · 审计合规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14400" y="498348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170432" y="512978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2148840" y="5111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质量工程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2148840" y="5550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15833 项自动化测试 · CI/CD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309360" y="498348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565392" y="512978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7543800" y="5111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部署运行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7543800" y="5550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双平台安装包 · 备份升级 · 版本历程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系统概述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 OVERVIEW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为什么需要这套系统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系统的定位与形态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离线优先的产品决策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一眼看懂的关键数字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项目背景与使命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v1.11.8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48132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把驻村帮扶工作从“纸质台账 + Excel 报表”搬进可信的数字化轨道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457200" y="220370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31520" y="214884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驻村帮扶的现实约束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892040" y="214884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帮扶村镇多位于网络条件受限地区，互联网云服务不可依赖，数据必须留在本机、随人走、可备份、可交接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62102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356616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军民融合的协同需求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892040" y="356616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军队帮扶单位与地方协同：任务下达、经费监管、成效上报，全流程需要留痕可审计，满足军事审计红线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503834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" y="498348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数据资产的长期价值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892040" y="498348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 10 大板块年度数据、项目全生命周期、资金全流程——沉淀多年后就是帮扶成效最有说服力的证据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系统定位与核心价值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749808" y="2002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024128" y="18745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完全离线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68096" y="2404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装在电脑上就能用，不依赖任何外网服务；数据全部落在本机 SQLite，断网功能零损失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263640" y="1691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6556248" y="2002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830568" y="18745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574536" y="2404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单位内多台电脑通过加密数据包交换数据：全量包 + 增量包，支持版本管理与冲突解决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57200" y="3977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749808" y="4288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024128" y="41605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军工级安全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768096" y="4690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四角色权限、组织数据隔离、PII 字段透明加密、全程审计留痕，直面军事审计要求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263640" y="3977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556248" y="4288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830568" y="41605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开箱即用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574536" y="4690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/ DEB 安装包内置全部运行时，目标机器零依赖；内置备份恢复与出厂恢复通道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一眼看懂：系统规模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v1.11.8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19202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10,142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02920" y="27249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后端自动化测试用例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566160" y="19202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5,691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566160" y="27249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前端自动化测试用例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629400" y="19202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71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629400" y="27249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功能菜单键（三级菜单树）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92640" y="19202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9692640" y="272491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业务页面视图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611880"/>
            <a:ext cx="11274552" cy="0"/>
          </a:xfrm>
          <a:prstGeom prst="line">
            <a:avLst/>
          </a:prstGeom>
          <a:noFill/>
          <a:ln w="12700">
            <a:solidFill>
              <a:srgbClr val="D8E0DA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02920" y="39776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49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502920" y="47823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 API 路由模块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66160" y="39776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88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3566160" y="47823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后端服务（80 + 8 子包）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629400" y="39776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37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6629400" y="47823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数据库迁移版本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692640" y="39776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9692640" y="478231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用户角色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58064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数据来源：仓库实测（2026-08-30，v1.11.8）—— flake8 0 错误 · bandit 0 中高危 · vue-tsc 0 错误 · eslint 0 警告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技术架构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TECHNICAL ARCHITECTURE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技术栈选型与理由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四层架构设计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 / 后端工程结构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离线优先的实现路径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技术栈全景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85800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桌面壳层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x64 NSIS 安装包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 V10 ARM64 DEB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托盘 / 自启 / 锁屏 / 快捷键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后端进程托管与健康检查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64992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593592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93592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+ TypeScript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93592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Element Plus + Pinia + Vue Router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SCSS 设计令牌（4 套可切换主题）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 个视图 · 25 个共享组件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Axios 统一信封 + CSRF + 离线 Mock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72784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501384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01384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FastAPI (Python 3.11)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501384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49 个路由模块 + 5 个子包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80 个服务 + 8 个子包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SQLAlchemy 2.x + Alembic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+ 黑名单 + 限流 + 审计中间件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80576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409176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409176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409176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单文件数据库，随备份带走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WAL 并发 + 外键强制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EncryptedText 列透明加密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37 个 Alembic 迁移版本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四层架构：进程间协作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280160" y="1627632"/>
            <a:ext cx="8778240" cy="969264"/>
          </a:xfrm>
          <a:prstGeom prst="roundRect">
            <a:avLst>
              <a:gd name="adj" fmla="val 5660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600200" y="173736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主进程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600200" y="215798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窗口/托盘 · 后端 exe 托管 · DATABASE_URL 注入 · 导航白名单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989320" y="259689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1280160" y="2816352"/>
            <a:ext cx="9509760" cy="969264"/>
          </a:xfrm>
          <a:prstGeom prst="roundRect">
            <a:avLst>
              <a:gd name="adj" fmla="val 5660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600200" y="292608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前端（渲染进程）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600200" y="3346704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 视图 · Pinia · Axios 信封拦截器 · CSRF 续期 · 离线 Mock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989320" y="378561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280160" y="4005072"/>
            <a:ext cx="9509760" cy="969264"/>
          </a:xfrm>
          <a:prstGeom prst="roundRect">
            <a:avLst>
              <a:gd name="adj" fmla="val 5660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600200" y="411480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FastAPI 应用层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600200" y="4535424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49 路由 · 数据范围过滤 · 限流 · 审计中间件 · 统一信封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989320" y="497433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1280160" y="5193792"/>
            <a:ext cx="8778240" cy="969264"/>
          </a:xfrm>
          <a:prstGeom prst="roundRect">
            <a:avLst>
              <a:gd name="adj" fmla="val 5660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600200" y="530352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 数据层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600200" y="572414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WAL · 37 迁移 · EncryptedText 加密列 · 备份/恢复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035040" y="6309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HTTP 127.0.0.1（同机回环，Token 黑名单 + CSRF 双重校验）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前端工程：规范即生产力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规模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 个业务视图（34 个功能目录）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 个共享组件（PageHeader / EmptyState / BaseChart 等标准件）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 个 Pinia store + 30+ 组合式函数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292 个测试文件 · 5,691 个用例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覆盖率门禁 + lint --max-warnings=0 + vue-tsc 三重 CI 门禁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设计系统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tokens.scss 设计令牌：色彩 / 字号 / 间距 / 阴影单一来源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套可切换主题（默认军绿 / 浅色 / 深色 / 户外），运行时热切换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vite additionalData 注入 SCSS 变量，杜绝硬编码色值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统一信封拦截器：data 自动展开 + CSRF 自动续期 + 401/403 分类处理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pushSafe 导航、分页重置、blob 下载等 7 项防错规约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后端工程：一个请求的旅程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21792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审计中间件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02920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记录 谁·何时·做什么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761488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926080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认证与限流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807208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校验 · Token 黑名单 · 滑动窗口限流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65776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230368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数据范围过滤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111496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按角色 + 组织自动限定可见数据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70064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534656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业务服务层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415784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80 个服务：资金 / 项目 / 数据包 / 审批…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674352" y="1828800"/>
            <a:ext cx="2395728" cy="914400"/>
          </a:xfrm>
          <a:prstGeom prst="chevron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838944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统一信封响应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9720072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success_response / ok_list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977640"/>
            <a:ext cx="11274552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49808" y="42062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工程纪律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49808" y="461772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事务工具箱：with_transaction / 嵌套事务 / 死锁重试 / 批量操作（1000 条/批）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错误细节不出站：detail 一律泛化文案 + 日志 exc_info（源码扫描测试强制拦截）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响应格式统一：全部列表端点走 ok_list 信封（本轮收敛 51 处裸 dict）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flake8 --count=0 与 bandit 中高危=0 是硬门禁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数据层：57 个模型的安全基座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39496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模型与迁移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57 个模型文件 / 120+ 模型类：村、项目、资金、学校、政策、组织、审计…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TimestampMixin：created_at / updated_at / sync_version 自动维护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SoftDeleteMixin：is_active 软删 + deleted_by 审计列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37 个 Alembic 迁移：含 PII 存量回填（幂等可重跑）与外键守护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Schema 权威来源 = models/ + Alembic（init.sql 已删除）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57784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64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完整性守护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64808" y="2331720"/>
            <a:ext cx="50292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组织删除级联守卫：名下有项目/用户时拒绝硬删（ADR-0003）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projects 组织外键 CASCADE→SET NULL，截断级联删除链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列 EncryptedText：写入自动加密、读取自动解密（ADR-0005）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sync_version 增量水位：ORM 事件自动递增，支撑增量数据包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删库守卫：库完整性校验失败默认拒绝启动（ALLOW_DB_RESET 显式解锁）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离线优先：数据如何“随人走”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39496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单机模式（默认）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49808" y="228600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数据全部在本机 %APPDATA% 数据库文件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智能备份中心：自动/即时/磁盘检测/备份到 U 盘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断网零功能损失（AI 增强除外，可关闭）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57784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64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多机协同模式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6464808" y="228600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加密数据包（口令 + PBKDF2）在机器间摆渡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包内 manifest 记录 org/类型/记录数/校验和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跨机同步需配置相同 ENCRYPTION_KEY（密文可解）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本机 SQLite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231136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2523744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2523744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导出数据包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114800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4407408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407408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 .zip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98464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6291072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291072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介质摆渡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882128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8174736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174736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对端导入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765792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10058400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10058400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确认落库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7200" y="5623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全流程留痕：导入/导出/确认各环节写入工作日志与操作历史，包完整性校验失败即中止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功能模块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FUNCTIONAL MODULES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七大业务域 · 71 个功能菜单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业务：村/项目/资金/学校/政策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协同：数据包 · 审批 · 消息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分析：看板 · 报表 · 大屏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功能地图：七大业务域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13232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帮扶业务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13232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 10 大板块 · 项目全生命周期 · 资金 8 阶段 · 学校助学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3232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villages / projects / funds / schools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70832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626864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政策与审批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26864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政策库 FTS5 全文检索 · 审批工作流 · 我的申请 · 审批历史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26864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policies / approval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284464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540496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数据协同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540496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数据包全量/增量导出导入 · 版本管理 · 冲突解决 · 接收包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0496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dataPackage / dataSync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13232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数据分析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713232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 · 年度对比 · 成效评估 · 报表导出 · 帮扶大屏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13232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analytics / bigscreen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370832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626864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驻村工作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4626864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工作台账 · 驻村任务 · 工作日历 · 考核评估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626864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ruralWorks / work-calendar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284464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540496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8540496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用户/角色/菜单/组织 · 权限包 · 审计 · 备份 · 更新日志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540496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 / admin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+ 消息中心 · 待办中心 · 提醒中心 · 全局搜索 · 回收站 —— 贯穿各业务域的横向能力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工作台：打开系统的第一屏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个人工作台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KPI 卡片真实环比：本年资金 / 项目 / 村 / 学校，方向箭头动态化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待办聚合：待审批 / 待办任务 / 未读消息一键直达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快捷操作自定义布局（QuickActions 拖拽）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图表年度趋势：资金 / 项目双轴联动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工作台可按角色裁剪：viewer 只见只读面板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年度对比：任选两年，村/项目/资金多维并排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帮扶成效评估：村庄打分、排名、历年对比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ECharts 统一主题（军绿科技风），全站图表一致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帮扶大屏：深色全屏模式，适用于展示/汇报场景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图表空态统一：无数据不出现“白板图”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帮扶村：一村一档，一年一账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基本情况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364992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364992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人口变动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72784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72784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收入结构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180576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180576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产业帮扶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57200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基础设施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3364992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3364992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组织建设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72784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272784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帮扶成效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9180576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9180576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7200" y="4434840"/>
            <a:ext cx="11247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按年度记录全村数据，跨年对比自动生成（人口/收入/资金投入趋势）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村档案变更历史：字段级 old → new 记录，谁改的、何时改、改了什么全程可溯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村委会成员、脱贫跟踪、荣誉展示；软删除进回收站，管理员可恢复或彻底删除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导出：整村档案导出（脱敏可选），支撑向上汇报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项目管理：从立项到验收的全生命周期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4864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立项申请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368296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459736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审批通过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279392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370832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执行跟踪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90488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281928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里程碑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101584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193024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竣工验收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012680" y="1783080"/>
            <a:ext cx="2011680" cy="822960"/>
          </a:xfrm>
          <a:prstGeom prst="chevron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010412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归档沉淀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3063240"/>
            <a:ext cx="112471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项目档案：负责单位（组织隔离）、帮扶村关联、预算/实际花费、进度百分比、优先级、负责人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里程碑管理：阶段节点 + 甘特图（自研轻量 gantt，ADR-0012），进度照片墙留证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任务分解：项目任务看板，执行人/截止日/完成状态；变更历史全程留痕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软删除 + 回收站：误删可恢复；删除前级联检查，防误伤资金数据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数据范围：普通用户仅见本人录入，管理员见本组织及下级，超级管理员全局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资金管理：一笔钱的八个阶段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41248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41248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12648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申请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1536192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2290572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290572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061972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2985516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3739896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3739896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511296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拨付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434840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5189220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189220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960620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使用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884164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6638544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38544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409944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报销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7333488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8087868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087868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7859268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核销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8782812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9537192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9537192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308592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决算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10232136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10986516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10986516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0757916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457200" y="324612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749808" y="3456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资金台账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749808" y="3886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资金来源 / 金额 / 阶段状态 / 凭证附件全要素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编号 ZJ 自动生成；预算三级预警 80/90/100%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年度对比与资金分析图表（走势/结构/单位排名）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263640" y="324612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6556248" y="3456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监管闭环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6556248" y="3886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合同 → 支付凭证 → 划转凭证 全链条挂接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异常监控：超支 / 偏差 / 闲置 / 重复支付 / 缺凭证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普通用户全流程可操作（申请/审批/拨付/结算），审批留痕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学校帮扶 · 政策法规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帮扶学校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学校档案：校长/联系电话（加密列）/地区层级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受助学生与助学名单：助学金发放记录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奖学金台账：发放批次 / 金额 / 对象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学校帮扶项目挂接与附件（图片/文档预览）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删除关联预警与软删除回收站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政策法规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政策库：分类 / 层级 / 发布年份多维筛选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FTS5 全文检索：命中片段高亮 + XSS 消毒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文件在线预览（PDF/图片），收藏与阅读痕迹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全角色公开模块：普通用户与管理员可见性一致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政策执行情况跟踪与关联业务引用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审批中心：流转可视，留痕完整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85216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提交申请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761488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889504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待审批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93792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审批中（可转审）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370064" y="1783080"/>
            <a:ext cx="2395728" cy="868680"/>
          </a:xfrm>
          <a:prstGeom prst="chevron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0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通过 / 驳回（必填原因）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674352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802368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归档历史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申请人视角：我的申请全状态跟踪；审批人视角：待办池 + 全部任务（/approval/tasks/all）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驳回必填原因（前后端双向校验）；转审批将任务移交其他管理员，链条完整记录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审批概览：通过率 / 平均时长 / 按类型分布，管理视角一眼看清瓶颈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与经费申请深度联动：审批通过自动推进资金阶段状态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全部审批动作写工作日志 + 操作历史，支持审计追溯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数据包协同：增量更新 + 版本管理（v1.11 新功能）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27632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增量更新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267712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检测变更：对比基准包时间戳，输出新增/修改/软删统计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导出增量包：仅打包变更记录，包型 update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导入预览：先看“将新增几条、覆盖几条”，再决定是否应用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应用导入：管理员 + 覆盖式 upsert，保留原始 ID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627632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版本管理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267712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为数据包创建版本快照（变更集记录）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两版本对比：新增 / 修改 / 移除 按类型列出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版本详情按数据类型分页查看记录 ID 集合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组织访问校验 + 审计日志（本轮补齐）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572000"/>
            <a:ext cx="11274552" cy="1554480"/>
          </a:xfrm>
          <a:prstGeom prst="roundRect">
            <a:avLst>
              <a:gd name="adj" fmla="val 4118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" y="47365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工程细节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49808" y="50749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manifest.json 清单（包型/组织/记录数/校验和/增量基准）+ data/{type}.json 明细；导入走 SAVEPOINT 事务 + 独占写锁（防 SQLITE_BUSY）；批量 upsert 保留原始主键，杜绝外键孤儿；三个端点 12 项接口测试锁定契约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数据分析与报表：让数据开口说话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13232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713232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任选两年多维对比；村庄人口/收入趋势、资金投入走势、项目完成率一览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70832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626864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成效评估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4626864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村庄年度评分 + 排名 + 历年对比；评估结果回流帮扶决策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84464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540496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报表导出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540496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Word / PDF 真实渲染（python-docx / reportlab 内置中文字体），按年度真实聚合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13232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帮扶大屏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713232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深色全屏大屏：核心指标 + 图表轮播，适配汇报展示场景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370832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626864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地图可视化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4626864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贵州 88 县区区域数据，帮扶分布上图；离线地图瓦片管理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284464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8540496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工作分析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8540496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驻村工作量统计（按人/按单位/按月），支撑考核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系统管理：管理员的全套工具箱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用户与组织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用户增删改、组织树管理、组织删除级联守卫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3796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角色与菜单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四角色体系；菜单可见性按角色 + 用户级 + 权限包三级裁剪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3152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权限包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菜单权限套餐化管理：给一批用户一键授权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6364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53796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审计中心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操作日志 / 登录尝试 / 安全事件 / API 访问，支持导出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3152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备份中心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智能备份、加密备份、上传恢复（流式防 OOM）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6364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53796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系统运维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更新日志、配置包、机器码/通行码、密钥管理、数据分层归档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安全体系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SECURITY &amp; COMPLIANCE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四角色权限模型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组织数据隔离（fail-closed）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字段透明加密（ADR-0005）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审计合规与供应链完整性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23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四角色权限模型：简单即安全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85800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85800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super_admin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85800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超级管理员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85800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全局数据 · 组织管理 · 系统配置 · 用户与角色管理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364992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3593592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593592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admin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593592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593592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本组织及下级数据 · 业务管理 · 数据包收发 · 备份恢复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272784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501384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501384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user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501384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01384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本人录入数据 · 业务全流程操作（申请/审批/录入/上报）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9180576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9409176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9409176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viewer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9409176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查看者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09176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授权范围只读 · 无任何写操作（后端强制 403）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7200" y="5029200"/>
            <a:ext cx="11247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历史角色自动归一化：approval_leader / manager → admin，operator → user（前后端同源映射）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菜单可见性三级裁剪：角色默认 → 权限包 → 用户级配置；公开模块（政策/数据分析）全角色一致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写操作后端二次校验：viewer 写入一律 403，前端隐藏按钮只是体验层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数据隔离：fail-closed 哲学（ADR-0002）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ALL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2377440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超级管理员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不过滤，全局可见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370832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645152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OWN_DEPT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291072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45152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本组织 + 下级组织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284464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558784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OWN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0204704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558784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仅本人录入（created_by）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57200" y="3429000"/>
            <a:ext cx="11274552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49808" y="363931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三条 fail-closed 铁律（回归测试锁定）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49808" y="40690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无组织用户绝不升级为管理员：旧实现“无组织 → is_admin=True”已根除，一律回退“仅本人”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模型缺过滤列 = 拒绝而非放行：缺组织列降级“仅本人”；连 owner 列都缺则返回空集（绝不返回全量）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组织删除级联守卫（ADR-0003）：名下有项目/用户时拒绝硬删并提示计数；外键 CASCADE→SET NULL 截断级联链</a:t>
            </a:r>
            <a:endParaRPr lang="en-US" sz="13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字段透明加密（ADR-0005）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470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读写全透明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68680" y="2331720"/>
            <a:ext cx="1737360" cy="502920"/>
          </a:xfrm>
          <a:prstGeom prst="roundRect">
            <a:avLst>
              <a:gd name="adj" fmla="val 9091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68680" y="23317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ORM 写入 · 明文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651760" y="2578608"/>
            <a:ext cx="27432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68680" y="2990088"/>
            <a:ext cx="1737360" cy="502920"/>
          </a:xfrm>
          <a:prstGeom prst="roundRect">
            <a:avLst>
              <a:gd name="adj" fmla="val 9091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68680" y="299008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EncryptedText · AES-SIV 加密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2651760" y="3236976"/>
            <a:ext cx="27432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68680" y="3648456"/>
            <a:ext cx="1737360" cy="502920"/>
          </a:xfrm>
          <a:prstGeom prst="roundRect">
            <a:avLst>
              <a:gd name="adj" fmla="val 9091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68680" y="3648456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 · enc.v1: 密文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246120" y="2331720"/>
            <a:ext cx="3063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 9 列：身份证号 / 电话类（含 users.phone）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密钥：ENCRYPTION_KEY 派生（多机同配）或运行时密钥库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63640" y="1645920"/>
            <a:ext cx="54864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556248" y="18470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确定性加密 = 查询零改写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56248" y="233172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AES-SIV（RFC 5297）：同明文恒同密文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WHERE phone = :明文 绑定参数加密后直接命中密文——既有等值查询一行不改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DB 文件直接打开看不到任何明文 PII（测试实证）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历史明文行原样透出：迁移前数据不报错、不二次加密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57200" y="4709160"/>
            <a:ext cx="11274552" cy="1417320"/>
          </a:xfrm>
          <a:prstGeom prst="roundRect">
            <a:avLst>
              <a:gd name="adj" fmla="val 4516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49808" y="48646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纵深防御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49808" y="5193792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SQLCipher fail-closed：启用加密时先探测驱动，普通 sqlite3 会静默忽略 PRAGMA key 造成“假加密”——探测不到直接拒绝启动；PRAGMA key 为连接首条语句字面量。前端 DataMaskingService 在解密后的明文上按权限掩码展示。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审计合规：每一步都留痕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64792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13232" y="17099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双写审计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13232" y="2093976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AuditLogger 同时写文件日志与数据库（audit_logs / login_attempts / api_access_logs），断电不丢证据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764792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19672" y="17099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全程留痕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19672" y="2093976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所有写操作强制 write_work_log；导入导出/确认各环节写操作历史；字段级变更历史 old→new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13232" y="3191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错误不泄密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13232" y="35753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api/v1 响应禁止内插异常对象——源码扫描测试强制拦截，detail 一律泛化文案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246120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519672" y="3191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限流防线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19672" y="35753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登录 5/分 · 注册 3/分 · 刷新 10/分 · CSRF 30/分（滑动窗口，签名 fail-closed）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727448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13232" y="46725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破窗恢复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13232" y="5056632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ADR-0008：出厂管理员密码恢复仅限本机 + 未激活账号 + 全程审计，唯一例外通道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727448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519672" y="46725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令牌治理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19672" y="5056632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携带 jti + Token 黑名单持久化；登出/改密立即失效；token_version 版本化吊销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供应链完整性：从源码到安装包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85216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源码仓库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61488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889504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 构建（Actions pin SHA）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93792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依赖钉扎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70064" y="1783080"/>
            <a:ext cx="2395728" cy="868680"/>
          </a:xfrm>
          <a:prstGeom prst="chevron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0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安装包 + SHA256SUMS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674352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802368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离线分发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VC++ 运行库 37.7MB 移出 git：CI 从微软官方直链下载 + SHA256 钉扎；安装期 NSIS 钩子二次校验（三态语义：匹配安装 / 篡改中止 / 工具缺失跳过）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Release 附三个产物族独立 SHA256SUMS 清单；前端产物同步由字节粗校验升级为逐文件哈希比对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GitHub Actions 全量 pin 到 commit SHA（57 处 uses），消除 tag 漂移的供应链风险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代码签名管线就绪：配置证书后自动签名后端 exe 与安装包/卸载器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钩子路径转义根修（v1.11.1）：C 风格转义损坏路径曾致真机安装全部中止</a:t>
            </a:r>
            <a:endParaRPr lang="en-US" sz="13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质量工程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QUALITY ENGINEERING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15,833 项自动化测试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三重前端门禁 + 双重后端门禁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 流水线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双平台安装包自动构建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29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测试体系：数字不会说谎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v1.11.8</a:t>
            </a:r>
            <a:endParaRPr lang="en-US" sz="10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783080"/>
          <a:ext cx="60350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640080" y="57150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数据来源：v1.11.8 全量本地实测（2026-08-30）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949440" y="1783080"/>
            <a:ext cx="4800600" cy="384048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42048" y="2011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测试纪律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后端覆盖率门禁 100%（可覆盖集口径，CI 硬阈值）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新增接口/页面必须配套测试（协作约定强制）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安全回归：限流签名 / loopback 门禁 / 错误不泄露 / PII 加密 / 组织守卫 均有专项锁定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深度探测循环：9 轮 252 项真实 HTTP 断言 + 150 项浏览器 E2E 入 CI 门禁，修复 9 个缺陷全部带回归锁定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前后端契约核对：334 个前端调用 0 断裂；已知 flaky 用例公开记录，不允许静默重试掩盖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242048" y="2450592"/>
            <a:ext cx="42976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后端覆盖率门禁 98%（CI 硬阈值）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新增接口/页面必须配套测试（协作约定强制）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安全回归：限流签名 / loopback 门禁 / 错误不泄露 / PII 加密 / 组织守卫 均有专项锁定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 个 skip 滥用：仅 13 个平台专属跳过（Win/Linux 差异）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已知 flaky 用例公开记录，不允许静默重试掩盖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CI/CD：从提交到安装包全自动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7373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 Checks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383280" y="181051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六 job：后端/前端/lint/安全/静态分析 + E2E 浏览器套件 150 用例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283464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Nightly Full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383280" y="290779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每日全量：三 job（后端/前端/质量报告）+ JUnit/HTML 报告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93192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393192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Tag → 安装包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383280" y="400507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 tag 自动构建：Windows NSIS + 麒麟 ARM64 双 DEB + SHA256SUMS → Release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502920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0080" y="502920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质量门禁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3383280" y="510235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pre-commit（ruff/空白/YAML）+ pre-push（flake8/bandit/vue-tsc）两阶段拦截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构建产物：Setup-x64.exe（Windows）· Electron DEB + standalone DEB（麒麟 ARM64，buildx+QEMU 交叉构建，layer 缓存加速）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发布工程：目标机器零依赖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x64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PyInstaller onedir（ADR-0006）：冷启动 32.3s → 8.6s（3.8 倍）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electron-builder NSIS：静默安装 VC++ 运行库（哈希校验）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内置 Python 运行时 + 全部 pip 依赖 + 前端静态资源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安装/卸载/升级全程保留用户数据；卸载静默默认保留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SHA256SUMS 随 Release 附带，分发前可校验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 V10 ARM64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Docker buildx + QEMU 交叉构建（x86 CI 出 ARM64 产物）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最低 GLIBC（Buster）构建，保证向前兼容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双形态：Electron 桌面版 / standalone 纯 Web 版（systemd 服务）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CRLF 回归门禁：DEB 内脚本 \r 即构建失败（历史事故防线）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postinst 自动 chmod + 桌面数据库刷新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部署运行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DEPLOYMENT &amp; OPERATION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三种部署形态对比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备份恢复与离线升级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版本历程 1.10 → 1.11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后续演进方向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33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三种部署形态：按环境选型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单机版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31520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安装包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31520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Win10/11 x64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双击安装零依赖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托盘/开机自启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223 MB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370832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645152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麒麟桌面版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645152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645152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DEB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645152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银河麒麟 V10 ARM64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桌面双击运行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党政机适配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132 MB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645152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284464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558784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麒麟服务版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8558784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558784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Standalone DEB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558784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纯 Web 无桌面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systemd 托管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浏览器访问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55 MB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558784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全部形态离线可用；安装包内含 VC++ 运行库（Windows）与 Python 运行时，目标机器无需预装任何环境</a:t>
            </a:r>
            <a:endParaRPr lang="en-US" sz="12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备份恢复与离线升级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备份与恢复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备份包必含数据库本体，缺失即抛错（fail-loud）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列表标注 is_encrypted / database_included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上传恢复：8MB 分块流式落盘防 OOM，10GB 防御上限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加密备份口令（PBKDF2+Fernet）；全部拒绝路径清理临时文件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路径单一来源：以会话引擎/DATABASE_URL 为准（历史错源事故根治）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离线升级（ADR 指南）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升级四步：备份 → SHA256/签名校验 → 覆盖安装 → Alembic 迁移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失败回滚路径文档化；用户数据与安装目录分离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出厂恢复通道（ADR-0008）：仅本机 + 仅未激活管理员 + 全程审计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删库守卫：完整性失败默认 SystemExit 保留现场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机器码三级回退：Windows 重装也能通过通行码恢复授权</a:t>
            </a:r>
            <a:endParaRPr lang="en-US" sz="13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版本历程：三个月的密集演进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005840" y="2834640"/>
            <a:ext cx="10149840" cy="0"/>
          </a:xfrm>
          <a:prstGeom prst="line">
            <a:avLst/>
          </a:prstGeom>
          <a:noFill/>
          <a:ln w="25400">
            <a:solidFill>
              <a:srgbClr val="D8E0DA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84124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0292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v1.10.0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08-24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0040" y="3566160"/>
            <a:ext cx="1965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全板块完善：假成功防线、经费流程、政策 FTS5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08152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74320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v1.10.6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74320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08-29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60320" y="3566160"/>
            <a:ext cx="1965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死代码清理：净删 500+ 文件/5.5 万行，31 依赖精简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32180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98348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v1.11.0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98348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08-30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00600" y="3566160"/>
            <a:ext cx="1965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体检修复：PII 加密 / fail-closed / 数据包补全 / 供应链加固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56208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722376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v1.11.1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22376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08-30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040880" y="3566160"/>
            <a:ext cx="1965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安装器真机修复：NSIS 路径转义根修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802368" y="2706624"/>
            <a:ext cx="274320" cy="274320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946404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v1.11.8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6404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08-30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281160" y="3566160"/>
            <a:ext cx="1965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403 六类根因修复 + 弹窗裁切修复 + 5 个 500 端点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" y="5440680"/>
            <a:ext cx="11274552" cy="914400"/>
          </a:xfrm>
          <a:prstGeom prst="roundRect">
            <a:avLst>
              <a:gd name="adj" fmla="val 7000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749808" y="544068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净效果：5.5 万行死代码出清后，系统以更小的体积承载了更多功能——10142 + 5691 项测试全绿，双平台安装包全自动构建</a:t>
            </a:r>
            <a:endParaRPr lang="en-US" sz="13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后续演进：已立项的工单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UI 精美化批量清扫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W11-T45：58 个页头标准化、图表引擎统一（chart.js→echarts）、仪表盘配色令牌化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3796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数据同步管道重做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W2-T7：data_sync 裸 SQL → ORM 写入（修复 sync_version 增量语义 + 审计）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3152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代码签名落地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W6-T1：采购证书后接入 CSC secrets，安装包/后端 exe 全签名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53796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审计保留策略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W5-008：审计四表生命周期 + 请求级双写去重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3152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E2E 链路修复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W4-004：Docker E2E 三处断裂修复 + 5 条关键路径 Playwright 用例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53796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弱断言清理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W4-003：30 个接受 HTTP 500 的断言收紧为精确状态码</a:t>
            </a:r>
            <a:endParaRPr lang="en-US" sz="11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5486400" cy="5486400"/>
          </a:xfrm>
          <a:prstGeom prst="ellipse">
            <a:avLst/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14400" y="2286000"/>
            <a:ext cx="237744" cy="23774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280160" y="2176272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4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数据可信 · 流程可控 · 成效可查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77824" y="274320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谢谢观看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914400" y="41605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v1.11.8  ·  仓库：github.com/lzh745200/MRRS  ·  完整文档见 docs/ 目录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14400" y="46177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FA29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10,692 后端用例 + 5,691 前端用例 全绿守护 · Windows / 麒麟双平台离线交付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帮扶管理信息系统 — 系统介绍</dc:title>
  <dc:subject>PptxGenJS Presentation</dc:subject>
  <dc:creator>帮扶管理信息系统</dc:creator>
  <cp:lastModifiedBy>帮扶管理信息系统</cp:lastModifiedBy>
  <cp:revision>1</cp:revision>
  <dcterms:created xsi:type="dcterms:W3CDTF">2026-08-30T23:21:06Z</dcterms:created>
  <dcterms:modified xsi:type="dcterms:W3CDTF">2026-08-30T23:21:06Z</dcterms:modified>
</cp:coreProperties>
</file>