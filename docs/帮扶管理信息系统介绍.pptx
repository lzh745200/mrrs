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charts/chart1.xml" ContentType="application/vnd.openxmlformats-officedocument.drawingml.chart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</p:sldIdLst>
  <p:notesMasterIdLst>
    <p:notesMasterId r:id="rId5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notesMaster" Target="notesMasters/notesMaster1.xml"/><Relationship Id="rId57" Type="http://schemas.openxmlformats.org/officeDocument/2006/relationships/presProps" Target="presProps.xml"/><Relationship Id="rId58" Type="http://schemas.openxmlformats.org/officeDocument/2006/relationships/viewProps" Target="viewProps.xml"/><Relationship Id="rId59" Type="http://schemas.openxmlformats.org/officeDocument/2006/relationships/theme" Target="theme/theme1.xml"/><Relationship Id="rId60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用例数</c:v>
                </c:pt>
              </c:strCache>
            </c:strRef>
          </c:tx>
          <c:spPr>
            <a:solidFill>
              <a:srgbClr val="1F4A38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1A2E24"/>
                    </a:solidFill>
                    <a:latin typeface="微软雅黑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1F4A38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D6A4F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后端 pytest</c:v>
                  </c:pt>
                  <c:pt idx="1">
                    <c:v>前端 vitest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13942</c:v>
                </c:pt>
                <c:pt idx="1">
                  <c:v>6867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400" u="none">
                  <a:solidFill>
                    <a:srgbClr val="1A2E24"/>
                  </a:solidFill>
                  <a:latin typeface="微软雅黑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5F6F66"/>
                </a:solidFill>
                <a:latin typeface="微软雅黑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9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2194560"/>
            <a:ext cx="5852160" cy="5852160"/>
          </a:xfrm>
          <a:prstGeom prst="ellipse">
            <a:avLst/>
          </a:prstGeom>
          <a:solidFill>
            <a:srgbClr val="1C362A"/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937760"/>
            <a:ext cx="4206240" cy="4206240"/>
          </a:xfrm>
          <a:prstGeom prst="ellipse">
            <a:avLst/>
          </a:prstGeom>
          <a:solidFill>
            <a:srgbClr val="1C362A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1847088"/>
            <a:ext cx="237744" cy="237744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5" name="Text 3"/>
          <p:cNvSpPr/>
          <p:nvPr/>
        </p:nvSpPr>
        <p:spPr>
          <a:xfrm>
            <a:off x="1280160" y="1737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spc="400" kern="0" dirty="0">
                <a:solidFill>
                  <a:srgbClr val="C9A22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军民融合 · 乡村振兴帮扶数字化平台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77824" y="2331720"/>
            <a:ext cx="10515600" cy="126437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帮扶管理信息系统</a:t>
            </a:r>
            <a:endParaRPr lang="en-US" sz="5800" dirty="0"/>
          </a:p>
        </p:txBody>
      </p:sp>
      <p:sp>
        <p:nvSpPr>
          <p:cNvPr id="7" name="Text 5"/>
          <p:cNvSpPr/>
          <p:nvPr/>
        </p:nvSpPr>
        <p:spPr>
          <a:xfrm>
            <a:off x="914400" y="3611880"/>
            <a:ext cx="9144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i="1" dirty="0">
                <a:solidFill>
                  <a:srgbClr val="D7E2D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Assistance Management Information System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4343400"/>
            <a:ext cx="5486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D7E2D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完全离线 · 数据本机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D7E2D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多机协同 · 军工级安全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14400" y="58064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8FA29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V1.17.3  |  2026-10-24  |  FastAPI + Vue 3 + Electron + SQLite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429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777240"/>
            <a:ext cx="4572000" cy="83468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目录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932688" y="16459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spc="500" kern="0" dirty="0">
                <a:solidFill>
                  <a:srgbClr val="C9A22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CONTENTS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914400" y="2331720"/>
            <a:ext cx="5029200" cy="1051560"/>
          </a:xfrm>
          <a:prstGeom prst="roundRect">
            <a:avLst>
              <a:gd name="adj" fmla="val 6087"/>
            </a:avLst>
          </a:prstGeom>
          <a:solidFill>
            <a:srgbClr val="1C362A"/>
          </a:solidFill>
          <a:ln/>
        </p:spPr>
      </p:sp>
      <p:sp>
        <p:nvSpPr>
          <p:cNvPr id="5" name="Text 3"/>
          <p:cNvSpPr/>
          <p:nvPr/>
        </p:nvSpPr>
        <p:spPr>
          <a:xfrm>
            <a:off x="1170432" y="2478024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C9A22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2148840" y="2459736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系统概述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2148840" y="289864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9DB0A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定位 · 使命 · 关键数字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309360" y="2331720"/>
            <a:ext cx="5029200" cy="1051560"/>
          </a:xfrm>
          <a:prstGeom prst="roundRect">
            <a:avLst>
              <a:gd name="adj" fmla="val 6087"/>
            </a:avLst>
          </a:prstGeom>
          <a:solidFill>
            <a:srgbClr val="1C362A"/>
          </a:solidFill>
          <a:ln/>
        </p:spPr>
      </p:sp>
      <p:sp>
        <p:nvSpPr>
          <p:cNvPr id="9" name="Text 7"/>
          <p:cNvSpPr/>
          <p:nvPr/>
        </p:nvSpPr>
        <p:spPr>
          <a:xfrm>
            <a:off x="6565392" y="2478024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C9A22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7543800" y="2459736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技术架构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7543800" y="289864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9DB0A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技术栈 · UI v2.0 · R35 精细化 · 分层设计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914400" y="3657600"/>
            <a:ext cx="5029200" cy="1051560"/>
          </a:xfrm>
          <a:prstGeom prst="roundRect">
            <a:avLst>
              <a:gd name="adj" fmla="val 6087"/>
            </a:avLst>
          </a:prstGeom>
          <a:solidFill>
            <a:srgbClr val="1C362A"/>
          </a:solidFill>
          <a:ln/>
        </p:spPr>
      </p:sp>
      <p:sp>
        <p:nvSpPr>
          <p:cNvPr id="13" name="Text 11"/>
          <p:cNvSpPr/>
          <p:nvPr/>
        </p:nvSpPr>
        <p:spPr>
          <a:xfrm>
            <a:off x="1170432" y="3803904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C9A22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2148840" y="3785616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功能模块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2148840" y="422452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9DB0A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六大板块 · 一户一档入口迁移 · 影像库/消费帮扶/OCR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309360" y="3657600"/>
            <a:ext cx="5029200" cy="1051560"/>
          </a:xfrm>
          <a:prstGeom prst="roundRect">
            <a:avLst>
              <a:gd name="adj" fmla="val 6087"/>
            </a:avLst>
          </a:prstGeom>
          <a:solidFill>
            <a:srgbClr val="1C362A"/>
          </a:solidFill>
          <a:ln/>
        </p:spPr>
      </p:sp>
      <p:sp>
        <p:nvSpPr>
          <p:cNvPr id="17" name="Text 15"/>
          <p:cNvSpPr/>
          <p:nvPr/>
        </p:nvSpPr>
        <p:spPr>
          <a:xfrm>
            <a:off x="6565392" y="3803904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C9A22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7543800" y="3785616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安全体系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7543800" y="422452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9DB0A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四角色权限 · PII 加密 · 审计合规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14400" y="4983480"/>
            <a:ext cx="5029200" cy="1051560"/>
          </a:xfrm>
          <a:prstGeom prst="roundRect">
            <a:avLst>
              <a:gd name="adj" fmla="val 6087"/>
            </a:avLst>
          </a:prstGeom>
          <a:solidFill>
            <a:srgbClr val="1C362A"/>
          </a:solidFill>
          <a:ln/>
        </p:spPr>
      </p:sp>
      <p:sp>
        <p:nvSpPr>
          <p:cNvPr id="21" name="Text 19"/>
          <p:cNvSpPr/>
          <p:nvPr/>
        </p:nvSpPr>
        <p:spPr>
          <a:xfrm>
            <a:off x="1170432" y="5129784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C9A22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05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2148840" y="5111496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质量工程</a:t>
            </a:r>
            <a:endParaRPr lang="en-US" sz="1900" dirty="0"/>
          </a:p>
        </p:txBody>
      </p:sp>
      <p:sp>
        <p:nvSpPr>
          <p:cNvPr id="23" name="Text 21"/>
          <p:cNvSpPr/>
          <p:nvPr/>
        </p:nvSpPr>
        <p:spPr>
          <a:xfrm>
            <a:off x="2148840" y="555040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9DB0A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20,809 项自动化测试 · 视觉回归 · CI/CD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309360" y="4983480"/>
            <a:ext cx="5029200" cy="1051560"/>
          </a:xfrm>
          <a:prstGeom prst="roundRect">
            <a:avLst>
              <a:gd name="adj" fmla="val 6087"/>
            </a:avLst>
          </a:prstGeom>
          <a:solidFill>
            <a:srgbClr val="1C362A"/>
          </a:solidFill>
          <a:ln/>
        </p:spPr>
      </p:sp>
      <p:sp>
        <p:nvSpPr>
          <p:cNvPr id="25" name="Text 23"/>
          <p:cNvSpPr/>
          <p:nvPr/>
        </p:nvSpPr>
        <p:spPr>
          <a:xfrm>
            <a:off x="6565392" y="5129784"/>
            <a:ext cx="914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C9A22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06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7543800" y="5111496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部署运行</a:t>
            </a:r>
            <a:endParaRPr lang="en-US" sz="1900" dirty="0"/>
          </a:p>
        </p:txBody>
      </p:sp>
      <p:sp>
        <p:nvSpPr>
          <p:cNvPr id="27" name="Text 25"/>
          <p:cNvSpPr/>
          <p:nvPr/>
        </p:nvSpPr>
        <p:spPr>
          <a:xfrm>
            <a:off x="7543800" y="555040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9DB0A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双平台安装包 · 备份升级 · 版本历程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29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822960"/>
            <a:ext cx="4206240" cy="431512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0" b="1" dirty="0">
                <a:solidFill>
                  <a:srgbClr val="1C36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</a:t>
            </a:r>
            <a:endParaRPr lang="en-US" sz="20000" dirty="0"/>
          </a:p>
        </p:txBody>
      </p:sp>
      <p:sp>
        <p:nvSpPr>
          <p:cNvPr id="3" name="Text 1"/>
          <p:cNvSpPr/>
          <p:nvPr/>
        </p:nvSpPr>
        <p:spPr>
          <a:xfrm>
            <a:off x="914400" y="3977640"/>
            <a:ext cx="10332720" cy="87765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系统概述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932688" y="48920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C9A22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SYSTEM OVERVIEW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406640" y="1417320"/>
            <a:ext cx="42062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2400" indent="-1524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D7E2D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为什么需要这套系统</a:t>
            </a:r>
            <a:endParaRPr lang="en-US" sz="1400" dirty="0"/>
          </a:p>
          <a:p>
            <a:pPr algn="l" marL="152400" indent="-1524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D7E2D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系统的定位与形态</a:t>
            </a:r>
            <a:endParaRPr lang="en-US" sz="1400" dirty="0"/>
          </a:p>
          <a:p>
            <a:pPr algn="l" marL="152400" indent="-1524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D7E2D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离线优先的产品决策</a:t>
            </a:r>
            <a:endParaRPr lang="en-US" sz="1400" dirty="0"/>
          </a:p>
          <a:p>
            <a:pPr algn="l" marL="152400" indent="-1524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D7E2D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一眼看懂的关键数字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274552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6E817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28016" cy="12801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676656" y="329184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D6A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 系统概述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项目背景与使命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274552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帮扶管理信息系统 v1.17.3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7200" y="1481328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b="1" dirty="0">
                <a:solidFill>
                  <a:srgbClr val="2D6A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把驻村帮扶工作从“纸质台账 + Excel 报表”搬进可信的数字化轨道</a:t>
            </a:r>
            <a:endParaRPr lang="en-US" sz="1650" dirty="0"/>
          </a:p>
        </p:txBody>
      </p:sp>
      <p:sp>
        <p:nvSpPr>
          <p:cNvPr id="8" name="Shape 6"/>
          <p:cNvSpPr/>
          <p:nvPr/>
        </p:nvSpPr>
        <p:spPr>
          <a:xfrm>
            <a:off x="457200" y="2203704"/>
            <a:ext cx="109728" cy="100584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148840"/>
            <a:ext cx="4023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驻村帮扶的现实约束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892040" y="2148840"/>
            <a:ext cx="6766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帮扶村镇多位于网络条件受限地区，互联网云服务不可依赖，数据必须留在本机、随人走、可备份、可交接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3621024"/>
            <a:ext cx="109728" cy="100584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2" name="Text 10"/>
          <p:cNvSpPr/>
          <p:nvPr/>
        </p:nvSpPr>
        <p:spPr>
          <a:xfrm>
            <a:off x="731520" y="3566160"/>
            <a:ext cx="4023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军民融合的协同需求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4892040" y="3566160"/>
            <a:ext cx="6766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军队帮扶单位与地方协同：任务下达、经费监管、成效上报，全流程需要留痕可审计，满足军事审计红线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57200" y="5038344"/>
            <a:ext cx="109728" cy="100584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4983480"/>
            <a:ext cx="4023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数据资产的长期价值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892040" y="4983480"/>
            <a:ext cx="6766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帮扶村 10 大板块年度数据、项目全生命周期、资金全流程——沉淀多年后就是帮扶成效最有说服力的证据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28016" cy="12801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676656" y="329184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D6A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 系统概述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系统定位与核心价值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274552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帮扶管理信息系统 v1.17.3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5394960" cy="196596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A2E24">
                <a:alpha val="13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749808" y="2002536"/>
            <a:ext cx="146304" cy="146304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9" name="Text 7"/>
          <p:cNvSpPr/>
          <p:nvPr/>
        </p:nvSpPr>
        <p:spPr>
          <a:xfrm>
            <a:off x="1024128" y="1874520"/>
            <a:ext cx="4206240" cy="42648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F4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完全离线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768096" y="2404872"/>
            <a:ext cx="4800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装在电脑上就能用，不依赖任何外网服务；数据全部落在本机 SQLite，断网功能零损失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263640" y="1691640"/>
            <a:ext cx="5394960" cy="196596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A2E24">
                <a:alpha val="13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556248" y="2002536"/>
            <a:ext cx="146304" cy="146304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3" name="Text 11"/>
          <p:cNvSpPr/>
          <p:nvPr/>
        </p:nvSpPr>
        <p:spPr>
          <a:xfrm>
            <a:off x="6830568" y="1874520"/>
            <a:ext cx="4206240" cy="42648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F4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多机协同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6574536" y="2404872"/>
            <a:ext cx="4800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单位内多台电脑通过加密数据包交换数据：全量包 + 增量包，支持版本管理与冲突解决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457200" y="3977640"/>
            <a:ext cx="5394960" cy="196596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A2E24">
                <a:alpha val="13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49808" y="4288536"/>
            <a:ext cx="146304" cy="146304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7" name="Text 15"/>
          <p:cNvSpPr/>
          <p:nvPr/>
        </p:nvSpPr>
        <p:spPr>
          <a:xfrm>
            <a:off x="1024128" y="4160520"/>
            <a:ext cx="4206240" cy="42648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F4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军工级安全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768096" y="4690872"/>
            <a:ext cx="4800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四角色权限、组织数据隔离、PII 字段透明加密、全程审计留痕，直面军事审计要求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263640" y="3977640"/>
            <a:ext cx="5394960" cy="1965960"/>
          </a:xfrm>
          <a:prstGeom prst="roundRect">
            <a:avLst>
              <a:gd name="adj" fmla="val 32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A2E24">
                <a:alpha val="13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56248" y="4288536"/>
            <a:ext cx="146304" cy="146304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21" name="Text 19"/>
          <p:cNvSpPr/>
          <p:nvPr/>
        </p:nvSpPr>
        <p:spPr>
          <a:xfrm>
            <a:off x="6830568" y="4160520"/>
            <a:ext cx="4206240" cy="426487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900" b="1" dirty="0">
                <a:solidFill>
                  <a:srgbClr val="1F4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开箱即用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6574536" y="4690872"/>
            <a:ext cx="48006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NSIS / DEB 安装包内置全部运行时，目标机器零依赖；内置备份恢复与出厂恢复通道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28016" cy="12801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676656" y="329184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D6A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01 系统概述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一眼看懂：系统规模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274552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帮扶管理信息系统 v1.17.3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02920" y="1920240"/>
            <a:ext cx="2743200" cy="87765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F4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13,942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502920" y="2825327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后端自动化测试用例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566160" y="1920240"/>
            <a:ext cx="2743200" cy="87765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F4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6,867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3566160" y="2825327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前端自动化测试用例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629400" y="1920240"/>
            <a:ext cx="2743200" cy="87765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F4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104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6629400" y="2825327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菜单 key（含 16 legacy）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692640" y="1920240"/>
            <a:ext cx="2194560" cy="87765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1F4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144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9692640" y="2825327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业务页面视图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611880"/>
            <a:ext cx="11274552" cy="0"/>
          </a:xfrm>
          <a:prstGeom prst="line">
            <a:avLst/>
          </a:prstGeom>
          <a:noFill/>
          <a:ln w="12700">
            <a:solidFill>
              <a:srgbClr val="D8E0D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977640"/>
            <a:ext cx="2743200" cy="87765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D6A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100</a:t>
            </a:r>
            <a:endParaRPr lang="en-US" sz="4000" dirty="0"/>
          </a:p>
        </p:txBody>
      </p:sp>
      <p:sp>
        <p:nvSpPr>
          <p:cNvPr id="17" name="Text 15"/>
          <p:cNvSpPr/>
          <p:nvPr/>
        </p:nvSpPr>
        <p:spPr>
          <a:xfrm>
            <a:off x="502920" y="4882727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API 路由模块（55 顶层 + 5 子包）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566160" y="3977640"/>
            <a:ext cx="2743200" cy="87765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D6A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107</a:t>
            </a:r>
            <a:endParaRPr lang="en-US" sz="4000" dirty="0"/>
          </a:p>
        </p:txBody>
      </p:sp>
      <p:sp>
        <p:nvSpPr>
          <p:cNvPr id="19" name="Text 17"/>
          <p:cNvSpPr/>
          <p:nvPr/>
        </p:nvSpPr>
        <p:spPr>
          <a:xfrm>
            <a:off x="3566160" y="4882727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后端服务文件（5 子包）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629400" y="3977640"/>
            <a:ext cx="2743200" cy="87765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D6A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122</a:t>
            </a:r>
            <a:endParaRPr lang="en-US" sz="4000" dirty="0"/>
          </a:p>
        </p:txBody>
      </p:sp>
      <p:sp>
        <p:nvSpPr>
          <p:cNvPr id="21" name="Text 19"/>
          <p:cNvSpPr/>
          <p:nvPr/>
        </p:nvSpPr>
        <p:spPr>
          <a:xfrm>
            <a:off x="6629400" y="4882727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数据表（模型计数）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692640" y="3977640"/>
            <a:ext cx="2194560" cy="87765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D6A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4000" dirty="0"/>
          </a:p>
        </p:txBody>
      </p:sp>
      <p:sp>
        <p:nvSpPr>
          <p:cNvPr id="23" name="Text 21"/>
          <p:cNvSpPr/>
          <p:nvPr/>
        </p:nvSpPr>
        <p:spPr>
          <a:xfrm>
            <a:off x="9692640" y="4882727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用户角色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58064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数据来源：2026-10-24（v1.17.3）—— 后端 14,404 用例（1 skipped）/ 行+分支 100%；前端 329 文件 / 6,995 用例（12 组 glob 100%）；UI 主题 3 套 · 显示偏好 4 档 · R35 表格规范 117/117 · 硬编码色 154（棘轮 154/154）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29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822960"/>
            <a:ext cx="4206240" cy="431512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0" b="1" dirty="0">
                <a:solidFill>
                  <a:srgbClr val="1C36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</a:t>
            </a:r>
            <a:endParaRPr lang="en-US" sz="20000" dirty="0"/>
          </a:p>
        </p:txBody>
      </p:sp>
      <p:sp>
        <p:nvSpPr>
          <p:cNvPr id="3" name="Text 1"/>
          <p:cNvSpPr/>
          <p:nvPr/>
        </p:nvSpPr>
        <p:spPr>
          <a:xfrm>
            <a:off x="914400" y="3977640"/>
            <a:ext cx="10332720" cy="87765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技术架构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932688" y="48920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C9A22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TECHNICAL ARCHITECTURE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406640" y="1417320"/>
            <a:ext cx="42062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2400" indent="-1524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D7E2D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技术栈选型与理由</a:t>
            </a:r>
            <a:endParaRPr lang="en-US" sz="1400" dirty="0"/>
          </a:p>
          <a:p>
            <a:pPr algn="l" marL="152400" indent="-1524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D7E2D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UI v2.0 设计系统：主题 3 套 + 显示偏好 4 档</a:t>
            </a:r>
            <a:endParaRPr lang="en-US" sz="1400" dirty="0"/>
          </a:p>
          <a:p>
            <a:pPr algn="l" marL="152400" indent="-1524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D7E2D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R35 UI 精细化（方案 C）：品牌区 / 表格 / 筛选栏</a:t>
            </a:r>
            <a:endParaRPr lang="en-US" sz="1400" dirty="0"/>
          </a:p>
          <a:p>
            <a:pPr algn="l" marL="152400" indent="-1524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D7E2D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四层架构与前后端工程结构</a:t>
            </a:r>
            <a:endParaRPr lang="en-US" sz="1400" dirty="0"/>
          </a:p>
          <a:p>
            <a:pPr algn="l" marL="152400" indent="-1524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D7E2D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离线优先的实现路径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274552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6E817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28016" cy="12801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676656" y="329184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D6A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 技术架构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技术栈全景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274552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帮扶管理信息系统 v1.17.3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2697480" cy="4297680"/>
          </a:xfrm>
          <a:prstGeom prst="roundRect">
            <a:avLst>
              <a:gd name="adj" fmla="val 23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A2E24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85800" y="19202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22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桌面壳层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2304288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Electron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85800" y="2880360"/>
            <a:ext cx="23317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2400" indent="-1524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Windows x64 NSIS 安装包</a:t>
            </a:r>
            <a:endParaRPr lang="en-US" sz="1200" dirty="0"/>
          </a:p>
          <a:p>
            <a:pPr algn="l" marL="152400" indent="-1524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麒麟 V10 ARM64 DEB</a:t>
            </a:r>
            <a:endParaRPr lang="en-US" sz="1200" dirty="0"/>
          </a:p>
          <a:p>
            <a:pPr algn="l" marL="152400" indent="-1524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托盘 / 自启 / 锁屏 / 快捷键</a:t>
            </a:r>
            <a:endParaRPr lang="en-US" sz="1200" dirty="0"/>
          </a:p>
          <a:p>
            <a:pPr algn="l" marL="152400" indent="-1524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后端进程托管与健康检查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364992" y="1691640"/>
            <a:ext cx="2697480" cy="4297680"/>
          </a:xfrm>
          <a:prstGeom prst="roundRect">
            <a:avLst>
              <a:gd name="adj" fmla="val 23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A2E24">
                <a:alpha val="13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593592" y="19202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22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前端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593592" y="2304288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Vue 3 + TypeScript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593592" y="2880360"/>
            <a:ext cx="23317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2400" indent="-1524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Element Plus + Pinia + Vue Router</a:t>
            </a:r>
            <a:endParaRPr lang="en-US" sz="1200" dirty="0"/>
          </a:p>
          <a:p>
            <a:pPr algn="l" marL="152400" indent="-1524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UI v2.0 设计 Token（3 套主题 · 显示偏好 4 档）+ R35 精细化层</a:t>
            </a:r>
            <a:endParaRPr lang="en-US" sz="1200" dirty="0"/>
          </a:p>
          <a:p>
            <a:pPr algn="l" marL="152400" indent="-1524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144 个视图 · 32 个共享组件</a:t>
            </a:r>
            <a:endParaRPr lang="en-US" sz="1200" dirty="0"/>
          </a:p>
          <a:p>
            <a:pPr algn="l" marL="152400" indent="-1524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Axios 统一信封 + CSRF + 离线 Mock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272784" y="1691640"/>
            <a:ext cx="2697480" cy="4297680"/>
          </a:xfrm>
          <a:prstGeom prst="roundRect">
            <a:avLst>
              <a:gd name="adj" fmla="val 23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A2E24">
                <a:alpha val="13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501384" y="19202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22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后端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501384" y="2304288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FastAPI (Python 3.11)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501384" y="2880360"/>
            <a:ext cx="23317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2400" indent="-1524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100 个路由模块（55 顶层 + 5 子包）</a:t>
            </a:r>
            <a:endParaRPr lang="en-US" sz="1200" dirty="0"/>
          </a:p>
          <a:p>
            <a:pPr algn="l" marL="152400" indent="-1524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107 个服务（5 个子包）</a:t>
            </a:r>
            <a:endParaRPr lang="en-US" sz="1200" dirty="0"/>
          </a:p>
          <a:p>
            <a:pPr algn="l" marL="152400" indent="-1524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SQLAlchemy 2.x + Alembic（54 版本单 head）</a:t>
            </a:r>
            <a:endParaRPr lang="en-US" sz="1200" dirty="0"/>
          </a:p>
          <a:p>
            <a:pPr algn="l" marL="152400" indent="-1524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依赖登记表单一事实源（三级自检）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9180576" y="1691640"/>
            <a:ext cx="2697480" cy="4297680"/>
          </a:xfrm>
          <a:prstGeom prst="roundRect">
            <a:avLst>
              <a:gd name="adj" fmla="val 23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A2E24">
                <a:alpha val="13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409176" y="19202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22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409176" y="2304288"/>
            <a:ext cx="23774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SQLite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409176" y="2880360"/>
            <a:ext cx="233172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2400" indent="-1524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单文件数据库，随备份带走</a:t>
            </a:r>
            <a:endParaRPr lang="en-US" sz="1200" dirty="0"/>
          </a:p>
          <a:p>
            <a:pPr algn="l" marL="152400" indent="-1524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WAL 并发 + 外键强制</a:t>
            </a:r>
            <a:endParaRPr lang="en-US" sz="1200" dirty="0"/>
          </a:p>
          <a:p>
            <a:pPr algn="l" marL="152400" indent="-1524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EncryptedText 列透明加密</a:t>
            </a:r>
            <a:endParaRPr lang="en-US" sz="1200" dirty="0"/>
          </a:p>
          <a:p>
            <a:pPr algn="l" marL="152400" indent="-152400">
              <a:spcAft>
                <a:spcPts val="800"/>
              </a:spcAft>
              <a:buSzPct val="100000"/>
              <a:buChar char="▪"/>
            </a:pPr>
            <a:r>
              <a:rPr lang="en-US" sz="120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122 张表 · 54 个迁移版本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28016" cy="12801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676656" y="329184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D6A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 技术架构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四层架构：进程间协作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274552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07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帮扶管理信息系统 v1.17.3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280160" y="1627632"/>
            <a:ext cx="8778240" cy="969264"/>
          </a:xfrm>
          <a:prstGeom prst="roundRect">
            <a:avLst>
              <a:gd name="adj" fmla="val 5660"/>
            </a:avLst>
          </a:prstGeom>
          <a:solidFill>
            <a:srgbClr val="1F4A38"/>
          </a:solidFill>
          <a:ln/>
        </p:spPr>
      </p:sp>
      <p:sp>
        <p:nvSpPr>
          <p:cNvPr id="8" name="Text 6"/>
          <p:cNvSpPr/>
          <p:nvPr/>
        </p:nvSpPr>
        <p:spPr>
          <a:xfrm>
            <a:off x="1600200" y="1737360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Electron 主进程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1600200" y="2157984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D7E2D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窗口/托盘 · 后端 exe 托管 · DATABASE_URL 注入 · 导航白名单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989320" y="2596896"/>
            <a:ext cx="0" cy="219456"/>
          </a:xfrm>
          <a:prstGeom prst="line">
            <a:avLst/>
          </a:prstGeom>
          <a:noFill/>
          <a:ln w="27940">
            <a:solidFill>
              <a:srgbClr val="C9A227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1280160" y="2816352"/>
            <a:ext cx="9509760" cy="969264"/>
          </a:xfrm>
          <a:prstGeom prst="roundRect">
            <a:avLst>
              <a:gd name="adj" fmla="val 5660"/>
            </a:avLst>
          </a:prstGeom>
          <a:solidFill>
            <a:srgbClr val="E8EFEA"/>
          </a:solidFill>
          <a:ln/>
        </p:spPr>
      </p:sp>
      <p:sp>
        <p:nvSpPr>
          <p:cNvPr id="12" name="Text 10"/>
          <p:cNvSpPr/>
          <p:nvPr/>
        </p:nvSpPr>
        <p:spPr>
          <a:xfrm>
            <a:off x="1600200" y="2926080"/>
            <a:ext cx="8869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b="1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Vue 3 前端（渲染进程）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1600200" y="3346704"/>
            <a:ext cx="8869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144 视图 · Pinia · Axios 信封拦截器 · CSRF 续期 · 离线 Mock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989320" y="3785616"/>
            <a:ext cx="0" cy="219456"/>
          </a:xfrm>
          <a:prstGeom prst="line">
            <a:avLst/>
          </a:prstGeom>
          <a:noFill/>
          <a:ln w="27940">
            <a:solidFill>
              <a:srgbClr val="C9A227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1280160" y="4005072"/>
            <a:ext cx="9509760" cy="969264"/>
          </a:xfrm>
          <a:prstGeom prst="roundRect">
            <a:avLst>
              <a:gd name="adj" fmla="val 5660"/>
            </a:avLst>
          </a:prstGeom>
          <a:solidFill>
            <a:srgbClr val="1F4A38"/>
          </a:solidFill>
          <a:ln/>
        </p:spPr>
      </p:sp>
      <p:sp>
        <p:nvSpPr>
          <p:cNvPr id="16" name="Text 14"/>
          <p:cNvSpPr/>
          <p:nvPr/>
        </p:nvSpPr>
        <p:spPr>
          <a:xfrm>
            <a:off x="1600200" y="4114800"/>
            <a:ext cx="8869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FastAPI 应用层</a:t>
            </a:r>
            <a:endParaRPr lang="en-US" sz="1650" dirty="0"/>
          </a:p>
        </p:txBody>
      </p:sp>
      <p:sp>
        <p:nvSpPr>
          <p:cNvPr id="17" name="Text 15"/>
          <p:cNvSpPr/>
          <p:nvPr/>
        </p:nvSpPr>
        <p:spPr>
          <a:xfrm>
            <a:off x="1600200" y="4535424"/>
            <a:ext cx="8869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D7E2D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100 API 模块 · 数据范围过滤 · 限流 · 审计中间件 · 统一信封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989320" y="4974336"/>
            <a:ext cx="0" cy="219456"/>
          </a:xfrm>
          <a:prstGeom prst="line">
            <a:avLst/>
          </a:prstGeom>
          <a:noFill/>
          <a:ln w="27940">
            <a:solidFill>
              <a:srgbClr val="C9A227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1280160" y="5193792"/>
            <a:ext cx="8778240" cy="969264"/>
          </a:xfrm>
          <a:prstGeom prst="roundRect">
            <a:avLst>
              <a:gd name="adj" fmla="val 5660"/>
            </a:avLst>
          </a:prstGeom>
          <a:solidFill>
            <a:srgbClr val="E8EFEA"/>
          </a:solidFill>
          <a:ln/>
        </p:spPr>
      </p:sp>
      <p:sp>
        <p:nvSpPr>
          <p:cNvPr id="20" name="Text 18"/>
          <p:cNvSpPr/>
          <p:nvPr/>
        </p:nvSpPr>
        <p:spPr>
          <a:xfrm>
            <a:off x="1600200" y="5303520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b="1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SQLite 数据层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1600200" y="5724144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WAL · 54 迁移 · EncryptedText 加密列 · 备份/恢复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035040" y="630936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HTTP 127.0.0.1（同机回环，Token 黑名单 + CSRF 双重校验）</a:t>
            </a:r>
            <a:endParaRPr lang="en-US" sz="11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28016" cy="12801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676656" y="329184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D6A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 技术架构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前端工程：规范即生产力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274552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08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帮扶管理信息系统 v1.17.3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1645920"/>
            <a:ext cx="5486400" cy="448056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A2E24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49808" y="18745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F4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规模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49808" y="2331720"/>
            <a:ext cx="49377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2400" indent="-152400"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144 个业务视图（37 个功能目录）</a:t>
            </a:r>
            <a:endParaRPr lang="en-US" sz="1150" dirty="0"/>
          </a:p>
          <a:p>
            <a:pPr algn="l" marL="152400" indent="-152400"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32 个共享组件（含 common/ 6 个 UI v2 通用组件）</a:t>
            </a:r>
            <a:endParaRPr lang="en-US" sz="1150" dirty="0"/>
          </a:p>
          <a:p>
            <a:pPr algn="l" marL="152400" indent="-152400"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9 个 Pinia store + 15 个组合式函数（含 useUiPrefs 显示偏好）</a:t>
            </a:r>
            <a:endParaRPr lang="en-US" sz="1150" dirty="0"/>
          </a:p>
          <a:p>
            <a:pPr algn="l" marL="152400" indent="-152400"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18 个 SCSS：tokens 单源 + 全局模板（card/states/dialog/ui-v2/ui-refine…）</a:t>
            </a:r>
            <a:endParaRPr lang="en-US" sz="1150" dirty="0"/>
          </a:p>
          <a:p>
            <a:pPr algn="l" marL="152400" indent="-152400"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331 个测试文件 / 6,867 个用例（12 组 glob 100%）</a:t>
            </a:r>
            <a:endParaRPr lang="en-US" sz="1150" dirty="0"/>
          </a:p>
          <a:p>
            <a:pPr algn="l" marL="152400" indent="-152400"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后端 v2 菜单单一源：侧栏 / 移动端 / 权限面板全部数据驱动（Ctrl+K / 收藏 / 最近访问）</a:t>
            </a:r>
            <a:endParaRPr lang="en-US" sz="1150" dirty="0"/>
          </a:p>
          <a:p>
            <a:pPr algn="l" marL="152400" indent="-152400"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覆盖率门禁（行 + 分支 100%）+ lint --max-warnings=0 + vue-tsc 三重 CI 门禁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63640" y="1645920"/>
            <a:ext cx="5486400" cy="448056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A2E24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556248" y="18745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F4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UI v2.0 设计系统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56248" y="2331720"/>
            <a:ext cx="49377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2400" indent="-152400">
              <a:spcAft>
                <a:spcPts val="700"/>
              </a:spcAft>
              <a:buSzPct val="100000"/>
              <a:buChar char="▪"/>
            </a:pPr>
            <a:r>
              <a:rPr lang="en-US" sz="115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tokens.scss：主色阶 50→900、卡片边框、两级阴影、三档圆角、字号 calc 缩放、行高 1.6、tabular-nums</a:t>
            </a:r>
            <a:endParaRPr lang="en-US" sz="1150" dirty="0"/>
          </a:p>
          <a:p>
            <a:pPr algn="l" marL="152400" indent="-152400">
              <a:spcAft>
                <a:spcPts val="700"/>
              </a:spcAft>
              <a:buSzPct val="100000"/>
              <a:buChar char="▪"/>
            </a:pPr>
            <a:r>
              <a:rPr lang="en-US" sz="115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主题 5→3：军绿默认 / 深色大屏 / 户外高对比；旧值自动迁移</a:t>
            </a:r>
            <a:endParaRPr lang="en-US" sz="1150" dirty="0"/>
          </a:p>
          <a:p>
            <a:pPr algn="l" marL="152400" indent="-152400">
              <a:spcAft>
                <a:spcPts val="700"/>
              </a:spcAft>
              <a:buSzPct val="100000"/>
              <a:buChar char="▪"/>
            </a:pPr>
            <a:r>
              <a:rPr lang="en-US" sz="115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显示偏好 4 档：字号 / 密度 / 高对比 / 简化（localStorage ui:prefs）</a:t>
            </a:r>
            <a:endParaRPr lang="en-US" sz="1150" dirty="0"/>
          </a:p>
          <a:p>
            <a:pPr algn="l" marL="152400" indent="-152400">
              <a:spcAft>
                <a:spcPts val="700"/>
              </a:spcAft>
              <a:buSzPct val="100000"/>
              <a:buChar char="▪"/>
            </a:pPr>
            <a:r>
              <a:rPr lang="en-US" sz="115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全局类 6 组 + 通用组件 6 个，新页面直接套用（组件为可选增强）</a:t>
            </a:r>
            <a:endParaRPr lang="en-US" sz="1150" dirty="0"/>
          </a:p>
          <a:p>
            <a:pPr algn="l" marL="152400" indent="-152400">
              <a:spcAft>
                <a:spcPts val="700"/>
              </a:spcAft>
              <a:buSzPct val="100000"/>
              <a:buChar char="▪"/>
            </a:pPr>
            <a:r>
              <a:rPr lang="en-US" sz="115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视觉回归门禁：ui-tokens 契约测试 + 10 个关键页面 DOM 结构基线</a:t>
            </a:r>
            <a:endParaRPr lang="en-US" sz="1150" dirty="0"/>
          </a:p>
          <a:p>
            <a:pPr algn="l" marL="152400" indent="-152400">
              <a:spcAft>
                <a:spcPts val="700"/>
              </a:spcAft>
              <a:buSzPct val="100000"/>
              <a:buChar char="▪"/>
            </a:pPr>
            <a:r>
              <a:rPr lang="en-US" sz="115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统一信封拦截器：data 自动展开 + CSRF 自动续期 + 401/403 分类处理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28016" cy="12801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676656" y="329184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D6A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 技术架构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UI v2.0 设计系统：庄重 × 高效 × 低负担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274552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09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帮扶管理信息系统 v1.17.3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1645920"/>
            <a:ext cx="2697480" cy="3246120"/>
          </a:xfrm>
          <a:prstGeom prst="roundRect">
            <a:avLst>
              <a:gd name="adj" fmla="val 23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A2E24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85800" y="18288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F4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色彩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58368" y="2286000"/>
            <a:ext cx="23317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2400" indent="-152400">
              <a:spcAft>
                <a:spcPts val="800"/>
              </a:spcAft>
              <a:buSzPct val="100000"/>
              <a:buChar char="▪"/>
            </a:pPr>
            <a:r>
              <a:rPr lang="en-US" sz="110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军绿主色阶 50/100/500/600/700/900</a:t>
            </a:r>
            <a:endParaRPr lang="en-US" sz="1100" dirty="0"/>
          </a:p>
          <a:p>
            <a:pPr algn="l" marL="152400" indent="-152400">
              <a:spcAft>
                <a:spcPts val="800"/>
              </a:spcAft>
              <a:buSzPct val="100000"/>
              <a:buChar char="▪"/>
            </a:pPr>
            <a:r>
              <a:rPr lang="en-US" sz="110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金色仅三用：板块竖条 / 数据高亮 / 表头底线（≤5%）</a:t>
            </a:r>
            <a:endParaRPr lang="en-US" sz="1100" dirty="0"/>
          </a:p>
          <a:p>
            <a:pPr algn="l" marL="152400" indent="-152400">
              <a:spcAft>
                <a:spcPts val="800"/>
              </a:spcAft>
              <a:buSzPct val="100000"/>
              <a:buChar char="▪"/>
            </a:pPr>
            <a:r>
              <a:rPr lang="en-US" sz="110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页面提亮 #f5f7f5 + 卡片边框 #e5e9e6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64992" y="1645920"/>
            <a:ext cx="2697480" cy="3246120"/>
          </a:xfrm>
          <a:prstGeom prst="roundRect">
            <a:avLst>
              <a:gd name="adj" fmla="val 23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A2E24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593592" y="18288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F4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形态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566160" y="2286000"/>
            <a:ext cx="23317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2400" indent="-152400">
              <a:spcAft>
                <a:spcPts val="800"/>
              </a:spcAft>
              <a:buSzPct val="100000"/>
              <a:buChar char="▪"/>
            </a:pPr>
            <a:r>
              <a:rPr lang="en-US" sz="110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圆角 3 档：卡片 8 / 控件 6 / 胶囊 999</a:t>
            </a:r>
            <a:endParaRPr lang="en-US" sz="1100" dirty="0"/>
          </a:p>
          <a:p>
            <a:pPr algn="l" marL="152400" indent="-152400">
              <a:spcAft>
                <a:spcPts val="800"/>
              </a:spcAft>
              <a:buSzPct val="100000"/>
              <a:buChar char="▪"/>
            </a:pPr>
            <a:r>
              <a:rPr lang="en-US" sz="110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阴影 2 档：--shadow-card / --shadow-pop</a:t>
            </a:r>
            <a:endParaRPr lang="en-US" sz="1100" dirty="0"/>
          </a:p>
          <a:p>
            <a:pPr algn="l" marL="152400" indent="-152400">
              <a:spcAft>
                <a:spcPts val="800"/>
              </a:spcAft>
              <a:buSzPct val="100000"/>
              <a:buChar char="▪"/>
            </a:pPr>
            <a:r>
              <a:rPr lang="en-US" sz="110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侧栏深绿渐变 + 当前板块金色竖条，表格去斑马纹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72784" y="1645920"/>
            <a:ext cx="2697480" cy="3246120"/>
          </a:xfrm>
          <a:prstGeom prst="roundRect">
            <a:avLst>
              <a:gd name="adj" fmla="val 23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A2E24">
                <a:alpha val="13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501384" y="18288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F4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文字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73952" y="2286000"/>
            <a:ext cx="23317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2400" indent="-152400">
              <a:spcAft>
                <a:spcPts val="800"/>
              </a:spcAft>
              <a:buSzPct val="100000"/>
              <a:buChar char="▪"/>
            </a:pPr>
            <a:r>
              <a:rPr lang="en-US" sz="110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 档字号全部 calc × --font-scale</a:t>
            </a:r>
            <a:endParaRPr lang="en-US" sz="1100" dirty="0"/>
          </a:p>
          <a:p>
            <a:pPr algn="l" marL="152400" indent="-152400">
              <a:spcAft>
                <a:spcPts val="800"/>
              </a:spcAft>
              <a:buSzPct val="100000"/>
              <a:buChar char="▪"/>
            </a:pPr>
            <a:r>
              <a:rPr lang="en-US" sz="110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正文行高 1.6，标题 1.25</a:t>
            </a:r>
            <a:endParaRPr lang="en-US" sz="1100" dirty="0"/>
          </a:p>
          <a:p>
            <a:pPr algn="l" marL="152400" indent="-152400">
              <a:spcAft>
                <a:spcPts val="800"/>
              </a:spcAft>
              <a:buSzPct val="100000"/>
              <a:buChar char="▪"/>
            </a:pPr>
            <a:r>
              <a:rPr lang="en-US" sz="110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数字全站 tabular-nums，列对齐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180576" y="1645920"/>
            <a:ext cx="2697480" cy="3246120"/>
          </a:xfrm>
          <a:prstGeom prst="roundRect">
            <a:avLst>
              <a:gd name="adj" fmla="val 23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A2E24">
                <a:alpha val="13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409176" y="182880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F4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组件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381744" y="2286000"/>
            <a:ext cx="23317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2400" indent="-152400">
              <a:spcAft>
                <a:spcPts val="800"/>
              </a:spcAft>
              <a:buSzPct val="100000"/>
              <a:buChar char="▪"/>
            </a:pPr>
            <a:r>
              <a:rPr lang="en-US" sz="110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全局类：.app-card / .app-stat-card / 三件套 / 工具条</a:t>
            </a:r>
            <a:endParaRPr lang="en-US" sz="1100" dirty="0"/>
          </a:p>
          <a:p>
            <a:pPr algn="l" marL="152400" indent="-152400">
              <a:spcAft>
                <a:spcPts val="800"/>
              </a:spcAft>
              <a:buSzPct val="100000"/>
              <a:buChar char="▪"/>
            </a:pPr>
            <a:r>
              <a:rPr lang="en-US" sz="110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通用组件 6 个：PageHeader / StatCard / Empty / Loading / Error / TableToolbar</a:t>
            </a:r>
            <a:endParaRPr lang="en-US" sz="1100" dirty="0"/>
          </a:p>
          <a:p>
            <a:pPr algn="l" marL="152400" indent="-152400">
              <a:spcAft>
                <a:spcPts val="800"/>
              </a:spcAft>
              <a:buSzPct val="100000"/>
              <a:buChar char="▪"/>
            </a:pPr>
            <a:r>
              <a:rPr lang="en-US" sz="110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对话框三档宽度 480/720/960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4983480"/>
            <a:ext cx="11274552" cy="1234440"/>
          </a:xfrm>
          <a:prstGeom prst="roundRect">
            <a:avLst>
              <a:gd name="adj" fmla="val 5185"/>
            </a:avLst>
          </a:prstGeom>
          <a:solidFill>
            <a:srgbClr val="E8EFEA"/>
          </a:solidFill>
          <a:ln/>
          <a:effectLst>
            <a:outerShdw sx="100000" sy="100000" kx="0" ky="0" algn="bl" rotWithShape="0" blurRad="88900" dist="25400" dir="5400000">
              <a:srgbClr val="1A2E24">
                <a:alpha val="13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49808" y="51206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4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工程纪律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49808" y="5440680"/>
            <a:ext cx="10607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颜色只用 var(--token)：硬编码色棘轮只降不升（基线 345 → 当前 305（57 个文件），目标 ≤200，改动文件零新增）；设计 Token 单源 tokens.scss，全局模板样式集中在 styles/components/*.scss；视觉回归基线可在 CI 稳定运行。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28016" cy="12801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676656" y="329184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D6A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 技术架构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主题 3 套 × 显示偏好 4 档：一套系统适配所有场景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274552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帮扶管理信息系统 v1.17.3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1645920"/>
            <a:ext cx="5486400" cy="448056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A2E24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49808" y="18745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F4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主题（5 → 3 套）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49808" y="2331720"/>
            <a:ext cx="49377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2400" indent="-152400">
              <a:spcAft>
                <a:spcPts val="900"/>
              </a:spcAft>
              <a:buSzPct val="100000"/>
              <a:buChar char="▪"/>
            </a:pPr>
            <a:r>
              <a:rPr lang="en-US" sz="120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军绿（默认，:root 无 data-theme）：日常办公</a:t>
            </a:r>
            <a:endParaRPr lang="en-US" sz="1200" dirty="0"/>
          </a:p>
          <a:p>
            <a:pPr algn="l" marL="152400" indent="-152400">
              <a:spcAft>
                <a:spcPts val="900"/>
              </a:spcAft>
              <a:buSzPct val="100000"/>
              <a:buChar char="▪"/>
            </a:pPr>
            <a:r>
              <a:rPr lang="en-US" sz="120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深色大屏 dark-bigscreen：会议室大屏专用（大屏页强制）</a:t>
            </a:r>
            <a:endParaRPr lang="en-US" sz="1200" dirty="0"/>
          </a:p>
          <a:p>
            <a:pPr algn="l" marL="152400" indent="-152400">
              <a:spcAft>
                <a:spcPts val="900"/>
              </a:spcAft>
              <a:buSzPct val="100000"/>
              <a:buChar char="▪"/>
            </a:pPr>
            <a:r>
              <a:rPr lang="en-US" sz="120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户外高对比 outdoor：强光 / 低视力，字号 ×1.5</a:t>
            </a:r>
            <a:endParaRPr lang="en-US" sz="1200" dirty="0"/>
          </a:p>
          <a:p>
            <a:pPr algn="l" marL="152400" indent="-152400">
              <a:spcAft>
                <a:spcPts val="900"/>
              </a:spcAft>
              <a:buSzPct val="100000"/>
              <a:buChar char="▪"/>
            </a:pPr>
            <a:r>
              <a:rPr lang="en-US" sz="120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旧值 light / military / dark / high-contrast 由 normalizeTheme 自动迁移，历史用户不失效</a:t>
            </a:r>
            <a:endParaRPr lang="en-US" sz="1200" dirty="0"/>
          </a:p>
          <a:p>
            <a:pPr algn="l" marL="152400" indent="-152400">
              <a:spcAft>
                <a:spcPts val="900"/>
              </a:spcAft>
              <a:buSzPct val="100000"/>
              <a:buChar char="▪"/>
            </a:pPr>
            <a:r>
              <a:rPr lang="en-US" sz="120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入口：顶栏主题切换器 + 头像下拉「外观设置」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63640" y="1645920"/>
            <a:ext cx="5486400" cy="448056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A2E24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556248" y="1874520"/>
            <a:ext cx="4754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F4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显示偏好（localStorage ui:prefs）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556248" y="2331720"/>
            <a:ext cx="49377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2400" indent="-152400"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字号：紧凑 / 标准 / 大号（×0.92 / ×1 / ×1.12）</a:t>
            </a:r>
            <a:endParaRPr lang="en-US" sz="1150" dirty="0"/>
          </a:p>
          <a:p>
            <a:pPr algn="l" marL="152400" indent="-152400"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密度：舒适 / 紧凑（表格行高 44 / 34px）</a:t>
            </a:r>
            <a:endParaRPr lang="en-US" sz="1150" dirty="0"/>
          </a:p>
          <a:p>
            <a:pPr algn="l" marL="152400" indent="-152400"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高对比：文字/边框加深、卡片去阴影</a:t>
            </a:r>
            <a:endParaRPr lang="en-US" sz="1150" dirty="0"/>
          </a:p>
          <a:p>
            <a:pPr algn="l" marL="152400" indent="-152400"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简化模式：隐藏趋势箭头/辅助说明/高级字段，保留主操作</a:t>
            </a:r>
            <a:endParaRPr lang="en-US" sz="1150" dirty="0"/>
          </a:p>
          <a:p>
            <a:pPr algn="l" marL="152400" indent="-152400"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&lt;html data-font-size/density/contrast/simplify&gt; 四属性驱动，useUiPrefs 唯一读写入口；损坏数据回退默认</a:t>
            </a:r>
            <a:endParaRPr lang="en-US" sz="1150" dirty="0"/>
          </a:p>
          <a:p>
            <a:pPr algn="l" marL="152400" indent="-152400"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外观设置面板即时生效并持久化，可一键恢复默认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457200" y="626364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侧栏：当前板块金色竖条 · 收起态 hover/键盘浮层 · 面包屑「板块 › 页面」 · Ctrl+K 命令面板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28016" cy="12801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676656" y="329184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D6A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 技术架构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R35 UI 精细化：方案 C（v1.15.15）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274552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帮扶管理信息系统 v1.17.3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1645920"/>
            <a:ext cx="5486400" cy="448056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A2E24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49808" y="18745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F4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视觉层级与品牌区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49808" y="2331720"/>
            <a:ext cx="49377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2400" indent="-152400">
              <a:spcAft>
                <a:spcPts val="900"/>
              </a:spcAft>
              <a:buSzPct val="100000"/>
              <a:buChar char="▪"/>
            </a:pPr>
            <a:r>
              <a:rPr lang="en-US" sz="120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侧栏品牌名 20px/800 单行（logo 36px、侧栏头 64px），与板块标题 18px 形成正确层级</a:t>
            </a:r>
            <a:endParaRPr lang="en-US" sz="1200" dirty="0"/>
          </a:p>
          <a:p>
            <a:pPr algn="l" marL="152400" indent="-152400">
              <a:spcAft>
                <a:spcPts val="900"/>
              </a:spcAft>
              <a:buSzPct val="100000"/>
              <a:buChar char="▪"/>
            </a:pPr>
            <a:r>
              <a:rPr lang="en-US" sz="120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工作台提升为板块级入口：18px/700 + Home 图标，与七大板块标题同构，消除字号与图标倒挂</a:t>
            </a:r>
            <a:endParaRPr lang="en-US" sz="1200" dirty="0"/>
          </a:p>
          <a:p>
            <a:pPr algn="l" marL="152400" indent="-152400">
              <a:spcAft>
                <a:spcPts val="900"/>
              </a:spcAft>
              <a:buSzPct val="100000"/>
              <a:buChar char="▪"/>
            </a:pPr>
            <a:r>
              <a:rPr lang="en-US" sz="120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页面 8px 栅格：.page-container 内边距 16px、块间距 16px；768px 以下收 12px</a:t>
            </a:r>
            <a:endParaRPr lang="en-US" sz="1200" dirty="0"/>
          </a:p>
          <a:p>
            <a:pPr algn="l" marL="152400" indent="-152400">
              <a:spcAft>
                <a:spcPts val="900"/>
              </a:spcAft>
              <a:buSzPct val="100000"/>
              <a:buChar char="▪"/>
            </a:pPr>
            <a:r>
              <a:rPr lang="en-US" sz="120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侧栏金色竖条 / 收起态浮层 / 面包屑延续 UI v2.0；金色仅三用、面积 ≤5%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63640" y="1645920"/>
            <a:ext cx="5486400" cy="448056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A2E24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556248" y="1874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F4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表格与筛选栏规范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556248" y="2331720"/>
            <a:ext cx="49377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2400" indent="-152400"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全站 el-table border 117/117；序号列 72px（25/25）、选择列 48px（10/10）、操作列 fixed=right（67/67）</a:t>
            </a:r>
            <a:endParaRPr lang="en-US" sz="1150" dirty="0"/>
          </a:p>
          <a:p>
            <a:pPr algn="l" marL="152400" indent="-152400"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筛选栏 4 档宽度：input 220 / select 160 / date 240 / number 120；114 处行内宽度清理</a:t>
            </a:r>
            <a:endParaRPr lang="en-US" sz="1150" dirty="0"/>
          </a:p>
          <a:p>
            <a:pPr algn="l" marL="152400" indent="-152400"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搜索/重置按钮图标统一：24 文件 / 40 个按钮（搜索 28 + 重置 27，筛选栏 100% 覆盖）</a:t>
            </a:r>
            <a:endParaRPr lang="en-US" sz="1150" dirty="0"/>
          </a:p>
          <a:p>
            <a:pPr algn="l" marL="152400" indent="-152400"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共享 PageHeader：19 个列表页接入，全站使用页 12 → 31</a:t>
            </a:r>
            <a:endParaRPr lang="en-US" sz="1150" dirty="0"/>
          </a:p>
          <a:p>
            <a:pPr algn="l" marL="152400" indent="-152400"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ui-refine.scss：筛选栏 / 表格 / 8px 栅格 / 响应式断点（1200 · 992 · 768），全部走设计 token</a:t>
            </a:r>
            <a:endParaRPr lang="en-US" sz="1150" dirty="0"/>
          </a:p>
          <a:p>
            <a:pPr algn="l" marL="152400" indent="-152400"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质量门禁：Token 契约测试 + 10 页视觉回归基线；lint / vue-tsc 0 告警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28016" cy="12801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676656" y="329184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D6A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 技术架构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v1.16.0：系统管理梳理 + 危险操作硬化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274552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帮扶管理信息系统 v1.17.3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1645920"/>
            <a:ext cx="5486400" cy="448056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A2E24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49808" y="18745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F4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系统管理与安全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49808" y="2331720"/>
            <a:ext cx="49377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2400" indent="-152400"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 个聚合页改「左分组 + 右内容」，30 个 tab 按语义归组；纯呈现层，不改菜单 key / tab path / 权限 / ?tab= 深链</a:t>
            </a:r>
            <a:endParaRPr lang="en-US" sz="1150" dirty="0"/>
          </a:p>
          <a:p>
            <a:pPr algn="l" marL="152400" indent="-152400"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危险操作两档确认（useDangerConfirm）；重置他人密码必须手工输入目标用户名</a:t>
            </a:r>
            <a:endParaRPr lang="en-US" sz="1150" dirty="0"/>
          </a:p>
          <a:p>
            <a:pPr algn="l" marL="152400" indent="-152400"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四类危险操作强制审计：删除组织 / 恢复备份 / 轮换密钥 / 管理员重置密码</a:t>
            </a:r>
            <a:endParaRPr lang="en-US" sz="1150" dirty="0"/>
          </a:p>
          <a:p>
            <a:pPr algn="l" marL="152400" indent="-152400"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权限抽屉「生效概览」：角色 + 数据范围 + 菜单来源一屏可见</a:t>
            </a:r>
            <a:endParaRPr lang="en-US" sz="1150" dirty="0"/>
          </a:p>
          <a:p>
            <a:pPr algn="l" marL="152400" indent="-152400"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设备与授权中心：机器码 / 通行码批量复制，直达单位授权配置与导入授权包</a:t>
            </a:r>
            <a:endParaRPr lang="en-US" sz="1150" dirty="0"/>
          </a:p>
          <a:p>
            <a:pPr algn="l" marL="152400" indent="-152400"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备份权限：普通用户可创建备份，下载 / 恢复 / 删除仍限管理员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63640" y="1645920"/>
            <a:ext cx="5486400" cy="448056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A2E24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556248" y="1874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F4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离线能力与门禁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556248" y="2331720"/>
            <a:ext cx="49377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2400" indent="-152400"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离线瓦片地图：Leaflet 栅格瓦片，瓦片包构建机预置并进安装包；npm run tiles:verify</a:t>
            </a:r>
            <a:endParaRPr lang="en-US" sz="1150" dirty="0"/>
          </a:p>
          <a:p>
            <a:pPr algn="l" marL="152400" indent="-152400"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PII 密钥跨机迁移：/system/pii-key 查看指纹 / 导出 / 导入（只记指纹不记密钥本体）</a:t>
            </a:r>
            <a:endParaRPr lang="en-US" sz="1150" dirty="0"/>
          </a:p>
          <a:p>
            <a:pPr algn="l" marL="152400" indent="-152400"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ARM64 离线 OCR 出包门禁：真实识别冒烟 + 载荷断言，保持零外部依赖</a:t>
            </a:r>
            <a:endParaRPr lang="en-US" sz="1150" dirty="0"/>
          </a:p>
          <a:p>
            <a:pPr algn="l" marL="152400" indent="-152400"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新门禁：console tab ↔ TAB_COMPONENTS 双向一致、文档数字漂移、安全审计覆盖棘轮</a:t>
            </a:r>
            <a:endParaRPr lang="en-US" sz="1150" dirty="0"/>
          </a:p>
          <a:p>
            <a:pPr algn="l" marL="152400" indent="-152400"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修复：R33 单位授权两个 tab 因漏加组件映射而不可见（契约 28 → 30）</a:t>
            </a:r>
            <a:endParaRPr lang="en-US" sz="1150" dirty="0"/>
          </a:p>
          <a:p>
            <a:pPr algn="l" marL="152400" indent="-152400"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本版移出 R35 删表迁移：升级演练暴露数据丢失 / 升级中断风险，schema 维持 r34 head</a:t>
            </a:r>
            <a:endParaRPr lang="en-US" sz="11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28016" cy="12801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676656" y="329184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D6A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 技术架构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v1.17.2：端到端排查 —— 单测绿、真机废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274552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帮扶管理信息系统 v1.17.3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1645920"/>
            <a:ext cx="5486400" cy="448056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A2E24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49808" y="18745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F4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两个真机缺陷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49808" y="2331720"/>
            <a:ext cx="49377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2400" indent="-152400"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组织创建恒 422：OrganizationCreate 漏 code 字段，端点直读 data.code</a:t>
            </a:r>
            <a:endParaRPr lang="en-US" sz="1150" dirty="0"/>
          </a:p>
          <a:p>
            <a:pPr algn="l" marL="152400" indent="-152400"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单测用 MagicMock 传 data 不会暴露 → 新装机器无法创建任何组织</a:t>
            </a:r>
            <a:endParaRPr lang="en-US" sz="1150" dirty="0"/>
          </a:p>
          <a:p>
            <a:pPr algn="l" marL="152400" indent="-152400"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系统自检恒 404：后端注册在 /api/v1/self-check，前端调 /api/v1/system/self-check</a:t>
            </a:r>
            <a:endParaRPr lang="en-US" sz="1150" dirty="0"/>
          </a:p>
          <a:p>
            <a:pPr algn="l" marL="152400" indent="-152400"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两者都属「测试全绿、真机全废」，覆盖率 100% 也拦不住</a:t>
            </a:r>
            <a:endParaRPr lang="en-US" sz="1150" dirty="0"/>
          </a:p>
          <a:p>
            <a:pPr algn="l" marL="152400" indent="-152400"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修法：code 必填 6 位；自检改为经 system 包聚合注册并删除根级重复注册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63640" y="1645920"/>
            <a:ext cx="5486400" cy="448056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A2E24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556248" y="1874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F4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排查方法与防回归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556248" y="2331720"/>
            <a:ext cx="49377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2400" indent="-152400"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隔离实例（独立 DB + 独立端口）走真实 HTTP 全链路：登录→强制改密→CSRF→组织树→数据包→自检</a:t>
            </a:r>
            <a:endParaRPr lang="en-US" sz="1150" dirty="0"/>
          </a:p>
          <a:p>
            <a:pPr algn="l" marL="152400" indent="-152400"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新增 TestClient 契约测试 8 例，锁定「缺 code/短码/非数字码 → 422」</a:t>
            </a:r>
            <a:endParaRPr lang="en-US" sz="1150" dirty="0"/>
          </a:p>
          <a:p>
            <a:pPr algn="l" marL="152400" indent="-152400"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路径契约用例：断言前端 selfCheck.ts 与后端路由一致，根级不存在</a:t>
            </a:r>
            <a:endParaRPr lang="en-US" sz="1150" dirty="0"/>
          </a:p>
          <a:p>
            <a:pPr algn="l" marL="152400" indent="-152400"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全仓契约审计：412 条前端路径 vs 720 条后端路由，零错位</a:t>
            </a:r>
            <a:endParaRPr lang="en-US" sz="1150" dirty="0"/>
          </a:p>
          <a:p>
            <a:pPr algn="l" marL="152400" indent="-152400"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死代码清理：6 个未接入组件 + barrel + 3 个一次性脚本（ErrorBoundary 经核实仍在用）</a:t>
            </a:r>
            <a:endParaRPr lang="en-US" sz="11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28016" cy="12801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676656" y="329184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D6A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 技术架构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v1.17.3：安装包可用性 —— 只在真机出现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274552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14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帮扶管理信息系统 v1.17.3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1645920"/>
            <a:ext cx="5486400" cy="448056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A2E24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49808" y="18745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F4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两处真机缺陷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49808" y="2331720"/>
            <a:ext cx="49377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2400" indent="-152400"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打包后端找不到前端 → 桌面白屏：onedir 布局 _MEIPASS = _internal，前端在 &lt;resources&gt;/frontend（与 backend 同级）</a:t>
            </a:r>
            <a:endParaRPr lang="en-US" sz="1150" dirty="0"/>
          </a:p>
          <a:p>
            <a:pPr algn="l" marL="152400" indent="-152400"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原候选表缺「自 _MEIPASS 上溯三级」：漏传 FRONTEND_DIST_PATH 时访问 / 返回 404</a:t>
            </a:r>
            <a:endParaRPr lang="en-US" sz="1150" dirty="0"/>
          </a:p>
          <a:p>
            <a:pPr algn="l" marL="152400" indent="-152400"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启动日志误报「关键文件缺失」：对 4 个 .py 做存在性检查，打包后源码已编译进 exe → 每次刷 4 条 WARNING</a:t>
            </a:r>
            <a:endParaRPr lang="en-US" sz="1150" dirty="0"/>
          </a:p>
          <a:p>
            <a:pPr algn="l" marL="152400" indent="-152400"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修法：新增两条目录候选（_MEIPASS 上溯三级 / 冻结 exe 上溯四级）</a:t>
            </a:r>
            <a:endParaRPr lang="en-US" sz="1150" dirty="0"/>
          </a:p>
          <a:p>
            <a:pPr algn="l" marL="152400" indent="-152400"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修法：sys.frozen 时跳过源码检查并记 INFO，开发态逻辑原样保留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63640" y="1645920"/>
            <a:ext cx="5486400" cy="448056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A2E24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556248" y="1874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F4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离线安装包实测（空 %APPDATA%）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556248" y="2331720"/>
            <a:ext cx="49377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2400" indent="-152400"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自动建库：data / data_sync / uploads / archives / cache / logs / offline_tiles</a:t>
            </a:r>
            <a:endParaRPr lang="en-US" sz="1150" dirty="0"/>
          </a:p>
          <a:p>
            <a:pPr algn="l" marL="152400" indent="-152400"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/health 200，status=ok，migration.at_head=true</a:t>
            </a:r>
            <a:endParaRPr lang="en-US" sz="1150" dirty="0"/>
          </a:p>
          <a:p>
            <a:pPr algn="l" marL="152400" indent="-152400"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出厂口令登录 200，must_change_password=true</a:t>
            </a:r>
            <a:endParaRPr lang="en-US" sz="1150" dirty="0"/>
          </a:p>
          <a:p>
            <a:pPr algn="l" marL="152400" indent="-152400"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访问 / 修复后 200 且含 id=app（修复前 404）</a:t>
            </a:r>
            <a:endParaRPr lang="en-US" sz="1150" dirty="0"/>
          </a:p>
          <a:p>
            <a:pPr algn="l" marL="152400" indent="-152400"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启动日志不再出现「关键文件缺失」误报</a:t>
            </a:r>
            <a:endParaRPr lang="en-US" sz="1150" dirty="0"/>
          </a:p>
          <a:p>
            <a:pPr algn="l" marL="152400" indent="-152400"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结论：空环境首装即可用，不依赖外部环境变量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28016" cy="12801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676656" y="329184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D6A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 技术架构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后端工程：一个请求的旅程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274552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帮扶管理信息系统 v1.17.3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1828800"/>
            <a:ext cx="2395728" cy="914400"/>
          </a:xfrm>
          <a:prstGeom prst="chevron">
            <a:avLst/>
          </a:prstGeom>
          <a:solidFill>
            <a:srgbClr val="1F4A38"/>
          </a:solidFill>
          <a:ln/>
        </p:spPr>
      </p:sp>
      <p:sp>
        <p:nvSpPr>
          <p:cNvPr id="8" name="Text 6"/>
          <p:cNvSpPr/>
          <p:nvPr/>
        </p:nvSpPr>
        <p:spPr>
          <a:xfrm>
            <a:off x="621792" y="193852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审计中间件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02920" y="288036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记录 谁·何时·做什么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2761488" y="1828800"/>
            <a:ext cx="2395728" cy="914400"/>
          </a:xfrm>
          <a:prstGeom prst="chevron">
            <a:avLst/>
          </a:prstGeom>
          <a:solidFill>
            <a:srgbClr val="1F4A38"/>
          </a:solidFill>
          <a:ln/>
        </p:spPr>
      </p:sp>
      <p:sp>
        <p:nvSpPr>
          <p:cNvPr id="11" name="Text 9"/>
          <p:cNvSpPr/>
          <p:nvPr/>
        </p:nvSpPr>
        <p:spPr>
          <a:xfrm>
            <a:off x="2926080" y="193852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认证与限流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2807208" y="288036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JWT 校验 · Token 黑名单 · 滑动窗口限流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065776" y="1828800"/>
            <a:ext cx="2395728" cy="914400"/>
          </a:xfrm>
          <a:prstGeom prst="chevron">
            <a:avLst/>
          </a:prstGeom>
          <a:solidFill>
            <a:srgbClr val="1F4A38"/>
          </a:solidFill>
          <a:ln/>
        </p:spPr>
      </p:sp>
      <p:sp>
        <p:nvSpPr>
          <p:cNvPr id="14" name="Text 12"/>
          <p:cNvSpPr/>
          <p:nvPr/>
        </p:nvSpPr>
        <p:spPr>
          <a:xfrm>
            <a:off x="5230368" y="193852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数据范围过滤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5111496" y="288036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按角色 + 组织自动限定可见数据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370064" y="1828800"/>
            <a:ext cx="2395728" cy="914400"/>
          </a:xfrm>
          <a:prstGeom prst="chevron">
            <a:avLst/>
          </a:prstGeom>
          <a:solidFill>
            <a:srgbClr val="1F4A38"/>
          </a:solidFill>
          <a:ln/>
        </p:spPr>
      </p:sp>
      <p:sp>
        <p:nvSpPr>
          <p:cNvPr id="17" name="Text 15"/>
          <p:cNvSpPr/>
          <p:nvPr/>
        </p:nvSpPr>
        <p:spPr>
          <a:xfrm>
            <a:off x="7534656" y="193852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业务服务层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415784" y="288036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107 个服务：资金 / 项目 / 数据包 / 审批 / 一户一档 / OCR…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674352" y="1828800"/>
            <a:ext cx="2395728" cy="914400"/>
          </a:xfrm>
          <a:prstGeom prst="chevron">
            <a:avLst/>
          </a:prstGeom>
          <a:solidFill>
            <a:srgbClr val="2D6A4F"/>
          </a:solidFill>
          <a:ln/>
        </p:spPr>
      </p:sp>
      <p:sp>
        <p:nvSpPr>
          <p:cNvPr id="20" name="Text 18"/>
          <p:cNvSpPr/>
          <p:nvPr/>
        </p:nvSpPr>
        <p:spPr>
          <a:xfrm>
            <a:off x="9838944" y="1938528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统一信封响应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9720072" y="288036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success_response / ok_list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57200" y="3977640"/>
            <a:ext cx="11274552" cy="2286000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A2E24">
                <a:alpha val="13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49808" y="4160520"/>
            <a:ext cx="10689336" cy="3357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F4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工程纪律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749808" y="4578572"/>
            <a:ext cx="10689336" cy="15387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2400" indent="-152400">
              <a:spcAft>
                <a:spcPts val="600"/>
              </a:spcAft>
              <a:buSzPct val="100000"/>
              <a:buChar char="▪"/>
            </a:pPr>
            <a:r>
              <a:rPr lang="en-US" sz="105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事务工具箱：with_transaction / 嵌套事务 / 死锁重试 / 批量操作（1000 条/批）</a:t>
            </a:r>
            <a:endParaRPr lang="en-US" sz="1050" dirty="0"/>
          </a:p>
          <a:p>
            <a:pPr algn="l" marL="152400" indent="-152400">
              <a:spcAft>
                <a:spcPts val="600"/>
              </a:spcAft>
              <a:buSzPct val="100000"/>
              <a:buChar char="▪"/>
            </a:pPr>
            <a:r>
              <a:rPr lang="en-US" sz="105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错误细节不出站：detail 一律泛化文案 + 日志 exc_info（源码扫描测试强制拦截）</a:t>
            </a:r>
            <a:endParaRPr lang="en-US" sz="1050" dirty="0"/>
          </a:p>
          <a:p>
            <a:pPr algn="l" marL="152400" indent="-152400">
              <a:spcAft>
                <a:spcPts val="600"/>
              </a:spcAft>
              <a:buSzPct val="100000"/>
              <a:buChar char="▪"/>
            </a:pPr>
            <a:r>
              <a:rPr lang="en-US" sz="105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响应格式统一：全部列表端点走 ok_list 信封</a:t>
            </a:r>
            <a:endParaRPr lang="en-US" sz="1050" dirty="0"/>
          </a:p>
          <a:p>
            <a:pPr algn="l" marL="152400" indent="-152400">
              <a:spcAft>
                <a:spcPts val="600"/>
              </a:spcAft>
              <a:buSzPct val="100000"/>
              <a:buChar char="▪"/>
            </a:pPr>
            <a:r>
              <a:rPr lang="en-US" sz="105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v1.14.0 新模块坚守：EncryptedText PII（一户一档）、软删必带 is_active、数据域 get_org_scope</a:t>
            </a:r>
            <a:endParaRPr lang="en-US" sz="1050" dirty="0"/>
          </a:p>
          <a:p>
            <a:pPr algn="l" marL="152400" indent="-152400">
              <a:spcAft>
                <a:spcPts val="600"/>
              </a:spcAft>
              <a:buSzPct val="100000"/>
              <a:buChar char="▪"/>
            </a:pPr>
            <a:r>
              <a:rPr lang="en-US" sz="105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flake8 --count=0 与 bandit 中高危=0 是硬门禁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28016" cy="12801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676656" y="329184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D6A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 技术架构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数据层：64 个模型的安全基座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274552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帮扶管理信息系统 v1.17.3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1645920"/>
            <a:ext cx="5394960" cy="448056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A2E24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49808" y="18745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F4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模型与迁移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49808" y="2331720"/>
            <a:ext cx="484632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2400" indent="-1524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64 个模型文件 / 122 张表：村、一户一档、项目、资金、影像、消费台账…</a:t>
            </a:r>
            <a:endParaRPr lang="en-US" sz="1250" dirty="0"/>
          </a:p>
          <a:p>
            <a:pPr algn="l" marL="152400" indent="-1524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v1.14.0 数据迁移：+5 新表（households 三表 / photo_archives / consumption_records），−4 旧表（villages/villagers/industries/sentiment_news）</a:t>
            </a:r>
            <a:endParaRPr lang="en-US" sz="1250" dirty="0"/>
          </a:p>
          <a:p>
            <a:pPr algn="l" marL="152400" indent="-1524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TimestampMixin：created_at / updated_at / sync_version 自动维护</a:t>
            </a:r>
            <a:endParaRPr lang="en-US" sz="1250" dirty="0"/>
          </a:p>
          <a:p>
            <a:pPr algn="l" marL="152400" indent="-1524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SoftDeleteMixin：is_active 软删 + deleted_by 审计列</a:t>
            </a:r>
            <a:endParaRPr lang="en-US" sz="1250" dirty="0"/>
          </a:p>
          <a:p>
            <a:pPr algn="l" marL="152400" indent="-1524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Schema 权威来源 = models/ + Alembic 54 版本单 head（init.sql 已删除）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172200" y="1645920"/>
            <a:ext cx="5577840" cy="448056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A2E24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64808" y="18745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F4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完整性守护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64808" y="2331720"/>
            <a:ext cx="50292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2400" indent="-1524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组织删除级联守卫：名下有项目/用户时拒绝硬删（ADR-0003）</a:t>
            </a:r>
            <a:endParaRPr lang="en-US" sz="1350" dirty="0"/>
          </a:p>
          <a:p>
            <a:pPr algn="l" marL="152400" indent="-1524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projects 组织外键 CASCADE→SET NULL，截断级联删除链</a:t>
            </a:r>
            <a:endParaRPr lang="en-US" sz="1350" dirty="0"/>
          </a:p>
          <a:p>
            <a:pPr algn="l" marL="152400" indent="-1524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PII 列 EncryptedText：写入自动加密、读取自动解密（ADR-0005）</a:t>
            </a:r>
            <a:endParaRPr lang="en-US" sz="1350" dirty="0"/>
          </a:p>
          <a:p>
            <a:pPr algn="l" marL="152400" indent="-1524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sync_version 增量水位：ORM 事件自动递增，支撑增量数据包</a:t>
            </a:r>
            <a:endParaRPr lang="en-US" sz="1350" dirty="0"/>
          </a:p>
          <a:p>
            <a:pPr algn="l" marL="152400" indent="-1524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删库守卫：库完整性校验失败默认拒绝启动（ALLOW_DB_RESET 显式解锁）</a:t>
            </a:r>
            <a:endParaRPr lang="en-US" sz="13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28016" cy="12801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676656" y="329184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D6A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02 技术架构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离线优先：数据如何“随人走”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274552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17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帮扶管理信息系统 v1.17.3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1645920"/>
            <a:ext cx="5394960" cy="2286000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A2E24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49808" y="18288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F4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单机模式（默认）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749808" y="2286000"/>
            <a:ext cx="48463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2400" indent="-1524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数据全部在本机 %APPDATA% 数据库文件</a:t>
            </a:r>
            <a:endParaRPr lang="en-US" sz="1300" dirty="0"/>
          </a:p>
          <a:p>
            <a:pPr algn="l" marL="152400" indent="-1524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智能备份中心：自动/即时/磁盘检测/备份到 U 盘</a:t>
            </a:r>
            <a:endParaRPr lang="en-US" sz="1300" dirty="0"/>
          </a:p>
          <a:p>
            <a:pPr algn="l" marL="152400" indent="-1524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断网零功能损失（AI 增强除外，可关闭）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72200" y="1645920"/>
            <a:ext cx="5577840" cy="2286000"/>
          </a:xfrm>
          <a:prstGeom prst="roundRect">
            <a:avLst>
              <a:gd name="adj" fmla="val 28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A2E24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464808" y="18288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F4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多机协同模式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6464808" y="2286000"/>
            <a:ext cx="5029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2400" indent="-1524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加密数据包（口令 + PBKDF2）在机器间摆渡</a:t>
            </a:r>
            <a:endParaRPr lang="en-US" sz="1300" dirty="0"/>
          </a:p>
          <a:p>
            <a:pPr algn="l" marL="152400" indent="-1524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包内 manifest 记录 org/类型/记录数/校验和</a:t>
            </a:r>
            <a:endParaRPr lang="en-US" sz="1300" dirty="0"/>
          </a:p>
          <a:p>
            <a:pPr algn="l" marL="152400" indent="-1524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跨机同步需配置相同 ENCRYPTION_KEY（密文可解）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4434840"/>
            <a:ext cx="1572768" cy="777240"/>
          </a:xfrm>
          <a:prstGeom prst="roundRect">
            <a:avLst>
              <a:gd name="adj" fmla="val 7059"/>
            </a:avLst>
          </a:prstGeom>
          <a:solidFill>
            <a:srgbClr val="1F4A38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4434840"/>
            <a:ext cx="15727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本机 SQLite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231136" y="4818888"/>
            <a:ext cx="256032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2523744" y="4434840"/>
            <a:ext cx="1572768" cy="777240"/>
          </a:xfrm>
          <a:prstGeom prst="roundRect">
            <a:avLst>
              <a:gd name="adj" fmla="val 7059"/>
            </a:avLst>
          </a:prstGeom>
          <a:solidFill>
            <a:srgbClr val="1F4A38"/>
          </a:solidFill>
          <a:ln/>
        </p:spPr>
      </p:sp>
      <p:sp>
        <p:nvSpPr>
          <p:cNvPr id="17" name="Text 15"/>
          <p:cNvSpPr/>
          <p:nvPr/>
        </p:nvSpPr>
        <p:spPr>
          <a:xfrm>
            <a:off x="2523744" y="4434840"/>
            <a:ext cx="15727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导出数据包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114800" y="4818888"/>
            <a:ext cx="256032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4407408" y="4434840"/>
            <a:ext cx="1572768" cy="777240"/>
          </a:xfrm>
          <a:prstGeom prst="roundRect">
            <a:avLst>
              <a:gd name="adj" fmla="val 7059"/>
            </a:avLst>
          </a:prstGeom>
          <a:solidFill>
            <a:srgbClr val="C9A227"/>
          </a:solidFill>
          <a:ln/>
        </p:spPr>
      </p:sp>
      <p:sp>
        <p:nvSpPr>
          <p:cNvPr id="20" name="Text 18"/>
          <p:cNvSpPr/>
          <p:nvPr/>
        </p:nvSpPr>
        <p:spPr>
          <a:xfrm>
            <a:off x="4407408" y="4434840"/>
            <a:ext cx="15727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加密 .zip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98464" y="4818888"/>
            <a:ext cx="256032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6291072" y="4434840"/>
            <a:ext cx="1572768" cy="777240"/>
          </a:xfrm>
          <a:prstGeom prst="roundRect">
            <a:avLst>
              <a:gd name="adj" fmla="val 7059"/>
            </a:avLst>
          </a:prstGeom>
          <a:solidFill>
            <a:srgbClr val="1F4A38"/>
          </a:solidFill>
          <a:ln/>
        </p:spPr>
      </p:sp>
      <p:sp>
        <p:nvSpPr>
          <p:cNvPr id="23" name="Text 21"/>
          <p:cNvSpPr/>
          <p:nvPr/>
        </p:nvSpPr>
        <p:spPr>
          <a:xfrm>
            <a:off x="6291072" y="4434840"/>
            <a:ext cx="15727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介质摆渡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7882128" y="4818888"/>
            <a:ext cx="256032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8174736" y="4434840"/>
            <a:ext cx="1572768" cy="777240"/>
          </a:xfrm>
          <a:prstGeom prst="roundRect">
            <a:avLst>
              <a:gd name="adj" fmla="val 7059"/>
            </a:avLst>
          </a:prstGeom>
          <a:solidFill>
            <a:srgbClr val="1F4A38"/>
          </a:solidFill>
          <a:ln/>
        </p:spPr>
      </p:sp>
      <p:sp>
        <p:nvSpPr>
          <p:cNvPr id="26" name="Text 24"/>
          <p:cNvSpPr/>
          <p:nvPr/>
        </p:nvSpPr>
        <p:spPr>
          <a:xfrm>
            <a:off x="8174736" y="4434840"/>
            <a:ext cx="15727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对端导入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9765792" y="4818888"/>
            <a:ext cx="256032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10058400" y="4434840"/>
            <a:ext cx="1572768" cy="777240"/>
          </a:xfrm>
          <a:prstGeom prst="roundRect">
            <a:avLst>
              <a:gd name="adj" fmla="val 7059"/>
            </a:avLst>
          </a:prstGeom>
          <a:solidFill>
            <a:srgbClr val="1F4A38"/>
          </a:solidFill>
          <a:ln/>
        </p:spPr>
      </p:sp>
      <p:sp>
        <p:nvSpPr>
          <p:cNvPr id="29" name="Text 27"/>
          <p:cNvSpPr/>
          <p:nvPr/>
        </p:nvSpPr>
        <p:spPr>
          <a:xfrm>
            <a:off x="10058400" y="4434840"/>
            <a:ext cx="157276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确认落库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57200" y="562356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全流程留痕：导入/导出/确认各环节写入工作日志与操作历史，包完整性校验失败即中止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429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822960"/>
            <a:ext cx="4206240" cy="431512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0" b="1" dirty="0">
                <a:solidFill>
                  <a:srgbClr val="1C36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</a:t>
            </a:r>
            <a:endParaRPr lang="en-US" sz="20000" dirty="0"/>
          </a:p>
        </p:txBody>
      </p:sp>
      <p:sp>
        <p:nvSpPr>
          <p:cNvPr id="3" name="Text 1"/>
          <p:cNvSpPr/>
          <p:nvPr/>
        </p:nvSpPr>
        <p:spPr>
          <a:xfrm>
            <a:off x="914400" y="3977640"/>
            <a:ext cx="10332720" cy="87765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功能模块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932688" y="48920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C9A22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FUNCTIONAL MODULES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406640" y="1417320"/>
            <a:ext cx="42062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2400" indent="-1524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D7E2D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一个工作台 + 六大板块 · 104 个菜单 key（16 legacy）</a:t>
            </a:r>
            <a:endParaRPr lang="en-US" sz="1400" dirty="0"/>
          </a:p>
          <a:p>
            <a:pPr algn="l" marL="152400" indent="-1524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D7E2D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一户一档 / 影像库 / 消费帮扶 三新模块</a:t>
            </a:r>
            <a:endParaRPr lang="en-US" sz="1400" dirty="0"/>
          </a:p>
          <a:p>
            <a:pPr algn="l" marL="152400" indent="-1524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D7E2D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经费凭证 OCR · 报表模板组合导出</a:t>
            </a:r>
            <a:endParaRPr lang="en-US" sz="1400" dirty="0"/>
          </a:p>
          <a:p>
            <a:pPr algn="l" marL="152400" indent="-1524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D7E2D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系统管理：6 个聚合页 · 页内 Tab 切换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274552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6E817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18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28016" cy="12801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676656" y="329184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D6A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 功能模块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功能地图：一个工作台 + 六大板块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274552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19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帮扶管理信息系统 v1.17.3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1645920"/>
            <a:ext cx="2743200" cy="1901952"/>
          </a:xfrm>
          <a:prstGeom prst="roundRect">
            <a:avLst>
              <a:gd name="adj" fmla="val 33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A2E24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58368" y="176479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F4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工作台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658368" y="2148840"/>
            <a:ext cx="239572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固定首位 · 板块级入口（R35）：KPI 卡 · 待办聚合 · 快捷操作 · 年度趋势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58368" y="3145536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i="1" dirty="0">
                <a:solidFill>
                  <a:srgbClr val="2D6A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dashboard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346704" y="1645920"/>
            <a:ext cx="2743200" cy="1901952"/>
          </a:xfrm>
          <a:prstGeom prst="roundRect">
            <a:avLst>
              <a:gd name="adj" fmla="val 33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A2E24">
                <a:alpha val="13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547872" y="176479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F4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帮扶业务</a:t>
            </a:r>
            <a:endParaRPr lang="en-US" sz="1550" dirty="0"/>
          </a:p>
        </p:txBody>
      </p:sp>
      <p:sp>
        <p:nvSpPr>
          <p:cNvPr id="13" name="Text 11"/>
          <p:cNvSpPr/>
          <p:nvPr/>
        </p:nvSpPr>
        <p:spPr>
          <a:xfrm>
            <a:off x="3547872" y="2148840"/>
            <a:ext cx="239572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帮扶村 10 板块（含一户一档入口）· 项目全周期 · 经费台账/申请/资金周期 · 结对/捐赠/政策/移交 · 消费帮扶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3547872" y="3145536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i="1" dirty="0">
                <a:solidFill>
                  <a:srgbClr val="2D6A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villages / households / funds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236208" y="1645920"/>
            <a:ext cx="2743200" cy="1901952"/>
          </a:xfrm>
          <a:prstGeom prst="roundRect">
            <a:avLst>
              <a:gd name="adj" fmla="val 33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A2E24">
                <a:alpha val="13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437376" y="176479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F4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乡村振兴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6437376" y="2148840"/>
            <a:ext cx="239572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工作首页 · 工作列表（驻村工作台已于 v1.14.0 下线）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437376" y="3145536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i="1" dirty="0">
                <a:solidFill>
                  <a:srgbClr val="2D6A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rural-works / rural-works-list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9125712" y="1645920"/>
            <a:ext cx="2743200" cy="1901952"/>
          </a:xfrm>
          <a:prstGeom prst="roundRect">
            <a:avLst>
              <a:gd name="adj" fmla="val 33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A2E24">
                <a:alpha val="13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326880" y="176479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F4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工作协同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9326880" y="2148840"/>
            <a:ext cx="239572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待办 · 审批管理（总览/待审批/我的申请/历史）· 日历 · 提醒 · 消息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9326880" y="3145536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i="1" dirty="0">
                <a:solidFill>
                  <a:srgbClr val="2D6A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todos / approval / reminder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57200" y="3794760"/>
            <a:ext cx="2743200" cy="1901952"/>
          </a:xfrm>
          <a:prstGeom prst="roundRect">
            <a:avLst>
              <a:gd name="adj" fmla="val 33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A2E24">
                <a:alpha val="13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658368" y="391363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F4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分析汇报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658368" y="4297680"/>
            <a:ext cx="239572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汇报大屏 · 数据分析（仪表盘/地图/工作分析/成效排名评估）· 报表模板/导出 · 影像库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58368" y="5294376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i="1" dirty="0">
                <a:solidFill>
                  <a:srgbClr val="2D6A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bigscreen / analytics / media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346704" y="3794760"/>
            <a:ext cx="2743200" cy="1901952"/>
          </a:xfrm>
          <a:prstGeom prst="roundRect">
            <a:avLst>
              <a:gd name="adj" fmla="val 33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A2E24">
                <a:alpha val="13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547872" y="391363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F4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数据管理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3547872" y="4297680"/>
            <a:ext cx="239572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概览 · 导入导出 · 数据包与批量导入 · 数据校验（三 Tab）· 综合录入 · 批量操作 · 数据上报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3547872" y="5294376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i="1" dirty="0">
                <a:solidFill>
                  <a:srgbClr val="2D6A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data-package / data-upload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236208" y="3794760"/>
            <a:ext cx="2743200" cy="1901952"/>
          </a:xfrm>
          <a:prstGeom prst="roundRect">
            <a:avLst>
              <a:gd name="adj" fmla="val 336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A2E24">
                <a:alpha val="13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6437376" y="3913632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50" b="1" dirty="0">
                <a:solidFill>
                  <a:srgbClr val="1F4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系统管理</a:t>
            </a:r>
            <a:endParaRPr lang="en-US" sz="1550" dirty="0"/>
          </a:p>
        </p:txBody>
      </p:sp>
      <p:sp>
        <p:nvSpPr>
          <p:cNvPr id="33" name="Text 31"/>
          <p:cNvSpPr/>
          <p:nvPr/>
        </p:nvSpPr>
        <p:spPr>
          <a:xfrm>
            <a:off x="6437376" y="4297680"/>
            <a:ext cx="2395728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 聚合页：组织与权限（含 R33 单位授权）/安全与审计/运维与监控/备份与存储/系统设置/关于与反馈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437376" y="5294376"/>
            <a:ext cx="23957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00" i="1" dirty="0">
                <a:solidFill>
                  <a:srgbClr val="2D6A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system-console-*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57200" y="6144768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菜单单一源（后端 v2）：6 板块 / 104 key / 84 路径 / 16 legacy · Ctrl+K 菜单搜索 · 收藏 / 最近访问 · 权限包三级裁剪 · 旧路由全部保留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28016" cy="12801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676656" y="329184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D6A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 功能模块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工作台：打开系统的第一屏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274552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帮扶管理信息系统 v1.17.3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1645920"/>
            <a:ext cx="5486400" cy="448056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A2E24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49808" y="18745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F4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个人工作台（UI v2.0）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49808" y="2331720"/>
            <a:ext cx="49377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2400" indent="-152400">
              <a:spcAft>
                <a:spcPts val="900"/>
              </a:spcAft>
              <a:buSzPct val="100000"/>
              <a:buChar char="▪"/>
            </a:pPr>
            <a:r>
              <a:rPr lang="en-US" sz="120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KPI 统计卡 .app-stat-card：数值 28/700 tabular-nums、趋势箭头 up/down，60s 自动刷新 + 手动刷新</a:t>
            </a:r>
            <a:endParaRPr lang="en-US" sz="1200" dirty="0"/>
          </a:p>
          <a:p>
            <a:pPr algn="l" marL="152400" indent="-152400">
              <a:spcAft>
                <a:spcPts val="900"/>
              </a:spcAft>
              <a:buSzPct val="100000"/>
              <a:buChar char="▪"/>
            </a:pPr>
            <a:r>
              <a:rPr lang="en-US" sz="120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待办清单：待审批 / 待办任务 / 未读消息，按优先级与到期排序、一键直达</a:t>
            </a:r>
            <a:endParaRPr lang="en-US" sz="1200" dirty="0"/>
          </a:p>
          <a:p>
            <a:pPr algn="l" marL="152400" indent="-152400">
              <a:spcAft>
                <a:spcPts val="900"/>
              </a:spcAft>
              <a:buSzPct val="100000"/>
              <a:buChar char="▪"/>
            </a:pPr>
            <a:r>
              <a:rPr lang="en-US" sz="120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快捷操作自定义布局（QuickActions 拖拽）+ 图表年度趋势（资金 / 项目双轴）</a:t>
            </a:r>
            <a:endParaRPr lang="en-US" sz="1200" dirty="0"/>
          </a:p>
          <a:p>
            <a:pPr algn="l" marL="152400" indent="-152400">
              <a:spcAft>
                <a:spcPts val="900"/>
              </a:spcAft>
              <a:buSzPct val="100000"/>
              <a:buChar char="▪"/>
            </a:pPr>
            <a:r>
              <a:rPr lang="en-US" sz="120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R35 方案 C：工作台提升为板块级入口（18px/700 + Home 图标），与六大板块标题同构</a:t>
            </a:r>
            <a:endParaRPr lang="en-US" sz="1200" dirty="0"/>
          </a:p>
          <a:p>
            <a:pPr algn="l" marL="152400" indent="-152400">
              <a:spcAft>
                <a:spcPts val="900"/>
              </a:spcAft>
              <a:buSzPct val="100000"/>
              <a:buChar char="▪"/>
            </a:pPr>
            <a:r>
              <a:rPr lang="en-US" sz="120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状态三件套统一：加载 .app-loading / 空态 .app-empty / 错误 .app-error（带重试）</a:t>
            </a:r>
            <a:endParaRPr lang="en-US" sz="1200" dirty="0"/>
          </a:p>
          <a:p>
            <a:pPr algn="l" marL="152400" indent="-152400">
              <a:spcAft>
                <a:spcPts val="900"/>
              </a:spcAft>
              <a:buSzPct val="100000"/>
              <a:buChar char="▪"/>
            </a:pPr>
            <a:r>
              <a:rPr lang="en-US" sz="120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角色裁剪：viewer 只见只读面板；工作台布局可预设/保存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63640" y="1645920"/>
            <a:ext cx="5486400" cy="448056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A2E24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556248" y="18745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F4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信息层级与可视化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556248" y="2331720"/>
            <a:ext cx="49377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2400" indent="-152400">
              <a:spcAft>
                <a:spcPts val="900"/>
              </a:spcAft>
              <a:buSzPct val="100000"/>
              <a:buChar char="▪"/>
            </a:pPr>
            <a:r>
              <a:rPr lang="en-US" sz="120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主图表在前，辅助信息（趋势箭头/说明）用 .stat-trend/.list-hint，简化模式自动隐藏</a:t>
            </a:r>
            <a:endParaRPr lang="en-US" sz="1200" dirty="0"/>
          </a:p>
          <a:p>
            <a:pPr algn="l" marL="152400" indent="-152400">
              <a:spcAft>
                <a:spcPts val="900"/>
              </a:spcAft>
              <a:buSzPct val="100000"/>
              <a:buChar char="▪"/>
            </a:pPr>
            <a:r>
              <a:rPr lang="en-US" sz="120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可点卡片 role="button" tabindex="0" + 键盘事件，键盘全流程可达</a:t>
            </a:r>
            <a:endParaRPr lang="en-US" sz="1200" dirty="0"/>
          </a:p>
          <a:p>
            <a:pPr algn="l" marL="152400" indent="-152400">
              <a:spcAft>
                <a:spcPts val="900"/>
              </a:spcAft>
              <a:buSzPct val="100000"/>
              <a:buChar char="▪"/>
            </a:pPr>
            <a:r>
              <a:rPr lang="en-US" sz="120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数字列等宽、表头浅主色 + 金色底线、去斑马纹（全局表格规范）</a:t>
            </a:r>
            <a:endParaRPr lang="en-US" sz="1200" dirty="0"/>
          </a:p>
          <a:p>
            <a:pPr algn="l" marL="152400" indent="-152400">
              <a:spcAft>
                <a:spcPts val="900"/>
              </a:spcAft>
              <a:buSzPct val="100000"/>
              <a:buChar char="▪"/>
            </a:pPr>
            <a:r>
              <a:rPr lang="en-US" sz="120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图表主题随设计 Token（军绿科技风），空数据不出现“白板图”</a:t>
            </a:r>
            <a:endParaRPr lang="en-US" sz="1200" dirty="0"/>
          </a:p>
          <a:p>
            <a:pPr algn="l" marL="152400" indent="-152400">
              <a:spcAft>
                <a:spcPts val="900"/>
              </a:spcAft>
              <a:buSzPct val="100000"/>
              <a:buChar char="▪"/>
            </a:pPr>
            <a:r>
              <a:rPr lang="en-US" sz="120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大屏入口：全屏汇报 + 按帮扶村/学校/单位筛选下钻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28016" cy="12801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676656" y="329184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D6A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 功能模块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帮扶村：一村一档，一年一账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274552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帮扶管理信息系统 v1.17.3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2697480" cy="960120"/>
          </a:xfrm>
          <a:prstGeom prst="roundRect">
            <a:avLst>
              <a:gd name="adj" fmla="val 5714"/>
            </a:avLst>
          </a:prstGeom>
          <a:solidFill>
            <a:srgbClr val="E8EFEA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691640"/>
            <a:ext cx="2697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4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基本情况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364992" y="1691640"/>
            <a:ext cx="2697480" cy="960120"/>
          </a:xfrm>
          <a:prstGeom prst="roundRect">
            <a:avLst>
              <a:gd name="adj" fmla="val 5714"/>
            </a:avLst>
          </a:prstGeom>
          <a:solidFill>
            <a:srgbClr val="E8EFEA"/>
          </a:solidFill>
          <a:ln/>
        </p:spPr>
      </p:sp>
      <p:sp>
        <p:nvSpPr>
          <p:cNvPr id="10" name="Text 8"/>
          <p:cNvSpPr/>
          <p:nvPr/>
        </p:nvSpPr>
        <p:spPr>
          <a:xfrm>
            <a:off x="3364992" y="1691640"/>
            <a:ext cx="2697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4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人口变动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272784" y="1691640"/>
            <a:ext cx="2697480" cy="960120"/>
          </a:xfrm>
          <a:prstGeom prst="roundRect">
            <a:avLst>
              <a:gd name="adj" fmla="val 5714"/>
            </a:avLst>
          </a:prstGeom>
          <a:solidFill>
            <a:srgbClr val="E8EFEA"/>
          </a:solidFill>
          <a:ln/>
        </p:spPr>
      </p:sp>
      <p:sp>
        <p:nvSpPr>
          <p:cNvPr id="12" name="Text 10"/>
          <p:cNvSpPr/>
          <p:nvPr/>
        </p:nvSpPr>
        <p:spPr>
          <a:xfrm>
            <a:off x="6272784" y="1691640"/>
            <a:ext cx="2697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4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收入结构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9180576" y="1691640"/>
            <a:ext cx="2697480" cy="960120"/>
          </a:xfrm>
          <a:prstGeom prst="roundRect">
            <a:avLst>
              <a:gd name="adj" fmla="val 5714"/>
            </a:avLst>
          </a:prstGeom>
          <a:solidFill>
            <a:srgbClr val="E8EFEA"/>
          </a:solidFill>
          <a:ln/>
        </p:spPr>
      </p:sp>
      <p:sp>
        <p:nvSpPr>
          <p:cNvPr id="14" name="Text 12"/>
          <p:cNvSpPr/>
          <p:nvPr/>
        </p:nvSpPr>
        <p:spPr>
          <a:xfrm>
            <a:off x="9180576" y="1691640"/>
            <a:ext cx="2697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4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产业帮扶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57200" y="2926080"/>
            <a:ext cx="2697480" cy="960120"/>
          </a:xfrm>
          <a:prstGeom prst="roundRect">
            <a:avLst>
              <a:gd name="adj" fmla="val 5714"/>
            </a:avLst>
          </a:prstGeom>
          <a:solidFill>
            <a:srgbClr val="E8EFEA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2926080"/>
            <a:ext cx="2697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4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基础设施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3364992" y="2926080"/>
            <a:ext cx="2697480" cy="960120"/>
          </a:xfrm>
          <a:prstGeom prst="roundRect">
            <a:avLst>
              <a:gd name="adj" fmla="val 5714"/>
            </a:avLst>
          </a:prstGeom>
          <a:solidFill>
            <a:srgbClr val="E8EFEA"/>
          </a:solidFill>
          <a:ln/>
        </p:spPr>
      </p:sp>
      <p:sp>
        <p:nvSpPr>
          <p:cNvPr id="18" name="Text 16"/>
          <p:cNvSpPr/>
          <p:nvPr/>
        </p:nvSpPr>
        <p:spPr>
          <a:xfrm>
            <a:off x="3364992" y="2926080"/>
            <a:ext cx="2697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4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组织建设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272784" y="2926080"/>
            <a:ext cx="2697480" cy="960120"/>
          </a:xfrm>
          <a:prstGeom prst="roundRect">
            <a:avLst>
              <a:gd name="adj" fmla="val 5714"/>
            </a:avLst>
          </a:prstGeom>
          <a:solidFill>
            <a:srgbClr val="E8EFEA"/>
          </a:solidFill>
          <a:ln/>
        </p:spPr>
      </p:sp>
      <p:sp>
        <p:nvSpPr>
          <p:cNvPr id="20" name="Text 18"/>
          <p:cNvSpPr/>
          <p:nvPr/>
        </p:nvSpPr>
        <p:spPr>
          <a:xfrm>
            <a:off x="6272784" y="2926080"/>
            <a:ext cx="2697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4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帮扶成效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9180576" y="2926080"/>
            <a:ext cx="2697480" cy="960120"/>
          </a:xfrm>
          <a:prstGeom prst="roundRect">
            <a:avLst>
              <a:gd name="adj" fmla="val 5714"/>
            </a:avLst>
          </a:prstGeom>
          <a:solidFill>
            <a:srgbClr val="E8EFEA"/>
          </a:solidFill>
          <a:ln/>
        </p:spPr>
      </p:sp>
      <p:sp>
        <p:nvSpPr>
          <p:cNvPr id="22" name="Text 20"/>
          <p:cNvSpPr/>
          <p:nvPr/>
        </p:nvSpPr>
        <p:spPr>
          <a:xfrm>
            <a:off x="9180576" y="2926080"/>
            <a:ext cx="269748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F4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年度对比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57200" y="4434840"/>
            <a:ext cx="11247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2400" indent="-152400">
              <a:spcAft>
                <a:spcPts val="800"/>
              </a:spcAft>
              <a:buSzPct val="100000"/>
              <a:buChar char="▪"/>
            </a:pPr>
            <a:r>
              <a:rPr lang="en-US" sz="110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按年度记录全村数据，跨年对比自动生成（人口/收入/资金投入趋势）</a:t>
            </a:r>
            <a:endParaRPr lang="en-US" sz="1100" dirty="0"/>
          </a:p>
          <a:p>
            <a:pPr algn="l" marL="152400" indent="-152400">
              <a:spcAft>
                <a:spcPts val="800"/>
              </a:spcAft>
              <a:buSzPct val="100000"/>
              <a:buChar char="▪"/>
            </a:pPr>
            <a:r>
              <a:rPr lang="en-US" sz="110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v1.15.15 起一户一档入口迁入本页：年度数据管理首卡按村预筛选；侧栏入口移除，菜单 key households 转 legacy（权限包/深链兼容）</a:t>
            </a:r>
            <a:endParaRPr lang="en-US" sz="1100" dirty="0"/>
          </a:p>
          <a:p>
            <a:pPr algn="l" marL="152400" indent="-152400">
              <a:spcAft>
                <a:spcPts val="800"/>
              </a:spcAft>
              <a:buSzPct val="100000"/>
              <a:buChar char="▪"/>
            </a:pPr>
            <a:r>
              <a:rPr lang="en-US" sz="110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村档案变更历史：字段级 old → new 记录，谁改的、何时改、改了什么全程可溯</a:t>
            </a:r>
            <a:endParaRPr lang="en-US" sz="1100" dirty="0"/>
          </a:p>
          <a:p>
            <a:pPr algn="l" marL="152400" indent="-152400">
              <a:spcAft>
                <a:spcPts val="800"/>
              </a:spcAft>
              <a:buSzPct val="100000"/>
              <a:buChar char="▪"/>
            </a:pPr>
            <a:r>
              <a:rPr lang="en-US" sz="110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村委会成员、脱贫跟踪、荣誉展示；软删除进回收站，管理员可恢复或彻底删除</a:t>
            </a:r>
            <a:endParaRPr lang="en-US" sz="1100" dirty="0"/>
          </a:p>
          <a:p>
            <a:pPr algn="l" marL="152400" indent="-152400">
              <a:spcAft>
                <a:spcPts val="800"/>
              </a:spcAft>
              <a:buSzPct val="100000"/>
              <a:buChar char="▪"/>
            </a:pPr>
            <a:r>
              <a:rPr lang="en-US" sz="110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年度板块数据支持 Excel 模板按板块导入；整村档案可导出（脱敏可选），支撑向上汇报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28016" cy="12801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676656" y="329184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D6A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 功能模块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一户一档：从“一村一档”细到“一户一档”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274552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帮扶管理信息系统 v1.17.3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1645920"/>
            <a:ext cx="5486400" cy="448056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A2E24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49808" y="1874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F4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户档案与成员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49808" y="2331720"/>
            <a:ext cx="49377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2400" indent="-152400">
              <a:spcAft>
                <a:spcPts val="900"/>
              </a:spcAft>
              <a:buSzPct val="100000"/>
              <a:buChar char="▪"/>
            </a:pPr>
            <a:r>
              <a:rPr lang="en-US" sz="125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户主 / 户编号 / 户类型（一般户 / 脱贫户 / 监测户）/ 风险类型与等级</a:t>
            </a:r>
            <a:endParaRPr lang="en-US" sz="1250" dirty="0"/>
          </a:p>
          <a:p>
            <a:pPr algn="l" marL="152400" indent="-152400">
              <a:spcAft>
                <a:spcPts val="900"/>
              </a:spcAft>
              <a:buSzPct val="100000"/>
              <a:buChar char="▪"/>
            </a:pPr>
            <a:r>
              <a:rPr lang="en-US" sz="125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帮扶责任人 + 联系电话（PII 透明加密，ADR-0005）</a:t>
            </a:r>
            <a:endParaRPr lang="en-US" sz="1250" dirty="0"/>
          </a:p>
          <a:p>
            <a:pPr algn="l" marL="152400" indent="-152400">
              <a:spcAft>
                <a:spcPts val="900"/>
              </a:spcAft>
              <a:buSzPct val="100000"/>
              <a:buChar char="▪"/>
            </a:pPr>
            <a:r>
              <a:rPr lang="en-US" sz="125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家庭成员：关系 / 身份证（加密）/ 健康 / 就业 / 个人年收入 / 兜底保障</a:t>
            </a:r>
            <a:endParaRPr lang="en-US" sz="1250" dirty="0"/>
          </a:p>
          <a:p>
            <a:pPr algn="l" marL="152400" indent="-152400">
              <a:spcAft>
                <a:spcPts val="900"/>
              </a:spcAft>
              <a:buSzPct val="100000"/>
              <a:buChar char="▪"/>
            </a:pPr>
            <a:r>
              <a:rPr lang="en-US" sz="125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走访挂户：走访记录关联到户，自动回写“最近走访日期”</a:t>
            </a:r>
            <a:endParaRPr lang="en-US" sz="1250" dirty="0"/>
          </a:p>
          <a:p>
            <a:pPr algn="l" marL="152400" indent="-152400">
              <a:spcAft>
                <a:spcPts val="900"/>
              </a:spcAft>
              <a:buSzPct val="100000"/>
              <a:buChar char="▪"/>
            </a:pPr>
            <a:r>
              <a:rPr lang="en-US" sz="125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台账导出 xlsx / csv（含成员数、风险等级）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63640" y="1645920"/>
            <a:ext cx="5486400" cy="448056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A2E24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556248" y="1874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F4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风险预警与汇总回填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556248" y="2331720"/>
            <a:ext cx="49377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2400" indent="-152400">
              <a:spcAft>
                <a:spcPts val="900"/>
              </a:spcAft>
              <a:buSzPct val="100000"/>
              <a:buChar char="▪"/>
            </a:pPr>
            <a:r>
              <a:rPr lang="en-US" sz="125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连续未走访 &gt;90 天且非一般户 → 中风险</a:t>
            </a:r>
            <a:endParaRPr lang="en-US" sz="1250" dirty="0"/>
          </a:p>
          <a:p>
            <a:pPr algn="l" marL="152400" indent="-152400">
              <a:spcAft>
                <a:spcPts val="900"/>
              </a:spcAft>
              <a:buSzPct val="100000"/>
              <a:buChar char="▪"/>
            </a:pPr>
            <a:r>
              <a:rPr lang="en-US" sz="125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大病 / 住房不安全 / 突发困难 → 高风险（逐项独立命中）</a:t>
            </a:r>
            <a:endParaRPr lang="en-US" sz="1250" dirty="0"/>
          </a:p>
          <a:p>
            <a:pPr algn="l" marL="152400" indent="-152400">
              <a:spcAft>
                <a:spcPts val="900"/>
              </a:spcAft>
              <a:buSzPct val="100000"/>
              <a:buChar char="▪"/>
            </a:pPr>
            <a:r>
              <a:rPr lang="en-US" sz="125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预警实时计算不落库；可一键登记风险记录并关闭闭环</a:t>
            </a:r>
            <a:endParaRPr lang="en-US" sz="1250" dirty="0"/>
          </a:p>
          <a:p>
            <a:pPr algn="l" marL="152400" indent="-152400">
              <a:spcAft>
                <a:spcPts val="900"/>
              </a:spcAft>
              <a:buSzPct val="100000"/>
              <a:buChar char="▪"/>
            </a:pPr>
            <a:r>
              <a:rPr lang="en-US" sz="125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一键汇总回填帮扶村年度人口：总户数 / 总人口 / 脱贫户 / 监测户（幂等 upsert）</a:t>
            </a:r>
            <a:endParaRPr lang="en-US" sz="1250" dirty="0"/>
          </a:p>
          <a:p>
            <a:pPr algn="l" marL="152400" indent="-152400">
              <a:spcAft>
                <a:spcPts val="900"/>
              </a:spcAft>
              <a:buSzPct val="100000"/>
              <a:buChar char="▪"/>
            </a:pPr>
            <a:r>
              <a:rPr lang="en-US" sz="125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数据域沿用：普通用户本人、管理员本组织及子树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57200" y="626364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v1.14.0 新增三表 + /households/* API（15 端点）；v1.15.15 入口迁入帮扶村年度数据页（路由 menuKey=villages，key households 转 legacy）</a:t>
            </a:r>
            <a:endParaRPr lang="en-US" sz="11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28016" cy="12801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676656" y="329184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D6A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 功能模块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项目管理：从立项到验收的全生命周期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274552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帮扶管理信息系统 v1.17.3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2011680" cy="822960"/>
          </a:xfrm>
          <a:prstGeom prst="chevron">
            <a:avLst/>
          </a:prstGeom>
          <a:solidFill>
            <a:srgbClr val="1F4A38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78308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立项申请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368296" y="1783080"/>
            <a:ext cx="2011680" cy="822960"/>
          </a:xfrm>
          <a:prstGeom prst="chevron">
            <a:avLst/>
          </a:prstGeom>
          <a:solidFill>
            <a:srgbClr val="1F4A38"/>
          </a:solidFill>
          <a:ln/>
        </p:spPr>
      </p:sp>
      <p:sp>
        <p:nvSpPr>
          <p:cNvPr id="10" name="Text 8"/>
          <p:cNvSpPr/>
          <p:nvPr/>
        </p:nvSpPr>
        <p:spPr>
          <a:xfrm>
            <a:off x="2459736" y="178308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审批通过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279392" y="1783080"/>
            <a:ext cx="2011680" cy="822960"/>
          </a:xfrm>
          <a:prstGeom prst="chevron">
            <a:avLst/>
          </a:prstGeom>
          <a:solidFill>
            <a:srgbClr val="1F4A38"/>
          </a:solidFill>
          <a:ln/>
        </p:spPr>
      </p:sp>
      <p:sp>
        <p:nvSpPr>
          <p:cNvPr id="12" name="Text 10"/>
          <p:cNvSpPr/>
          <p:nvPr/>
        </p:nvSpPr>
        <p:spPr>
          <a:xfrm>
            <a:off x="4370832" y="178308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执行跟踪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190488" y="1783080"/>
            <a:ext cx="2011680" cy="822960"/>
          </a:xfrm>
          <a:prstGeom prst="chevron">
            <a:avLst/>
          </a:prstGeom>
          <a:solidFill>
            <a:srgbClr val="1F4A38"/>
          </a:solidFill>
          <a:ln/>
        </p:spPr>
      </p:sp>
      <p:sp>
        <p:nvSpPr>
          <p:cNvPr id="14" name="Text 12"/>
          <p:cNvSpPr/>
          <p:nvPr/>
        </p:nvSpPr>
        <p:spPr>
          <a:xfrm>
            <a:off x="6281928" y="178308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里程碑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101584" y="1783080"/>
            <a:ext cx="2011680" cy="822960"/>
          </a:xfrm>
          <a:prstGeom prst="chevron">
            <a:avLst/>
          </a:prstGeom>
          <a:solidFill>
            <a:srgbClr val="1F4A38"/>
          </a:solidFill>
          <a:ln/>
        </p:spPr>
      </p:sp>
      <p:sp>
        <p:nvSpPr>
          <p:cNvPr id="16" name="Text 14"/>
          <p:cNvSpPr/>
          <p:nvPr/>
        </p:nvSpPr>
        <p:spPr>
          <a:xfrm>
            <a:off x="8193024" y="178308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竣工验收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10012680" y="1783080"/>
            <a:ext cx="2011680" cy="822960"/>
          </a:xfrm>
          <a:prstGeom prst="chevron">
            <a:avLst/>
          </a:prstGeom>
          <a:solidFill>
            <a:srgbClr val="2D6A4F"/>
          </a:solidFill>
          <a:ln/>
        </p:spPr>
      </p:sp>
      <p:sp>
        <p:nvSpPr>
          <p:cNvPr id="18" name="Text 16"/>
          <p:cNvSpPr/>
          <p:nvPr/>
        </p:nvSpPr>
        <p:spPr>
          <a:xfrm>
            <a:off x="10104120" y="178308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归档沉淀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7200" y="3063240"/>
            <a:ext cx="112471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2400" indent="-152400">
              <a:spcAft>
                <a:spcPts val="1100"/>
              </a:spcAft>
              <a:buSzPct val="100000"/>
              <a:buChar char="▪"/>
            </a:pPr>
            <a:r>
              <a:rPr lang="en-US" sz="140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项目档案：负责单位（组织隔离）、帮扶村关联、预算/实际花费、进度百分比、优先级、负责人</a:t>
            </a:r>
            <a:endParaRPr lang="en-US" sz="1400" dirty="0"/>
          </a:p>
          <a:p>
            <a:pPr algn="l" marL="152400" indent="-152400">
              <a:spcAft>
                <a:spcPts val="1100"/>
              </a:spcAft>
              <a:buSzPct val="100000"/>
              <a:buChar char="▪"/>
            </a:pPr>
            <a:r>
              <a:rPr lang="en-US" sz="140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里程碑管理：阶段节点 + 甘特图（自研轻量 gantt，ADR-0012），进度照片墙留证</a:t>
            </a:r>
            <a:endParaRPr lang="en-US" sz="1400" dirty="0"/>
          </a:p>
          <a:p>
            <a:pPr algn="l" marL="152400" indent="-152400">
              <a:spcAft>
                <a:spcPts val="1100"/>
              </a:spcAft>
              <a:buSzPct val="100000"/>
              <a:buChar char="▪"/>
            </a:pPr>
            <a:r>
              <a:rPr lang="en-US" sz="140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任务分解：项目任务看板，执行人/截止日/完成状态；变更历史全程留痕</a:t>
            </a:r>
            <a:endParaRPr lang="en-US" sz="1400" dirty="0"/>
          </a:p>
          <a:p>
            <a:pPr algn="l" marL="152400" indent="-152400">
              <a:spcAft>
                <a:spcPts val="1100"/>
              </a:spcAft>
              <a:buSzPct val="100000"/>
              <a:buChar char="▪"/>
            </a:pPr>
            <a:r>
              <a:rPr lang="en-US" sz="140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软删除 + 回收站：误删可恢复；删除前级联检查，防误伤资金数据</a:t>
            </a:r>
            <a:endParaRPr lang="en-US" sz="1400" dirty="0"/>
          </a:p>
          <a:p>
            <a:pPr algn="l" marL="152400" indent="-152400">
              <a:spcAft>
                <a:spcPts val="1100"/>
              </a:spcAft>
              <a:buSzPct val="100000"/>
              <a:buChar char="▪"/>
            </a:pPr>
            <a:r>
              <a:rPr lang="en-US" sz="140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数据范围：普通用户仅见本人录入，管理员见本组织及下级，超级管理员全局</a:t>
            </a:r>
            <a:endParaRPr lang="en-US"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28016" cy="12801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676656" y="329184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D6A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 功能模块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资金管理：一笔钱的八个阶段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274552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24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帮扶管理信息系统 v1.17.3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841248" y="1783080"/>
            <a:ext cx="658368" cy="658368"/>
          </a:xfrm>
          <a:prstGeom prst="ellipse">
            <a:avLst/>
          </a:prstGeom>
          <a:solidFill>
            <a:srgbClr val="1F4A38"/>
          </a:solidFill>
          <a:ln/>
        </p:spPr>
      </p:sp>
      <p:sp>
        <p:nvSpPr>
          <p:cNvPr id="8" name="Text 6"/>
          <p:cNvSpPr/>
          <p:nvPr/>
        </p:nvSpPr>
        <p:spPr>
          <a:xfrm>
            <a:off x="841248" y="178308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12648" y="2542032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申请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1536192" y="2112264"/>
            <a:ext cx="347472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2290572" y="1783080"/>
            <a:ext cx="658368" cy="658368"/>
          </a:xfrm>
          <a:prstGeom prst="ellipse">
            <a:avLst/>
          </a:prstGeom>
          <a:solidFill>
            <a:srgbClr val="1F4A38"/>
          </a:solidFill>
          <a:ln/>
        </p:spPr>
      </p:sp>
      <p:sp>
        <p:nvSpPr>
          <p:cNvPr id="12" name="Text 10"/>
          <p:cNvSpPr/>
          <p:nvPr/>
        </p:nvSpPr>
        <p:spPr>
          <a:xfrm>
            <a:off x="2290572" y="178308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061972" y="2542032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审批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2985516" y="2112264"/>
            <a:ext cx="347472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3739896" y="1783080"/>
            <a:ext cx="658368" cy="658368"/>
          </a:xfrm>
          <a:prstGeom prst="ellipse">
            <a:avLst/>
          </a:prstGeom>
          <a:solidFill>
            <a:srgbClr val="1F4A38"/>
          </a:solidFill>
          <a:ln/>
        </p:spPr>
      </p:sp>
      <p:sp>
        <p:nvSpPr>
          <p:cNvPr id="16" name="Text 14"/>
          <p:cNvSpPr/>
          <p:nvPr/>
        </p:nvSpPr>
        <p:spPr>
          <a:xfrm>
            <a:off x="3739896" y="178308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511296" y="2542032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拨付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4434840" y="2112264"/>
            <a:ext cx="347472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5189220" y="1783080"/>
            <a:ext cx="658368" cy="658368"/>
          </a:xfrm>
          <a:prstGeom prst="ellipse">
            <a:avLst/>
          </a:prstGeom>
          <a:solidFill>
            <a:srgbClr val="1F4A38"/>
          </a:solidFill>
          <a:ln/>
        </p:spPr>
      </p:sp>
      <p:sp>
        <p:nvSpPr>
          <p:cNvPr id="20" name="Text 18"/>
          <p:cNvSpPr/>
          <p:nvPr/>
        </p:nvSpPr>
        <p:spPr>
          <a:xfrm>
            <a:off x="5189220" y="178308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4960620" y="2542032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使用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5884164" y="2112264"/>
            <a:ext cx="347472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6638544" y="1783080"/>
            <a:ext cx="658368" cy="658368"/>
          </a:xfrm>
          <a:prstGeom prst="ellipse">
            <a:avLst/>
          </a:prstGeom>
          <a:solidFill>
            <a:srgbClr val="1F4A38"/>
          </a:solidFill>
          <a:ln/>
        </p:spPr>
      </p:sp>
      <p:sp>
        <p:nvSpPr>
          <p:cNvPr id="24" name="Text 22"/>
          <p:cNvSpPr/>
          <p:nvPr/>
        </p:nvSpPr>
        <p:spPr>
          <a:xfrm>
            <a:off x="6638544" y="178308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409944" y="2542032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报销</a:t>
            </a:r>
            <a:endParaRPr lang="en-US" sz="1350" dirty="0"/>
          </a:p>
        </p:txBody>
      </p:sp>
      <p:sp>
        <p:nvSpPr>
          <p:cNvPr id="26" name="Shape 24"/>
          <p:cNvSpPr/>
          <p:nvPr/>
        </p:nvSpPr>
        <p:spPr>
          <a:xfrm>
            <a:off x="7333488" y="2112264"/>
            <a:ext cx="347472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8087868" y="1783080"/>
            <a:ext cx="658368" cy="658368"/>
          </a:xfrm>
          <a:prstGeom prst="ellipse">
            <a:avLst/>
          </a:prstGeom>
          <a:solidFill>
            <a:srgbClr val="1F4A38"/>
          </a:solidFill>
          <a:ln/>
        </p:spPr>
      </p:sp>
      <p:sp>
        <p:nvSpPr>
          <p:cNvPr id="28" name="Text 26"/>
          <p:cNvSpPr/>
          <p:nvPr/>
        </p:nvSpPr>
        <p:spPr>
          <a:xfrm>
            <a:off x="8087868" y="178308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7859268" y="2542032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核销</a:t>
            </a:r>
            <a:endParaRPr lang="en-US" sz="1350" dirty="0"/>
          </a:p>
        </p:txBody>
      </p:sp>
      <p:sp>
        <p:nvSpPr>
          <p:cNvPr id="30" name="Shape 28"/>
          <p:cNvSpPr/>
          <p:nvPr/>
        </p:nvSpPr>
        <p:spPr>
          <a:xfrm>
            <a:off x="8782812" y="2112264"/>
            <a:ext cx="347472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9537192" y="1783080"/>
            <a:ext cx="658368" cy="658368"/>
          </a:xfrm>
          <a:prstGeom prst="ellipse">
            <a:avLst/>
          </a:prstGeom>
          <a:solidFill>
            <a:srgbClr val="1F4A38"/>
          </a:solidFill>
          <a:ln/>
        </p:spPr>
      </p:sp>
      <p:sp>
        <p:nvSpPr>
          <p:cNvPr id="32" name="Text 30"/>
          <p:cNvSpPr/>
          <p:nvPr/>
        </p:nvSpPr>
        <p:spPr>
          <a:xfrm>
            <a:off x="9537192" y="178308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7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9308592" y="2542032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决算</a:t>
            </a:r>
            <a:endParaRPr lang="en-US" sz="1350" dirty="0"/>
          </a:p>
        </p:txBody>
      </p:sp>
      <p:sp>
        <p:nvSpPr>
          <p:cNvPr id="34" name="Shape 32"/>
          <p:cNvSpPr/>
          <p:nvPr/>
        </p:nvSpPr>
        <p:spPr>
          <a:xfrm>
            <a:off x="10232136" y="2112264"/>
            <a:ext cx="347472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10986516" y="1783080"/>
            <a:ext cx="658368" cy="658368"/>
          </a:xfrm>
          <a:prstGeom prst="ellipse">
            <a:avLst/>
          </a:prstGeom>
          <a:solidFill>
            <a:srgbClr val="1F4A38"/>
          </a:solidFill>
          <a:ln/>
        </p:spPr>
      </p:sp>
      <p:sp>
        <p:nvSpPr>
          <p:cNvPr id="36" name="Text 34"/>
          <p:cNvSpPr/>
          <p:nvPr/>
        </p:nvSpPr>
        <p:spPr>
          <a:xfrm>
            <a:off x="10986516" y="178308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8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10757916" y="2542032"/>
            <a:ext cx="1143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归档</a:t>
            </a:r>
            <a:endParaRPr lang="en-US" sz="1350" dirty="0"/>
          </a:p>
        </p:txBody>
      </p:sp>
      <p:sp>
        <p:nvSpPr>
          <p:cNvPr id="38" name="Shape 36"/>
          <p:cNvSpPr/>
          <p:nvPr/>
        </p:nvSpPr>
        <p:spPr>
          <a:xfrm>
            <a:off x="457200" y="3246120"/>
            <a:ext cx="5486400" cy="2743200"/>
          </a:xfrm>
          <a:prstGeom prst="roundRect">
            <a:avLst>
              <a:gd name="adj" fmla="val 2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A2E24">
                <a:alpha val="13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749808" y="345643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F4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资金台账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749808" y="3886200"/>
            <a:ext cx="49377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2400" indent="-152400">
              <a:spcAft>
                <a:spcPts val="900"/>
              </a:spcAft>
              <a:buSzPct val="100000"/>
              <a:buChar char="▪"/>
            </a:pPr>
            <a:r>
              <a:rPr lang="en-US" sz="130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资金来源 / 金额 / 阶段状态 / 凭证附件全要素</a:t>
            </a:r>
            <a:endParaRPr lang="en-US" sz="1300" dirty="0"/>
          </a:p>
          <a:p>
            <a:pPr algn="l" marL="152400" indent="-152400">
              <a:spcAft>
                <a:spcPts val="900"/>
              </a:spcAft>
              <a:buSzPct val="100000"/>
              <a:buChar char="▪"/>
            </a:pPr>
            <a:r>
              <a:rPr lang="en-US" sz="130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编号 ZJ 自动生成；预算三级预警 80/90/100%</a:t>
            </a:r>
            <a:endParaRPr lang="en-US" sz="1300" dirty="0"/>
          </a:p>
          <a:p>
            <a:pPr algn="l" marL="152400" indent="-152400">
              <a:spcAft>
                <a:spcPts val="900"/>
              </a:spcAft>
              <a:buSzPct val="100000"/>
              <a:buChar char="▪"/>
            </a:pPr>
            <a:r>
              <a:rPr lang="en-US" sz="130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年度对比与资金分析图表（走势/结构/单位排名）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6263640" y="3246120"/>
            <a:ext cx="5486400" cy="2743200"/>
          </a:xfrm>
          <a:prstGeom prst="roundRect">
            <a:avLst>
              <a:gd name="adj" fmla="val 2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A2E24">
                <a:alpha val="13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6556248" y="3456432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F4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监管闭环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6556248" y="3886200"/>
            <a:ext cx="49377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2400" indent="-1524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合同 → 支付凭证 → 划转凭证 全链条挂接</a:t>
            </a:r>
            <a:endParaRPr lang="en-US" sz="1250" dirty="0"/>
          </a:p>
          <a:p>
            <a:pPr algn="l" marL="152400" indent="-1524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异常监控：超支 / 偏差 / 闲置 / 重复支付 / 缺凭证</a:t>
            </a:r>
            <a:endParaRPr lang="en-US" sz="1250" dirty="0"/>
          </a:p>
          <a:p>
            <a:pPr algn="l" marL="152400" indent="-1524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凭证 OCR（v1.14.0）：拍照识别金额/日期回填，离线引擎不可用时降级手工录入</a:t>
            </a:r>
            <a:endParaRPr lang="en-US" sz="1250" dirty="0"/>
          </a:p>
          <a:p>
            <a:pPr algn="l" marL="152400" indent="-1524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普通用户全流程可操作（申请/审批/拨付/结算），审批留痕</a:t>
            </a:r>
            <a:endParaRPr lang="en-US" sz="12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28016" cy="12801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676656" y="329184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D6A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 功能模块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经费凭证 OCR：拍一张，金额日期自动填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274552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帮扶管理信息系统 v1.17.3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1828800"/>
            <a:ext cx="2880360" cy="914400"/>
          </a:xfrm>
          <a:prstGeom prst="chevron">
            <a:avLst/>
          </a:prstGeom>
          <a:solidFill>
            <a:srgbClr val="1F4A38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182880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上传凭证图片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3291840" y="1828800"/>
            <a:ext cx="2880360" cy="914400"/>
          </a:xfrm>
          <a:prstGeom prst="chevron">
            <a:avLst/>
          </a:prstGeom>
          <a:solidFill>
            <a:srgbClr val="1F4A38"/>
          </a:solidFill>
          <a:ln/>
        </p:spPr>
      </p:sp>
      <p:sp>
        <p:nvSpPr>
          <p:cNvPr id="10" name="Text 8"/>
          <p:cNvSpPr/>
          <p:nvPr/>
        </p:nvSpPr>
        <p:spPr>
          <a:xfrm>
            <a:off x="3429000" y="182880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离线识别（CPU）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126480" y="1828800"/>
            <a:ext cx="2880360" cy="914400"/>
          </a:xfrm>
          <a:prstGeom prst="chevron">
            <a:avLst/>
          </a:prstGeom>
          <a:solidFill>
            <a:srgbClr val="1F4A38"/>
          </a:solidFill>
          <a:ln/>
        </p:spPr>
      </p:sp>
      <p:sp>
        <p:nvSpPr>
          <p:cNvPr id="12" name="Text 10"/>
          <p:cNvSpPr/>
          <p:nvPr/>
        </p:nvSpPr>
        <p:spPr>
          <a:xfrm>
            <a:off x="6263640" y="182880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回填金额 / 日期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961120" y="1828800"/>
            <a:ext cx="2880360" cy="914400"/>
          </a:xfrm>
          <a:prstGeom prst="chevron">
            <a:avLst/>
          </a:prstGeom>
          <a:solidFill>
            <a:srgbClr val="2D6A4F"/>
          </a:solidFill>
          <a:ln/>
        </p:spPr>
      </p:sp>
      <p:sp>
        <p:nvSpPr>
          <p:cNvPr id="14" name="Text 12"/>
          <p:cNvSpPr/>
          <p:nvPr/>
        </p:nvSpPr>
        <p:spPr>
          <a:xfrm>
            <a:off x="9098280" y="1828800"/>
            <a:ext cx="2606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人工核对保存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457200" y="3200400"/>
            <a:ext cx="5486400" cy="2468880"/>
          </a:xfrm>
          <a:prstGeom prst="roundRect">
            <a:avLst>
              <a:gd name="adj" fmla="val 259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A2E24">
                <a:alpha val="13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49808" y="3383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F4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识别能力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749808" y="3794760"/>
            <a:ext cx="49377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2400" indent="-1524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离线引擎 rapidocr-onnxruntime 1.4.4（CPU / 中英文 / 不联网）</a:t>
            </a:r>
            <a:endParaRPr lang="en-US" sz="1250" dirty="0"/>
          </a:p>
          <a:p>
            <a:pPr algn="l" marL="152400" indent="-1524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金额：￥ / ¥ / 元 / 千分位 / 小数；日期：YYYY-MM-DD / YYYY年M月D日 / YYYY/MM/DD</a:t>
            </a:r>
            <a:endParaRPr lang="en-US" sz="1250" dirty="0"/>
          </a:p>
          <a:p>
            <a:pPr algn="l" marL="152400" indent="-1524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返回 text / amount / date / confidence / engine，结果自动回填录入项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263640" y="3200400"/>
            <a:ext cx="5486400" cy="2468880"/>
          </a:xfrm>
          <a:prstGeom prst="roundRect">
            <a:avLst>
              <a:gd name="adj" fmla="val 259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A2E24">
                <a:alpha val="13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556248" y="3383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F4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降级与安全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556248" y="3794760"/>
            <a:ext cx="493776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2400" indent="-1524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引擎不可用 → 503 + 前端提示手工录入，不阻断经费业务</a:t>
            </a:r>
            <a:endParaRPr lang="en-US" sz="1250" dirty="0"/>
          </a:p>
          <a:p>
            <a:pPr algn="l" marL="152400" indent="-1524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图片限长 10MB；空内容 / 非图片 → 400</a:t>
            </a:r>
            <a:endParaRPr lang="en-US" sz="1250" dirty="0"/>
          </a:p>
          <a:p>
            <a:pPr algn="l" marL="152400" indent="-1524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Windows 安装包内置 OCR 模型；ARM64 构建过滤降级</a:t>
            </a:r>
            <a:endParaRPr lang="en-US" sz="12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28016" cy="12801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676656" y="329184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D6A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 功能模块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学校帮扶 · 政策法规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274552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帮扶管理信息系统 v1.17.3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1645920"/>
            <a:ext cx="5486400" cy="448056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A2E24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49808" y="1874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F4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帮扶学校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49808" y="2331720"/>
            <a:ext cx="49377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2400" indent="-1524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学校档案：校长/联系电话（加密列）/地区层级</a:t>
            </a:r>
            <a:endParaRPr lang="en-US" sz="1350" dirty="0"/>
          </a:p>
          <a:p>
            <a:pPr algn="l" marL="152400" indent="-1524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受助学生与助学名单：助学金发放记录</a:t>
            </a:r>
            <a:endParaRPr lang="en-US" sz="1350" dirty="0"/>
          </a:p>
          <a:p>
            <a:pPr algn="l" marL="152400" indent="-1524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奖学金台账：发放批次 / 金额 / 对象</a:t>
            </a:r>
            <a:endParaRPr lang="en-US" sz="1350" dirty="0"/>
          </a:p>
          <a:p>
            <a:pPr algn="l" marL="152400" indent="-1524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学校帮扶项目挂接与附件（图片/文档预览）</a:t>
            </a:r>
            <a:endParaRPr lang="en-US" sz="1350" dirty="0"/>
          </a:p>
          <a:p>
            <a:pPr algn="l" marL="152400" indent="-1524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删除关联预警与软删除回收站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263640" y="1645920"/>
            <a:ext cx="5486400" cy="448056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A2E24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556248" y="1874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F4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政策法规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556248" y="2331720"/>
            <a:ext cx="49377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2400" indent="-1524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政策库：分类 / 层级 / 发布年份多维筛选</a:t>
            </a:r>
            <a:endParaRPr lang="en-US" sz="1350" dirty="0"/>
          </a:p>
          <a:p>
            <a:pPr algn="l" marL="152400" indent="-1524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FTS5 全文检索：命中片段高亮 + XSS 消毒</a:t>
            </a:r>
            <a:endParaRPr lang="en-US" sz="1350" dirty="0"/>
          </a:p>
          <a:p>
            <a:pPr algn="l" marL="152400" indent="-1524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文件在线预览（PDF/图片），收藏与阅读痕迹</a:t>
            </a:r>
            <a:endParaRPr lang="en-US" sz="1350" dirty="0"/>
          </a:p>
          <a:p>
            <a:pPr algn="l" marL="152400" indent="-1524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全角色公开模块：普通用户与管理员可见性一致</a:t>
            </a:r>
            <a:endParaRPr lang="en-US" sz="1350" dirty="0"/>
          </a:p>
          <a:p>
            <a:pPr algn="l" marL="152400" indent="-1524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政策执行情况跟踪与关联业务引用</a:t>
            </a:r>
            <a:endParaRPr lang="en-US" sz="13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28016" cy="12801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676656" y="329184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D6A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 功能模块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消费帮扶台账：逐笔记录帮销成果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274552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27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帮扶管理信息系统 v1.17.3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1645920"/>
            <a:ext cx="5486400" cy="448056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A2E24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49808" y="1874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F4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台账要素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49808" y="2331720"/>
            <a:ext cx="49377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2400" indent="-152400">
              <a:spcAft>
                <a:spcPts val="900"/>
              </a:spcAft>
              <a:buSzPct val="100000"/>
              <a:buChar char="▪"/>
            </a:pPr>
            <a:r>
              <a:rPr lang="en-US" sz="125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品类：农产品 / 畜禽 / 手工 / 其他；产品名称与数量单位</a:t>
            </a:r>
            <a:endParaRPr lang="en-US" sz="1250" dirty="0"/>
          </a:p>
          <a:p>
            <a:pPr algn="l" marL="152400" indent="-152400">
              <a:spcAft>
                <a:spcPts val="900"/>
              </a:spcAft>
              <a:buSzPct val="100000"/>
              <a:buChar char="▪"/>
            </a:pPr>
            <a:r>
              <a:rPr lang="en-US" sz="125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成交金额（元，必填）、采购方（单位）、供货方及类型（农户 / 合作社 / 企业）</a:t>
            </a:r>
            <a:endParaRPr lang="en-US" sz="1250" dirty="0"/>
          </a:p>
          <a:p>
            <a:pPr algn="l" marL="152400" indent="-152400">
              <a:spcAft>
                <a:spcPts val="900"/>
              </a:spcAft>
              <a:buSzPct val="100000"/>
              <a:buChar char="▪"/>
            </a:pPr>
            <a:r>
              <a:rPr lang="en-US" sz="125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年度（必填）、成交日期、凭证文件、备注；可关联帮扶村</a:t>
            </a:r>
            <a:endParaRPr lang="en-US" sz="1250" dirty="0"/>
          </a:p>
          <a:p>
            <a:pPr algn="l" marL="152400" indent="-152400">
              <a:spcAft>
                <a:spcPts val="900"/>
              </a:spcAft>
              <a:buSzPct val="100000"/>
              <a:buChar char="▪"/>
            </a:pPr>
            <a:r>
              <a:rPr lang="en-US" sz="125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新建 / 编辑 / 软删除；按年度 / 品类 / 村 / 关键词筛选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63640" y="1645920"/>
            <a:ext cx="5486400" cy="448056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A2E24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556248" y="1874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F4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统计与导出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556248" y="2331720"/>
            <a:ext cx="49377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2400" indent="-152400">
              <a:spcAft>
                <a:spcPts val="900"/>
              </a:spcAft>
              <a:buSzPct val="100000"/>
              <a:buChar char="▪"/>
            </a:pPr>
            <a:r>
              <a:rPr lang="en-US" sz="125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年度统计：总金额 / 记录笔数 / 按品类分布 / 按村分布</a:t>
            </a:r>
            <a:endParaRPr lang="en-US" sz="1250" dirty="0"/>
          </a:p>
          <a:p>
            <a:pPr algn="l" marL="152400" indent="-152400">
              <a:spcAft>
                <a:spcPts val="900"/>
              </a:spcAft>
              <a:buSzPct val="100000"/>
              <a:buChar char="▪"/>
            </a:pPr>
            <a:r>
              <a:rPr lang="en-US" sz="125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台账导出 xlsx / csv（按当前筛选条件）</a:t>
            </a:r>
            <a:endParaRPr lang="en-US" sz="1250" dirty="0"/>
          </a:p>
          <a:p>
            <a:pPr algn="l" marL="152400" indent="-152400">
              <a:spcAft>
                <a:spcPts val="900"/>
              </a:spcAft>
              <a:buSzPct val="100000"/>
              <a:buChar char="▪"/>
            </a:pPr>
            <a:r>
              <a:rPr lang="en-US" sz="125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与帮扶村年度数据第 8 板块「消费帮扶」区分：年度板块按村按年统计，本台账逐笔记账</a:t>
            </a:r>
            <a:endParaRPr lang="en-US" sz="1250" dirty="0"/>
          </a:p>
          <a:p>
            <a:pPr algn="l" marL="152400" indent="-152400">
              <a:spcAft>
                <a:spcPts val="900"/>
              </a:spcAft>
              <a:buSzPct val="100000"/>
              <a:buChar char="▪"/>
            </a:pPr>
            <a:r>
              <a:rPr lang="en-US" sz="125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替换已下线的舆情监测；旧菜单 key sentiment 仅保留权限兼容、不再有导航入口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57200" y="626364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v1.14.0 新增 consumption_records 表 + /consumption/* API（6 端点）</a:t>
            </a:r>
            <a:endParaRPr lang="en-US" sz="11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28016" cy="12801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676656" y="329184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D6A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 功能模块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审批中心：流转可视，留痕完整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274552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28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帮扶管理信息系统 v1.17.3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2395728" cy="868680"/>
          </a:xfrm>
          <a:prstGeom prst="chevron">
            <a:avLst/>
          </a:prstGeom>
          <a:solidFill>
            <a:srgbClr val="1F4A38"/>
          </a:solidFill>
          <a:ln/>
        </p:spPr>
      </p:sp>
      <p:sp>
        <p:nvSpPr>
          <p:cNvPr id="8" name="Text 6"/>
          <p:cNvSpPr/>
          <p:nvPr/>
        </p:nvSpPr>
        <p:spPr>
          <a:xfrm>
            <a:off x="585216" y="178308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提交申请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2761488" y="1783080"/>
            <a:ext cx="2395728" cy="868680"/>
          </a:xfrm>
          <a:prstGeom prst="chevron">
            <a:avLst/>
          </a:prstGeom>
          <a:solidFill>
            <a:srgbClr val="1F4A38"/>
          </a:solidFill>
          <a:ln/>
        </p:spPr>
      </p:sp>
      <p:sp>
        <p:nvSpPr>
          <p:cNvPr id="10" name="Text 8"/>
          <p:cNvSpPr/>
          <p:nvPr/>
        </p:nvSpPr>
        <p:spPr>
          <a:xfrm>
            <a:off x="2889504" y="178308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待审批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065776" y="1783080"/>
            <a:ext cx="2395728" cy="868680"/>
          </a:xfrm>
          <a:prstGeom prst="chevron">
            <a:avLst/>
          </a:prstGeom>
          <a:solidFill>
            <a:srgbClr val="1F4A38"/>
          </a:solidFill>
          <a:ln/>
        </p:spPr>
      </p:sp>
      <p:sp>
        <p:nvSpPr>
          <p:cNvPr id="12" name="Text 10"/>
          <p:cNvSpPr/>
          <p:nvPr/>
        </p:nvSpPr>
        <p:spPr>
          <a:xfrm>
            <a:off x="5193792" y="178308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审批中（可转审）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370064" y="1783080"/>
            <a:ext cx="2395728" cy="868680"/>
          </a:xfrm>
          <a:prstGeom prst="chevron">
            <a:avLst/>
          </a:prstGeom>
          <a:solidFill>
            <a:srgbClr val="C9A227"/>
          </a:solidFill>
          <a:ln/>
        </p:spPr>
      </p:sp>
      <p:sp>
        <p:nvSpPr>
          <p:cNvPr id="14" name="Text 12"/>
          <p:cNvSpPr/>
          <p:nvPr/>
        </p:nvSpPr>
        <p:spPr>
          <a:xfrm>
            <a:off x="7498080" y="178308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通过 / 驳回（必填原因）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9674352" y="1783080"/>
            <a:ext cx="2395728" cy="868680"/>
          </a:xfrm>
          <a:prstGeom prst="chevron">
            <a:avLst/>
          </a:prstGeom>
          <a:solidFill>
            <a:srgbClr val="1F4A38"/>
          </a:solidFill>
          <a:ln/>
        </p:spPr>
      </p:sp>
      <p:sp>
        <p:nvSpPr>
          <p:cNvPr id="16" name="Text 14"/>
          <p:cNvSpPr/>
          <p:nvPr/>
        </p:nvSpPr>
        <p:spPr>
          <a:xfrm>
            <a:off x="9802368" y="1783080"/>
            <a:ext cx="21031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归档历史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57200" y="3108960"/>
            <a:ext cx="1124712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2400" indent="-152400">
              <a:spcAft>
                <a:spcPts val="1100"/>
              </a:spcAft>
              <a:buSzPct val="100000"/>
              <a:buChar char="▪"/>
            </a:pPr>
            <a:r>
              <a:rPr lang="en-US" sz="140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申请人视角：我的申请全状态跟踪；审批人视角：待办池 + 全部任务（/approval/tasks/all）</a:t>
            </a:r>
            <a:endParaRPr lang="en-US" sz="1400" dirty="0"/>
          </a:p>
          <a:p>
            <a:pPr algn="l" marL="152400" indent="-152400">
              <a:spcAft>
                <a:spcPts val="1100"/>
              </a:spcAft>
              <a:buSzPct val="100000"/>
              <a:buChar char="▪"/>
            </a:pPr>
            <a:r>
              <a:rPr lang="en-US" sz="140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「待我审批 / 我发起的 / 已完成」状态页签切换，支持批量通过 / 驳回（原因必填）</a:t>
            </a:r>
            <a:endParaRPr lang="en-US" sz="1400" dirty="0"/>
          </a:p>
          <a:p>
            <a:pPr algn="l" marL="152400" indent="-152400">
              <a:spcAft>
                <a:spcPts val="1100"/>
              </a:spcAft>
              <a:buSzPct val="100000"/>
              <a:buChar char="▪"/>
            </a:pPr>
            <a:r>
              <a:rPr lang="en-US" sz="140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驳回必填原因（前后端双向校验）；转审批将任务移交其他管理员，链条完整记录</a:t>
            </a:r>
            <a:endParaRPr lang="en-US" sz="1400" dirty="0"/>
          </a:p>
          <a:p>
            <a:pPr algn="l" marL="152400" indent="-152400">
              <a:spcAft>
                <a:spcPts val="1100"/>
              </a:spcAft>
              <a:buSzPct val="100000"/>
              <a:buChar char="▪"/>
            </a:pPr>
            <a:r>
              <a:rPr lang="en-US" sz="140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审批概览：通过率 / 平均时长 / 按类型分布，管理视角一眼看清瓶颈</a:t>
            </a:r>
            <a:endParaRPr lang="en-US" sz="1400" dirty="0"/>
          </a:p>
          <a:p>
            <a:pPr algn="l" marL="152400" indent="-152400">
              <a:spcAft>
                <a:spcPts val="1100"/>
              </a:spcAft>
              <a:buSzPct val="100000"/>
              <a:buChar char="▪"/>
            </a:pPr>
            <a:r>
              <a:rPr lang="en-US" sz="140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与经费申请深度联动：审批通过自动推进资金阶段状态</a:t>
            </a:r>
            <a:endParaRPr lang="en-US" sz="1400" dirty="0"/>
          </a:p>
          <a:p>
            <a:pPr algn="l" marL="152400" indent="-152400">
              <a:spcAft>
                <a:spcPts val="1100"/>
              </a:spcAft>
              <a:buSzPct val="100000"/>
              <a:buChar char="▪"/>
            </a:pPr>
            <a:r>
              <a:rPr lang="en-US" sz="140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全部审批动作写工作日志 + 操作历史，支持审计追溯</a:t>
            </a:r>
            <a:endParaRPr lang="en-US" sz="14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28016" cy="12801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676656" y="329184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D6A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 功能模块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数据包协同：增量更新 + 版本管理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274552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29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帮扶管理信息系统 v1.17.3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1627632"/>
            <a:ext cx="5486400" cy="2743200"/>
          </a:xfrm>
          <a:prstGeom prst="roundRect">
            <a:avLst>
              <a:gd name="adj" fmla="val 2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A2E24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49808" y="18288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F4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增量更新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49808" y="2267712"/>
            <a:ext cx="4937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2400" indent="-152400">
              <a:spcAft>
                <a:spcPts val="700"/>
              </a:spcAft>
              <a:buSzPct val="100000"/>
              <a:buChar char="▪"/>
            </a:pPr>
            <a:r>
              <a:rPr lang="en-US" sz="125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检测变更：对比基准包时间戳，输出新增/修改/软删统计</a:t>
            </a:r>
            <a:endParaRPr lang="en-US" sz="1250" dirty="0"/>
          </a:p>
          <a:p>
            <a:pPr algn="l" marL="152400" indent="-152400">
              <a:spcAft>
                <a:spcPts val="700"/>
              </a:spcAft>
              <a:buSzPct val="100000"/>
              <a:buChar char="▪"/>
            </a:pPr>
            <a:r>
              <a:rPr lang="en-US" sz="125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导出增量包：仅打包变更记录，包型 update</a:t>
            </a:r>
            <a:endParaRPr lang="en-US" sz="1250" dirty="0"/>
          </a:p>
          <a:p>
            <a:pPr algn="l" marL="152400" indent="-152400">
              <a:spcAft>
                <a:spcPts val="700"/>
              </a:spcAft>
              <a:buSzPct val="100000"/>
              <a:buChar char="▪"/>
            </a:pPr>
            <a:r>
              <a:rPr lang="en-US" sz="125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导入预览：先看“将新增几条、覆盖几条”，再决定是否应用</a:t>
            </a:r>
            <a:endParaRPr lang="en-US" sz="1250" dirty="0"/>
          </a:p>
          <a:p>
            <a:pPr algn="l" marL="152400" indent="-152400">
              <a:spcAft>
                <a:spcPts val="700"/>
              </a:spcAft>
              <a:buSzPct val="100000"/>
              <a:buChar char="▪"/>
            </a:pPr>
            <a:r>
              <a:rPr lang="en-US" sz="125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应用导入：管理员 + 覆盖式 upsert，保留原始 ID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63640" y="1627632"/>
            <a:ext cx="5486400" cy="2743200"/>
          </a:xfrm>
          <a:prstGeom prst="roundRect">
            <a:avLst>
              <a:gd name="adj" fmla="val 2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A2E24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556248" y="18288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F4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版本管理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556248" y="2267712"/>
            <a:ext cx="4937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2400" indent="-152400">
              <a:spcAft>
                <a:spcPts val="700"/>
              </a:spcAft>
              <a:buSzPct val="100000"/>
              <a:buChar char="▪"/>
            </a:pPr>
            <a:r>
              <a:rPr lang="en-US" sz="125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为数据包创建版本快照（变更集记录）</a:t>
            </a:r>
            <a:endParaRPr lang="en-US" sz="1250" dirty="0"/>
          </a:p>
          <a:p>
            <a:pPr algn="l" marL="152400" indent="-152400">
              <a:spcAft>
                <a:spcPts val="700"/>
              </a:spcAft>
              <a:buSzPct val="100000"/>
              <a:buChar char="▪"/>
            </a:pPr>
            <a:r>
              <a:rPr lang="en-US" sz="125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两版本对比：新增 / 修改 / 移除 按类型列出</a:t>
            </a:r>
            <a:endParaRPr lang="en-US" sz="1250" dirty="0"/>
          </a:p>
          <a:p>
            <a:pPr algn="l" marL="152400" indent="-152400">
              <a:spcAft>
                <a:spcPts val="700"/>
              </a:spcAft>
              <a:buSzPct val="100000"/>
              <a:buChar char="▪"/>
            </a:pPr>
            <a:r>
              <a:rPr lang="en-US" sz="125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版本详情按数据类型分页查看记录 ID 集合</a:t>
            </a:r>
            <a:endParaRPr lang="en-US" sz="1250" dirty="0"/>
          </a:p>
          <a:p>
            <a:pPr algn="l" marL="152400" indent="-152400">
              <a:spcAft>
                <a:spcPts val="700"/>
              </a:spcAft>
              <a:buSzPct val="100000"/>
              <a:buChar char="▪"/>
            </a:pPr>
            <a:r>
              <a:rPr lang="en-US" sz="125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组织访问校验 + 审计日志（本轮补齐）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57200" y="4572000"/>
            <a:ext cx="11274552" cy="1554480"/>
          </a:xfrm>
          <a:prstGeom prst="roundRect">
            <a:avLst>
              <a:gd name="adj" fmla="val 4118"/>
            </a:avLst>
          </a:prstGeom>
          <a:solidFill>
            <a:srgbClr val="E8EFEA"/>
          </a:solidFill>
          <a:ln/>
          <a:effectLst>
            <a:outerShdw sx="100000" sy="100000" kx="0" ky="0" algn="bl" rotWithShape="0" blurRad="88900" dist="25400" dir="5400000">
              <a:srgbClr val="1A2E24">
                <a:alpha val="13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49808" y="473659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4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链路校验（v1.14.0）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49808" y="507492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「下级生成上报包 → 上级接收 / 导入 → 数据列表可见」整条链路已补端到端集成测试并修复断点；上报协议、端点与请求/响应结构不变，升级后建议做一次完整上报+接收演练。</a:t>
            </a:r>
            <a:endParaRPr lang="en-US" sz="12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28016" cy="12801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676656" y="329184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D6A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 功能模块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数据上报链路：下级打包 → 上级接收 → 数据可见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274552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30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帮扶管理信息系统 v1.17.3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1828800"/>
            <a:ext cx="2011680" cy="868680"/>
          </a:xfrm>
          <a:prstGeom prst="chevron">
            <a:avLst/>
          </a:prstGeom>
          <a:solidFill>
            <a:srgbClr val="1F4A38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1828800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下级录入数据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368296" y="1828800"/>
            <a:ext cx="2011680" cy="868680"/>
          </a:xfrm>
          <a:prstGeom prst="chevron">
            <a:avLst/>
          </a:prstGeom>
          <a:solidFill>
            <a:srgbClr val="1F4A38"/>
          </a:solidFill>
          <a:ln/>
        </p:spPr>
      </p:sp>
      <p:sp>
        <p:nvSpPr>
          <p:cNvPr id="10" name="Text 8"/>
          <p:cNvSpPr/>
          <p:nvPr/>
        </p:nvSpPr>
        <p:spPr>
          <a:xfrm>
            <a:off x="2478024" y="1828800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生成上报包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279392" y="1828800"/>
            <a:ext cx="2011680" cy="868680"/>
          </a:xfrm>
          <a:prstGeom prst="chevron">
            <a:avLst/>
          </a:prstGeom>
          <a:solidFill>
            <a:srgbClr val="1F4A38"/>
          </a:solidFill>
          <a:ln/>
        </p:spPr>
      </p:sp>
      <p:sp>
        <p:nvSpPr>
          <p:cNvPr id="12" name="Text 10"/>
          <p:cNvSpPr/>
          <p:nvPr/>
        </p:nvSpPr>
        <p:spPr>
          <a:xfrm>
            <a:off x="4389120" y="1828800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上级接收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190488" y="1828800"/>
            <a:ext cx="2011680" cy="868680"/>
          </a:xfrm>
          <a:prstGeom prst="chevron">
            <a:avLst/>
          </a:prstGeom>
          <a:solidFill>
            <a:srgbClr val="1F4A38"/>
          </a:solidFill>
          <a:ln/>
        </p:spPr>
      </p:sp>
      <p:sp>
        <p:nvSpPr>
          <p:cNvPr id="14" name="Text 12"/>
          <p:cNvSpPr/>
          <p:nvPr/>
        </p:nvSpPr>
        <p:spPr>
          <a:xfrm>
            <a:off x="6300216" y="1828800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字段级校验纠正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101584" y="1828800"/>
            <a:ext cx="2011680" cy="868680"/>
          </a:xfrm>
          <a:prstGeom prst="chevron">
            <a:avLst/>
          </a:prstGeom>
          <a:solidFill>
            <a:srgbClr val="1F4A38"/>
          </a:solidFill>
          <a:ln/>
        </p:spPr>
      </p:sp>
      <p:sp>
        <p:nvSpPr>
          <p:cNvPr id="16" name="Text 14"/>
          <p:cNvSpPr/>
          <p:nvPr/>
        </p:nvSpPr>
        <p:spPr>
          <a:xfrm>
            <a:off x="8211312" y="1828800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预览确认入库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10012680" y="1828800"/>
            <a:ext cx="2011680" cy="868680"/>
          </a:xfrm>
          <a:prstGeom prst="chevron">
            <a:avLst/>
          </a:prstGeom>
          <a:solidFill>
            <a:srgbClr val="2D6A4F"/>
          </a:solidFill>
          <a:ln/>
        </p:spPr>
      </p:sp>
      <p:sp>
        <p:nvSpPr>
          <p:cNvPr id="18" name="Text 16"/>
          <p:cNvSpPr/>
          <p:nvPr/>
        </p:nvSpPr>
        <p:spPr>
          <a:xfrm>
            <a:off x="10122408" y="1828800"/>
            <a:ext cx="1783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数据列表可见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3154680"/>
            <a:ext cx="5486400" cy="2926080"/>
          </a:xfrm>
          <a:prstGeom prst="roundRect">
            <a:avLst>
              <a:gd name="adj" fmla="val 218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A2E24">
                <a:alpha val="13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49808" y="33375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F4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链路要素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49808" y="3749040"/>
            <a:ext cx="49377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2400" indent="-1524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上报包：ZIP + manifest.json（组织/记录数/校验和/增量基准）</a:t>
            </a:r>
            <a:endParaRPr lang="en-US" sz="1250" dirty="0"/>
          </a:p>
          <a:p>
            <a:pPr algn="l" marL="152400" indent="-1524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上报范围：普通用户仅本人录入，管理员为全组织</a:t>
            </a:r>
            <a:endParaRPr lang="en-US" sz="1250" dirty="0"/>
          </a:p>
          <a:p>
            <a:pPr algn="l" marL="152400" indent="-1524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接收端：仅管理员可校验 / 接收 / 导入 / 确认入库</a:t>
            </a:r>
            <a:endParaRPr lang="en-US" sz="1250" dirty="0"/>
          </a:p>
          <a:p>
            <a:pPr algn="l" marL="152400" indent="-1524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自动字段级校验：ok / corrected / rejected 三级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263640" y="3154680"/>
            <a:ext cx="5486400" cy="2926080"/>
          </a:xfrm>
          <a:prstGeom prst="roundRect">
            <a:avLst>
              <a:gd name="adj" fmla="val 218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A2E24">
                <a:alpha val="13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56248" y="33375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F4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v1.14.0 交付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556248" y="3749040"/>
            <a:ext cx="49377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2400" indent="-1524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补端到端集成测试并修复链路断点：生成 → 接收 → 导入 → 列表可见</a:t>
            </a:r>
            <a:endParaRPr lang="en-US" sz="1250" dirty="0"/>
          </a:p>
          <a:p>
            <a:pPr algn="l" marL="152400" indent="-1524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上报协议与端点路径、请求/响应结构均未改变</a:t>
            </a:r>
            <a:endParaRPr lang="en-US" sz="1250" dirty="0"/>
          </a:p>
          <a:p>
            <a:pPr algn="l" marL="152400" indent="-152400">
              <a:spcAft>
                <a:spcPts val="800"/>
              </a:spcAft>
              <a:buSzPct val="100000"/>
              <a:buChar char="▪"/>
            </a:pPr>
            <a:r>
              <a:rPr lang="en-US" sz="125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升级后建议按用户手册做一次完整上报 + 接收演练</a:t>
            </a:r>
            <a:endParaRPr lang="en-US" sz="12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28016" cy="12801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676656" y="329184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D6A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 功能模块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数据分析与报表：让数据开口说话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274552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帮扶管理信息系统 v1.17.3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3639312" cy="19202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A2E24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13232" y="1856232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b="1" dirty="0">
                <a:solidFill>
                  <a:srgbClr val="1F4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分析仪表盘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713232" y="2295144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任选两年多维对比；村庄人口/收入趋势、资金投入走势、项目完成率一览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70832" y="1691640"/>
            <a:ext cx="3639312" cy="19202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A2E24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26864" y="1856232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b="1" dirty="0">
                <a:solidFill>
                  <a:srgbClr val="1F4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成效评估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4626864" y="2295144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村庄年度评分 + 排名 + 历年对比；评估结果回流帮扶决策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284464" y="1691640"/>
            <a:ext cx="3639312" cy="19202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A2E24">
                <a:alpha val="13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540496" y="1856232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b="1" dirty="0">
                <a:solidFill>
                  <a:srgbClr val="1F4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报表模板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8540496" y="2295144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任意字段组合 + xlsx/csv/docx/pdf 导出 + 打印（v1.14.0 增强）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931920"/>
            <a:ext cx="3639312" cy="19202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A2E24">
                <a:alpha val="13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13232" y="4096512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b="1" dirty="0">
                <a:solidFill>
                  <a:srgbClr val="1F4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汇报大屏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713232" y="4535424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全屏汇报模式，支持按帮扶村/学校/单位筛选下钻；顶部可退出大屏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370832" y="3931920"/>
            <a:ext cx="3639312" cy="19202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A2E24">
                <a:alpha val="13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626864" y="4096512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b="1" dirty="0">
                <a:solidFill>
                  <a:srgbClr val="1F4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地图可视化</a:t>
            </a:r>
            <a:endParaRPr lang="en-US" sz="1650" dirty="0"/>
          </a:p>
        </p:txBody>
      </p:sp>
      <p:sp>
        <p:nvSpPr>
          <p:cNvPr id="21" name="Text 19"/>
          <p:cNvSpPr/>
          <p:nvPr/>
        </p:nvSpPr>
        <p:spPr>
          <a:xfrm>
            <a:off x="4626864" y="4535424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贵州 88 县区区域数据，帮扶分布上图；离线地图瓦片管理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284464" y="3931920"/>
            <a:ext cx="3639312" cy="192024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A2E24">
                <a:alpha val="13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8540496" y="4096512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50" b="1" dirty="0">
                <a:solidFill>
                  <a:srgbClr val="1F4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影像库</a:t>
            </a:r>
            <a:endParaRPr lang="en-US" sz="1650" dirty="0"/>
          </a:p>
        </p:txBody>
      </p:sp>
      <p:sp>
        <p:nvSpPr>
          <p:cNvPr id="24" name="Text 22"/>
          <p:cNvSpPr/>
          <p:nvPr/>
        </p:nvSpPr>
        <p:spPr>
          <a:xfrm>
            <a:off x="8540496" y="4535424"/>
            <a:ext cx="3200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现场照片归档 + EXIF/GPS 自动归类 + 多期对比图（v1.14.0 新增）</a:t>
            </a:r>
            <a:endParaRPr lang="en-US" sz="12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28016" cy="12801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676656" y="329184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D6A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 功能模块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汇报大屏：三层结构 · 距离字号 · 自动轮播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274552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32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帮扶管理信息系统 v1.17.3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11274552" cy="1143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A2E24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49808" y="1819656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F4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① 标题时间条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611880" y="1819656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标题 + 当前时间 + 距离档（3m/6m/10m）+ 自动轮播/暂停 + 退出大屏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457200" y="3017520"/>
            <a:ext cx="11274552" cy="1143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A2E24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749808" y="3145536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F4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② KPI 大数字区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611880" y="3145536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核心指标大数字（--bs-kpi-size 随距离档缩放），轮播时高亮当前数据视角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457200" y="4343400"/>
            <a:ext cx="11274552" cy="1143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A2E24">
                <a:alpha val="13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49808" y="4471416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F4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③ 图表区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611880" y="4471416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2–3 列图表（资金/项目/成效），支持按帮扶村/学校/单位筛选下钻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57200" y="5623560"/>
            <a:ext cx="5486400" cy="1051560"/>
          </a:xfrm>
          <a:prstGeom prst="roundRect">
            <a:avLst>
              <a:gd name="adj" fmla="val 6087"/>
            </a:avLst>
          </a:prstGeom>
          <a:solidFill>
            <a:srgbClr val="E8EFEA"/>
          </a:solidFill>
          <a:ln/>
          <a:effectLst>
            <a:outerShdw sx="100000" sy="100000" kx="0" ky="0" algn="bl" rotWithShape="0" blurRad="88900" dist="25400" dir="5400000">
              <a:srgbClr val="1A2E24">
                <a:alpha val="13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49808" y="574243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F4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距离字号分档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49808" y="603504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data-bigscreen-distance：3m（22/32）· 6m（28/40，默认）· 10m（36/56），仅大屏页生效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5989320" y="5623560"/>
            <a:ext cx="5486400" cy="1051560"/>
          </a:xfrm>
          <a:prstGeom prst="roundRect">
            <a:avLst>
              <a:gd name="adj" fmla="val 6087"/>
            </a:avLst>
          </a:prstGeom>
          <a:solidFill>
            <a:srgbClr val="E8EFEA"/>
          </a:solidFill>
          <a:ln/>
          <a:effectLst>
            <a:outerShdw sx="100000" sy="100000" kx="0" ky="0" algn="bl" rotWithShape="0" blurRad="88900" dist="25400" dir="5400000">
              <a:srgbClr val="1A2E24">
                <a:alpha val="13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400800" y="574243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1F4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自动轮播与退出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6400800" y="603504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默认关闭；开启后 15s 在 KPI 组 ↔ 图表组间切换，可暂停/继续/关闭（卸载清理定时器）；退出先退全屏再回工作台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28016" cy="12801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676656" y="329184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D6A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 功能模块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报表模板：任意字段组合 · 四种格式 · 一键打印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274552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帮扶管理信息系统 v1.17.3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1645920"/>
            <a:ext cx="5486400" cy="448056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A2E24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49808" y="1874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F4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字段自由组合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49808" y="2331720"/>
            <a:ext cx="49377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2400" indent="-152400">
              <a:spcAft>
                <a:spcPts val="900"/>
              </a:spcAft>
              <a:buSzPct val="100000"/>
              <a:buChar char="▪"/>
            </a:pPr>
            <a:r>
              <a:rPr lang="en-US" sz="125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按模块读取可用字段（available-fields），勾选需要的列</a:t>
            </a:r>
            <a:endParaRPr lang="en-US" sz="1250" dirty="0"/>
          </a:p>
          <a:p>
            <a:pPr algn="l" marL="152400" indent="-152400">
              <a:spcAft>
                <a:spcPts val="900"/>
              </a:spcAft>
              <a:buSzPct val="100000"/>
              <a:buChar char="▪"/>
            </a:pPr>
            <a:r>
              <a:rPr lang="en-US" sz="125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按字段映射保存为报表模板（模板可复用、可下发）</a:t>
            </a:r>
            <a:endParaRPr lang="en-US" sz="1250" dirty="0"/>
          </a:p>
          <a:p>
            <a:pPr algn="l" marL="152400" indent="-152400">
              <a:spcAft>
                <a:spcPts val="900"/>
              </a:spcAft>
              <a:buSzPct val="100000"/>
              <a:buChar char="▪"/>
            </a:pPr>
            <a:r>
              <a:rPr lang="en-US" sz="125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导出前可预览数据，确认无误再生成文件</a:t>
            </a:r>
            <a:endParaRPr lang="en-US" sz="1250" dirty="0"/>
          </a:p>
          <a:p>
            <a:pPr algn="l" marL="152400" indent="-152400">
              <a:spcAft>
                <a:spcPts val="900"/>
              </a:spcAft>
              <a:buSzPct val="100000"/>
              <a:buChar char="▪"/>
            </a:pPr>
            <a:r>
              <a:rPr lang="en-US" sz="125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保留原有模板导入 / 下载能力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63640" y="1645920"/>
            <a:ext cx="5486400" cy="448056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A2E24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556248" y="1874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F4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多格式导出与打印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556248" y="2331720"/>
            <a:ext cx="49377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2400" indent="-152400">
              <a:spcAft>
                <a:spcPts val="900"/>
              </a:spcAft>
              <a:buSzPct val="100000"/>
              <a:buChar char="▪"/>
            </a:pPr>
            <a:r>
              <a:rPr lang="en-US" sz="125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格式：xlsx / csv / docx / pdf（单次上限 5000 行）</a:t>
            </a:r>
            <a:endParaRPr lang="en-US" sz="1250" dirty="0"/>
          </a:p>
          <a:p>
            <a:pPr algn="l" marL="152400" indent="-152400">
              <a:spcAft>
                <a:spcPts val="900"/>
              </a:spcAft>
              <a:buSzPct val="100000"/>
              <a:buChar char="▪"/>
            </a:pPr>
            <a:r>
              <a:rPr lang="en-US" sz="125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Word / PDF 复用 report_export_service，PDF 用 reportlab 内置中文字体（不依赖系统字体）</a:t>
            </a:r>
            <a:endParaRPr lang="en-US" sz="1250" dirty="0"/>
          </a:p>
          <a:p>
            <a:pPr algn="l" marL="152400" indent="-152400">
              <a:spcAft>
                <a:spcPts val="900"/>
              </a:spcAft>
              <a:buSzPct val="100000"/>
              <a:buChar char="▪"/>
            </a:pPr>
            <a:r>
              <a:rPr lang="en-US" sz="125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打印：先取 print-data（JSON），再走浏览器打印样式，适合 A4 台账上报</a:t>
            </a:r>
            <a:endParaRPr lang="en-US" sz="1250" dirty="0"/>
          </a:p>
          <a:p>
            <a:pPr algn="l" marL="152400" indent="-152400">
              <a:spcAft>
                <a:spcPts val="900"/>
              </a:spcAft>
              <a:buSzPct val="100000"/>
              <a:buChar char="▪"/>
            </a:pPr>
            <a:r>
              <a:rPr lang="en-US" sz="125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组织数据域沿用模板既有逻辑，导出结果与列表筛选一致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57200" y="626364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v1.14.0 新增 POST /report-templates/{id}/export 与 GET /report-templates/{id}/print-data</a:t>
            </a:r>
            <a:endParaRPr lang="en-US" sz="11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28016" cy="12801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676656" y="329184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D6A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 功能模块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影像库：照片归档 + 多期对比，现场变化看得见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274552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34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帮扶管理信息系统 v1.17.3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1645920"/>
            <a:ext cx="5486400" cy="448056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A2E24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49808" y="18745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F4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归档与自动归类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49808" y="2331720"/>
            <a:ext cx="49377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2400" indent="-152400">
              <a:spcAft>
                <a:spcPts val="900"/>
              </a:spcAft>
              <a:buSzPct val="100000"/>
              <a:buChar char="▪"/>
            </a:pPr>
            <a:r>
              <a:rPr lang="en-US" sz="125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上传后登记归档：关联帮扶村 / 学校 / 项目（三选一或空）+ 标签</a:t>
            </a:r>
            <a:endParaRPr lang="en-US" sz="1250" dirty="0"/>
          </a:p>
          <a:p>
            <a:pPr algn="l" marL="152400" indent="-152400">
              <a:spcAft>
                <a:spcPts val="900"/>
              </a:spcAft>
              <a:buSzPct val="100000"/>
              <a:buChar char="▪"/>
            </a:pPr>
            <a:r>
              <a:rPr lang="en-US" sz="125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自动解析 EXIF：拍摄时间（DateTimeOriginal）与 GPS 坐标</a:t>
            </a:r>
            <a:endParaRPr lang="en-US" sz="1250" dirty="0"/>
          </a:p>
          <a:p>
            <a:pPr algn="l" marL="152400" indent="-152400">
              <a:spcAft>
                <a:spcPts val="900"/>
              </a:spcAft>
              <a:buSzPct val="100000"/>
              <a:buChar char="▪"/>
            </a:pPr>
            <a:r>
              <a:rPr lang="en-US" sz="125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GPS ≤5km 就近自动匹配帮扶村；无 EXIF 时标记为手工来源</a:t>
            </a:r>
            <a:endParaRPr lang="en-US" sz="1250" dirty="0"/>
          </a:p>
          <a:p>
            <a:pPr algn="l" marL="152400" indent="-152400">
              <a:spcAft>
                <a:spcPts val="900"/>
              </a:spcAft>
              <a:buSzPct val="100000"/>
              <a:buChar char="▪"/>
            </a:pPr>
            <a:r>
              <a:rPr lang="en-US" sz="125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拍摄点标识 spot_key（默认 GPS 量化串）：同一拍摄点多期照片自动分组</a:t>
            </a:r>
            <a:endParaRPr lang="en-US" sz="1250" dirty="0"/>
          </a:p>
          <a:p>
            <a:pPr algn="l" marL="152400" indent="-152400">
              <a:spcAft>
                <a:spcPts val="900"/>
              </a:spcAft>
              <a:buSzPct val="100000"/>
              <a:buChar char="▪"/>
            </a:pPr>
            <a:r>
              <a:rPr lang="en-US" sz="125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按村 / 校 / 项目 / 标签 / 日期区间筛选；删除为软删除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263640" y="1645920"/>
            <a:ext cx="5486400" cy="448056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A2E24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556248" y="1874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F4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多期对比图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556248" y="2331720"/>
            <a:ext cx="49377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2400" indent="-152400">
              <a:spcAft>
                <a:spcPts val="900"/>
              </a:spcAft>
              <a:buSzPct val="100000"/>
              <a:buChar char="▪"/>
            </a:pPr>
            <a:r>
              <a:rPr lang="en-US" sz="125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选同一拍摄点的多张照片，一键生成 PNG 对比图</a:t>
            </a:r>
            <a:endParaRPr lang="en-US" sz="1250" dirty="0"/>
          </a:p>
          <a:p>
            <a:pPr algn="l" marL="152400" indent="-152400">
              <a:spcAft>
                <a:spcPts val="900"/>
              </a:spcAft>
              <a:buSzPct val="100000"/>
              <a:buChar char="▪"/>
            </a:pPr>
            <a:r>
              <a:rPr lang="en-US" sz="125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≤3 张横排；≥4 张按 2 列排列；每张下方标注拍摄日期</a:t>
            </a:r>
            <a:endParaRPr lang="en-US" sz="1250" dirty="0"/>
          </a:p>
          <a:p>
            <a:pPr algn="l" marL="152400" indent="-152400">
              <a:spcAft>
                <a:spcPts val="900"/>
              </a:spcAft>
              <a:buSzPct val="100000"/>
              <a:buChar char="▪"/>
            </a:pPr>
            <a:r>
              <a:rPr lang="en-US" sz="125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单次最多 9 张，可下载留存，用于汇报与验收举证</a:t>
            </a:r>
            <a:endParaRPr lang="en-US" sz="1250" dirty="0"/>
          </a:p>
          <a:p>
            <a:pPr algn="l" marL="152400" indent="-152400">
              <a:spcAft>
                <a:spcPts val="900"/>
              </a:spcAft>
              <a:buSzPct val="100000"/>
              <a:buChar char="▪"/>
            </a:pPr>
            <a:r>
              <a:rPr lang="en-US" sz="125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图片只允许读取上传目录内文件，防路径穿越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57200" y="626364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v1.14.0 新增 photo_archives 表 + /media/photos/* API（7 端点，含对比图合成与下载）</a:t>
            </a:r>
            <a:endParaRPr lang="en-US" sz="11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28016" cy="12801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676656" y="329184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D6A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03 功能模块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系统管理：6 个聚合页 · 页内 Tab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274552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帮扶管理信息系统 v1.17.3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1645920"/>
            <a:ext cx="5440680" cy="1225296"/>
          </a:xfrm>
          <a:prstGeom prst="roundRect">
            <a:avLst>
              <a:gd name="adj" fmla="val 52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A2E24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31520" y="175564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F4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组织与权限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1520" y="2139696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用户与组织 · 角色管理 · 菜单管理 · 权限包管理 · 组织机构 · 单位授权（R33）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63640" y="1645920"/>
            <a:ext cx="5440680" cy="1225296"/>
          </a:xfrm>
          <a:prstGeom prst="roundRect">
            <a:avLst>
              <a:gd name="adj" fmla="val 52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A2E24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537960" y="175564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F4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安全与审计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37960" y="2139696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安全审计 · 零信任 · 密钥管理 · 数据分级 · 加密设置 · 机器码管理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3090672"/>
            <a:ext cx="5440680" cy="1225296"/>
          </a:xfrm>
          <a:prstGeom prst="roundRect">
            <a:avLst>
              <a:gd name="adj" fmla="val 52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A2E24">
                <a:alpha val="13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31520" y="32004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F4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运维与监控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31520" y="3584448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系统总览 · 健康检查 · 系统监控 · 缓存管理 · 后台任务 · 运行环境 · 错误上报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63640" y="3090672"/>
            <a:ext cx="5440680" cy="1225296"/>
          </a:xfrm>
          <a:prstGeom prst="roundRect">
            <a:avLst>
              <a:gd name="adj" fmla="val 52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A2E24">
                <a:alpha val="13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537960" y="32004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F4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备份与存储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537960" y="3584448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备份管理 · 分片上传 · 地图瓦片 · 管控配置包 · 系统配置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57200" y="4535424"/>
            <a:ext cx="5440680" cy="1225296"/>
          </a:xfrm>
          <a:prstGeom prst="roundRect">
            <a:avLst>
              <a:gd name="adj" fmla="val 52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A2E24">
                <a:alpha val="13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31520" y="464515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F4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系统设置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31520" y="502920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更新日志（v1.14.0 起多语言 / 邮件设置已下线）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263640" y="4535424"/>
            <a:ext cx="5440680" cy="1225296"/>
          </a:xfrm>
          <a:prstGeom prst="roundRect">
            <a:avLst>
              <a:gd name="adj" fmla="val 522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A2E24">
                <a:alpha val="13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37960" y="464515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F4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关于与反馈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537960" y="502920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关于系统 · 反馈管理 · 帮助中心 · 管理面板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57200" y="61722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统一入口 + 页内 Tab：旧页面/旧路由全保留，菜单 key 与权限包全兼容（下线 key 仅权限兼容）；v1.15.0 外观设置收在头像下拉；v1.15.12 起组织与权限含 R33 单位授权</a:t>
            </a:r>
            <a:endParaRPr lang="en-US" sz="10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1429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822960"/>
            <a:ext cx="4206240" cy="431512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0" b="1" dirty="0">
                <a:solidFill>
                  <a:srgbClr val="1C36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</a:t>
            </a:r>
            <a:endParaRPr lang="en-US" sz="20000" dirty="0"/>
          </a:p>
        </p:txBody>
      </p:sp>
      <p:sp>
        <p:nvSpPr>
          <p:cNvPr id="3" name="Text 1"/>
          <p:cNvSpPr/>
          <p:nvPr/>
        </p:nvSpPr>
        <p:spPr>
          <a:xfrm>
            <a:off x="914400" y="3977640"/>
            <a:ext cx="10332720" cy="87765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安全体系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932688" y="48920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C9A22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SECURITY &amp; COMPLIANCE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406640" y="1417320"/>
            <a:ext cx="42062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2400" indent="-1524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D7E2D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四角色权限模型</a:t>
            </a:r>
            <a:endParaRPr lang="en-US" sz="1400" dirty="0"/>
          </a:p>
          <a:p>
            <a:pPr algn="l" marL="152400" indent="-1524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D7E2D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组织数据隔离（fail-closed）</a:t>
            </a:r>
            <a:endParaRPr lang="en-US" sz="1400" dirty="0"/>
          </a:p>
          <a:p>
            <a:pPr algn="l" marL="152400" indent="-1524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D7E2D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PII 字段透明加密（ADR-0005）</a:t>
            </a:r>
            <a:endParaRPr lang="en-US" sz="1400" dirty="0"/>
          </a:p>
          <a:p>
            <a:pPr algn="l" marL="152400" indent="-1524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D7E2D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R33 单位授权：上级下发授权包 · 下级只读执行</a:t>
            </a:r>
            <a:endParaRPr lang="en-US" sz="1400" dirty="0"/>
          </a:p>
          <a:p>
            <a:pPr algn="l" marL="152400" indent="-1524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D7E2D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审计合规与供应链完整性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274552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6E817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36</a:t>
            </a:r>
            <a:endParaRPr lang="en-US" sz="11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28016" cy="12801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676656" y="329184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D6A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 安全体系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四角色权限模型：简单即安全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274552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37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帮扶管理信息系统 v1.17.3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2697480" cy="3017520"/>
          </a:xfrm>
          <a:prstGeom prst="roundRect">
            <a:avLst>
              <a:gd name="adj" fmla="val 23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A2E24">
                <a:alpha val="13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685800" y="1920240"/>
            <a:ext cx="2240280" cy="548640"/>
          </a:xfrm>
          <a:prstGeom prst="roundRect">
            <a:avLst>
              <a:gd name="adj" fmla="val 8333"/>
            </a:avLst>
          </a:prstGeom>
          <a:solidFill>
            <a:srgbClr val="1F4A38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92024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super_admin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685800" y="26060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超级管理员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85800" y="3017520"/>
            <a:ext cx="2286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全局数据 · 组织管理 · 系统配置 · 用户与角色管理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364992" y="1691640"/>
            <a:ext cx="2697480" cy="3017520"/>
          </a:xfrm>
          <a:prstGeom prst="roundRect">
            <a:avLst>
              <a:gd name="adj" fmla="val 23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A2E24">
                <a:alpha val="13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593592" y="1920240"/>
            <a:ext cx="2240280" cy="548640"/>
          </a:xfrm>
          <a:prstGeom prst="roundRect">
            <a:avLst>
              <a:gd name="adj" fmla="val 8333"/>
            </a:avLst>
          </a:prstGeom>
          <a:solidFill>
            <a:srgbClr val="E8EFEA"/>
          </a:solidFill>
          <a:ln/>
        </p:spPr>
      </p:sp>
      <p:sp>
        <p:nvSpPr>
          <p:cNvPr id="14" name="Text 12"/>
          <p:cNvSpPr/>
          <p:nvPr/>
        </p:nvSpPr>
        <p:spPr>
          <a:xfrm>
            <a:off x="3593592" y="192024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F4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admin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3593592" y="26060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管理员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593592" y="3017520"/>
            <a:ext cx="2286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本组织及下级数据 · 业务管理 · 数据包收发 · 备份恢复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272784" y="1691640"/>
            <a:ext cx="2697480" cy="3017520"/>
          </a:xfrm>
          <a:prstGeom prst="roundRect">
            <a:avLst>
              <a:gd name="adj" fmla="val 23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A2E24">
                <a:alpha val="13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501384" y="1920240"/>
            <a:ext cx="2240280" cy="548640"/>
          </a:xfrm>
          <a:prstGeom prst="roundRect">
            <a:avLst>
              <a:gd name="adj" fmla="val 8333"/>
            </a:avLst>
          </a:prstGeom>
          <a:solidFill>
            <a:srgbClr val="E8EFEA"/>
          </a:solidFill>
          <a:ln/>
        </p:spPr>
      </p:sp>
      <p:sp>
        <p:nvSpPr>
          <p:cNvPr id="19" name="Text 17"/>
          <p:cNvSpPr/>
          <p:nvPr/>
        </p:nvSpPr>
        <p:spPr>
          <a:xfrm>
            <a:off x="6501384" y="192024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F4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user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6501384" y="26060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普通用户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501384" y="3017520"/>
            <a:ext cx="2286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本人录入数据 · 业务全流程操作（申请/审批/录入/上报）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9180576" y="1691640"/>
            <a:ext cx="2697480" cy="3017520"/>
          </a:xfrm>
          <a:prstGeom prst="roundRect">
            <a:avLst>
              <a:gd name="adj" fmla="val 237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A2E24">
                <a:alpha val="13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409176" y="1920240"/>
            <a:ext cx="2240280" cy="548640"/>
          </a:xfrm>
          <a:prstGeom prst="roundRect">
            <a:avLst>
              <a:gd name="adj" fmla="val 8333"/>
            </a:avLst>
          </a:prstGeom>
          <a:solidFill>
            <a:srgbClr val="E8EFEA"/>
          </a:solidFill>
          <a:ln/>
        </p:spPr>
      </p:sp>
      <p:sp>
        <p:nvSpPr>
          <p:cNvPr id="24" name="Text 22"/>
          <p:cNvSpPr/>
          <p:nvPr/>
        </p:nvSpPr>
        <p:spPr>
          <a:xfrm>
            <a:off x="9409176" y="1920240"/>
            <a:ext cx="2240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F4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viewer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9409176" y="260604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查看者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9409176" y="3017520"/>
            <a:ext cx="22860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授权范围只读 · 无任何写操作（后端强制 403）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57200" y="5029200"/>
            <a:ext cx="11247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2400" indent="-1524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历史角色自动归一化：approval_leader / manager → admin，operator → user（前后端同源映射）</a:t>
            </a:r>
            <a:endParaRPr lang="en-US" sz="1300" dirty="0"/>
          </a:p>
          <a:p>
            <a:pPr algn="l" marL="152400" indent="-1524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菜单单一源（后端 v2：板块→入口→Tab）；可见性三级裁剪：角色默认 → 权限包 → 用户级配置；公开模块全角色一致</a:t>
            </a:r>
            <a:endParaRPr lang="en-US" sz="1300" dirty="0"/>
          </a:p>
          <a:p>
            <a:pPr algn="l" marL="152400" indent="-152400">
              <a:spcAft>
                <a:spcPts val="800"/>
              </a:spcAft>
              <a:buSzPct val="100000"/>
              <a:buChar char="▪"/>
            </a:pPr>
            <a:r>
              <a:rPr lang="en-US" sz="130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写操作后端二次校验：viewer 写入一律 403，前端隐藏按钮只是体验层</a:t>
            </a:r>
            <a:endParaRPr lang="en-US" sz="13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28016" cy="12801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676656" y="329184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D6A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 安全体系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数据隔离：fail-closed 哲学（ADR-0002）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274552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38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帮扶管理信息系统 v1.17.3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3639312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A2E24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31520" y="18745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F4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ALL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2377440" y="18745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超级管理员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244144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不过滤，全局可见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4370832" y="1691640"/>
            <a:ext cx="3639312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A2E24">
                <a:alpha val="13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645152" y="18745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F4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OWN_DEPT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6291072" y="18745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管理员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645152" y="244144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本组织 + 下级组织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284464" y="1691640"/>
            <a:ext cx="3639312" cy="1417320"/>
          </a:xfrm>
          <a:prstGeom prst="roundRect">
            <a:avLst>
              <a:gd name="adj" fmla="val 451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A2E24">
                <a:alpha val="13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558784" y="18745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F4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OWN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0204704" y="187452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普通用户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558784" y="2441448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仅本人录入（created_by）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457200" y="3429000"/>
            <a:ext cx="11274552" cy="2606040"/>
          </a:xfrm>
          <a:prstGeom prst="roundRect">
            <a:avLst>
              <a:gd name="adj" fmla="val 245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A2E24">
                <a:alpha val="13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49808" y="3639312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F4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三条 fail-closed 铁律（回归测试锁定）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49808" y="4069080"/>
            <a:ext cx="10607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2400" indent="-1524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无组织用户绝不升级为管理员：旧实现“无组织 → is_admin=True”已根除，一律回退“仅本人”</a:t>
            </a:r>
            <a:endParaRPr lang="en-US" sz="1350" dirty="0"/>
          </a:p>
          <a:p>
            <a:pPr algn="l" marL="152400" indent="-1524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模型缺过滤列 = 拒绝而非放行：缺组织列降级“仅本人”；连 owner 列都缺则返回空集（绝不返回全量）</a:t>
            </a:r>
            <a:endParaRPr lang="en-US" sz="1350" dirty="0"/>
          </a:p>
          <a:p>
            <a:pPr algn="l" marL="152400" indent="-152400">
              <a:spcAft>
                <a:spcPts val="1000"/>
              </a:spcAft>
              <a:buSzPct val="100000"/>
              <a:buChar char="▪"/>
            </a:pPr>
            <a:r>
              <a:rPr lang="en-US" sz="135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组织删除级联守卫（ADR-0003）：名下有项目/用户时拒绝硬删并提示计数；外键 CASCADE→SET NULL 截断级联链</a:t>
            </a:r>
            <a:endParaRPr lang="en-US" sz="13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28016" cy="12801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676656" y="329184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D6A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 安全体系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PII 字段透明加密（ADR-0005）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274552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39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帮扶管理信息系统 v1.17.3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1645920"/>
            <a:ext cx="5486400" cy="283464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A2E24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49808" y="184708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F4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读写全透明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868680" y="2286000"/>
            <a:ext cx="1965960" cy="603504"/>
          </a:xfrm>
          <a:prstGeom prst="roundRect">
            <a:avLst>
              <a:gd name="adj" fmla="val 7576"/>
            </a:avLst>
          </a:prstGeom>
          <a:solidFill>
            <a:srgbClr val="E8EFEA"/>
          </a:solidFill>
          <a:ln/>
        </p:spPr>
      </p:sp>
      <p:sp>
        <p:nvSpPr>
          <p:cNvPr id="10" name="Text 8"/>
          <p:cNvSpPr/>
          <p:nvPr/>
        </p:nvSpPr>
        <p:spPr>
          <a:xfrm>
            <a:off x="868680" y="2286000"/>
            <a:ext cx="1965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ORM 写入 · 明文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871216" y="2587752"/>
            <a:ext cx="219456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868680" y="2999232"/>
            <a:ext cx="1965960" cy="603504"/>
          </a:xfrm>
          <a:prstGeom prst="roundRect">
            <a:avLst>
              <a:gd name="adj" fmla="val 7576"/>
            </a:avLst>
          </a:prstGeom>
          <a:solidFill>
            <a:srgbClr val="E8EFEA"/>
          </a:solidFill>
          <a:ln/>
        </p:spPr>
      </p:sp>
      <p:sp>
        <p:nvSpPr>
          <p:cNvPr id="13" name="Text 11"/>
          <p:cNvSpPr/>
          <p:nvPr/>
        </p:nvSpPr>
        <p:spPr>
          <a:xfrm>
            <a:off x="868680" y="2999232"/>
            <a:ext cx="1965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EncryptedText · AES-SIV 加密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871216" y="3300984"/>
            <a:ext cx="219456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868680" y="3712464"/>
            <a:ext cx="1965960" cy="603504"/>
          </a:xfrm>
          <a:prstGeom prst="roundRect">
            <a:avLst>
              <a:gd name="adj" fmla="val 7576"/>
            </a:avLst>
          </a:prstGeom>
          <a:solidFill>
            <a:srgbClr val="1F4A38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3712464"/>
            <a:ext cx="19659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SQLite · enc.v1: 密文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154680" y="2331720"/>
            <a:ext cx="26974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152400" indent="-152400"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覆盖 9 列：身份证号 / 电话类（含一户一档 helper_phone / id_card，v1.14.0 起替换 villagers 两列）</a:t>
            </a:r>
            <a:endParaRPr lang="en-US" sz="1150" dirty="0"/>
          </a:p>
          <a:p>
            <a:pPr marL="152400" indent="-152400"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密钥：ENCRYPTION_KEY 派生（多机同配）或运行时密钥库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263640" y="1645920"/>
            <a:ext cx="5486400" cy="283464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A2E24">
                <a:alpha val="13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6556248" y="1847088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F4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确定性加密 = 查询零改写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556248" y="2331720"/>
            <a:ext cx="49377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2400" indent="-152400">
              <a:spcAft>
                <a:spcPts val="900"/>
              </a:spcAft>
              <a:buSzPct val="100000"/>
              <a:buChar char="▪"/>
            </a:pPr>
            <a:r>
              <a:rPr lang="en-US" sz="125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AES-SIV（RFC 5297）：同明文恒同密文</a:t>
            </a:r>
            <a:endParaRPr lang="en-US" sz="1250" dirty="0"/>
          </a:p>
          <a:p>
            <a:pPr algn="l" marL="152400" indent="-152400">
              <a:spcAft>
                <a:spcPts val="900"/>
              </a:spcAft>
              <a:buSzPct val="100000"/>
              <a:buChar char="▪"/>
            </a:pPr>
            <a:r>
              <a:rPr lang="en-US" sz="125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WHERE phone = :明文 绑定参数加密后直接命中密文——既有等值查询一行不改</a:t>
            </a:r>
            <a:endParaRPr lang="en-US" sz="1250" dirty="0"/>
          </a:p>
          <a:p>
            <a:pPr algn="l" marL="152400" indent="-152400">
              <a:spcAft>
                <a:spcPts val="900"/>
              </a:spcAft>
              <a:buSzPct val="100000"/>
              <a:buChar char="▪"/>
            </a:pPr>
            <a:r>
              <a:rPr lang="en-US" sz="125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DB 文件直接打开看不到任何明文 PII（测试实证）</a:t>
            </a:r>
            <a:endParaRPr lang="en-US" sz="1250" dirty="0"/>
          </a:p>
          <a:p>
            <a:pPr algn="l" marL="152400" indent="-152400">
              <a:spcAft>
                <a:spcPts val="900"/>
              </a:spcAft>
              <a:buSzPct val="100000"/>
              <a:buChar char="▪"/>
            </a:pPr>
            <a:r>
              <a:rPr lang="en-US" sz="125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历史明文行原样透出：迁移前数据不报错、不二次加密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57200" y="4709160"/>
            <a:ext cx="11274552" cy="1417320"/>
          </a:xfrm>
          <a:prstGeom prst="roundRect">
            <a:avLst>
              <a:gd name="adj" fmla="val 4516"/>
            </a:avLst>
          </a:prstGeom>
          <a:solidFill>
            <a:srgbClr val="E8EFEA"/>
          </a:solidFill>
          <a:ln/>
          <a:effectLst>
            <a:outerShdw sx="100000" sy="100000" kx="0" ky="0" algn="bl" rotWithShape="0" blurRad="88900" dist="25400" dir="5400000">
              <a:srgbClr val="1A2E24">
                <a:alpha val="13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49808" y="486460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1F4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纵深防御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49808" y="5193792"/>
            <a:ext cx="10607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SQLCipher fail-closed：启用加密时先探测驱动，普通 sqlite3 会静默忽略 PRAGMA key 造成“假加密”——探测不到直接拒绝启动；PRAGMA key 为连接首条语句字面量。前端 DataMaskingService 在解密后的明文上按权限掩码展示。</a:t>
            </a:r>
            <a:endParaRPr lang="en-US" sz="12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28016" cy="12801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676656" y="329184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D6A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 安全体系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审计合规：每一步都留痕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274552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40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帮扶管理信息系统 v1.17.3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1764792"/>
            <a:ext cx="109728" cy="1051560"/>
          </a:xfrm>
          <a:prstGeom prst="rect">
            <a:avLst/>
          </a:prstGeom>
          <a:solidFill>
            <a:srgbClr val="1F4A38"/>
          </a:solidFill>
          <a:ln/>
        </p:spPr>
      </p:sp>
      <p:sp>
        <p:nvSpPr>
          <p:cNvPr id="8" name="Text 6"/>
          <p:cNvSpPr/>
          <p:nvPr/>
        </p:nvSpPr>
        <p:spPr>
          <a:xfrm>
            <a:off x="713232" y="170992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F4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双写审计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13232" y="2093976"/>
            <a:ext cx="5029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AuditLogger 同时写文件日志与数据库（audit_logs / login_attempts / api_access_logs），断电不丢证据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63640" y="1764792"/>
            <a:ext cx="109728" cy="105156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11" name="Text 9"/>
          <p:cNvSpPr/>
          <p:nvPr/>
        </p:nvSpPr>
        <p:spPr>
          <a:xfrm>
            <a:off x="6519672" y="1709928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F4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全程留痕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19672" y="2093976"/>
            <a:ext cx="5029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所有写操作强制 write_work_log；导入导出/确认各环节写操作历史；字段级变更历史 old→new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3246120"/>
            <a:ext cx="109728" cy="1051560"/>
          </a:xfrm>
          <a:prstGeom prst="rect">
            <a:avLst/>
          </a:prstGeom>
          <a:solidFill>
            <a:srgbClr val="1F4A38"/>
          </a:solidFill>
          <a:ln/>
        </p:spPr>
      </p:sp>
      <p:sp>
        <p:nvSpPr>
          <p:cNvPr id="14" name="Text 12"/>
          <p:cNvSpPr/>
          <p:nvPr/>
        </p:nvSpPr>
        <p:spPr>
          <a:xfrm>
            <a:off x="713232" y="3191256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F4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错误不泄密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13232" y="3575304"/>
            <a:ext cx="5029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api/v1 响应禁止内插异常对象——源码扫描测试强制拦截，detail 一律泛化文案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63640" y="3246120"/>
            <a:ext cx="109728" cy="105156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17" name="Text 15"/>
          <p:cNvSpPr/>
          <p:nvPr/>
        </p:nvSpPr>
        <p:spPr>
          <a:xfrm>
            <a:off x="6519672" y="3191256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F4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限流防线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519672" y="3575304"/>
            <a:ext cx="5029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登录 5/分 · 注册 3/分 · 刷新 10/分 · CSRF 30/分（滑动窗口，签名 fail-closed）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57200" y="4727448"/>
            <a:ext cx="109728" cy="1051560"/>
          </a:xfrm>
          <a:prstGeom prst="rect">
            <a:avLst/>
          </a:prstGeom>
          <a:solidFill>
            <a:srgbClr val="1F4A38"/>
          </a:solidFill>
          <a:ln/>
        </p:spPr>
      </p:sp>
      <p:sp>
        <p:nvSpPr>
          <p:cNvPr id="20" name="Text 18"/>
          <p:cNvSpPr/>
          <p:nvPr/>
        </p:nvSpPr>
        <p:spPr>
          <a:xfrm>
            <a:off x="713232" y="4672584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F4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破窗恢复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13232" y="5056632"/>
            <a:ext cx="5029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ADR-0008：出厂管理员密码恢复仅限本机 + 未激活账号 + 全程审计，唯一例外通道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263640" y="4727448"/>
            <a:ext cx="109728" cy="105156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23" name="Text 21"/>
          <p:cNvSpPr/>
          <p:nvPr/>
        </p:nvSpPr>
        <p:spPr>
          <a:xfrm>
            <a:off x="6519672" y="4672584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F4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令牌治理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519672" y="5056632"/>
            <a:ext cx="50292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JWT 携带 jti + Token 黑名单持久化；登出/改密立即失效；token_version 版本化吊销</a:t>
            </a:r>
            <a:endParaRPr lang="en-US" sz="115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28016" cy="12801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676656" y="329184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D6A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04 安全体系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供应链完整性：从源码到安装包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274552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帮扶管理信息系统 v1.17.3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1783080"/>
            <a:ext cx="2395728" cy="868680"/>
          </a:xfrm>
          <a:prstGeom prst="chevron">
            <a:avLst/>
          </a:prstGeom>
          <a:solidFill>
            <a:srgbClr val="1F4A38"/>
          </a:solidFill>
          <a:ln/>
        </p:spPr>
      </p:sp>
      <p:sp>
        <p:nvSpPr>
          <p:cNvPr id="8" name="Text 6"/>
          <p:cNvSpPr/>
          <p:nvPr/>
        </p:nvSpPr>
        <p:spPr>
          <a:xfrm>
            <a:off x="585216" y="1783080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源码仓库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2761488" y="1783080"/>
            <a:ext cx="2395728" cy="868680"/>
          </a:xfrm>
          <a:prstGeom prst="chevron">
            <a:avLst/>
          </a:prstGeom>
          <a:solidFill>
            <a:srgbClr val="1F4A38"/>
          </a:solidFill>
          <a:ln/>
        </p:spPr>
      </p:sp>
      <p:sp>
        <p:nvSpPr>
          <p:cNvPr id="10" name="Text 8"/>
          <p:cNvSpPr/>
          <p:nvPr/>
        </p:nvSpPr>
        <p:spPr>
          <a:xfrm>
            <a:off x="2889504" y="1783080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CI 构建（Actions pin SHA）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065776" y="1783080"/>
            <a:ext cx="2395728" cy="868680"/>
          </a:xfrm>
          <a:prstGeom prst="chevron">
            <a:avLst/>
          </a:prstGeom>
          <a:solidFill>
            <a:srgbClr val="1F4A38"/>
          </a:solidFill>
          <a:ln/>
        </p:spPr>
      </p:sp>
      <p:sp>
        <p:nvSpPr>
          <p:cNvPr id="12" name="Text 10"/>
          <p:cNvSpPr/>
          <p:nvPr/>
        </p:nvSpPr>
        <p:spPr>
          <a:xfrm>
            <a:off x="5193792" y="1783080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依赖钉扎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70064" y="1783080"/>
            <a:ext cx="2395728" cy="868680"/>
          </a:xfrm>
          <a:prstGeom prst="chevron">
            <a:avLst/>
          </a:prstGeom>
          <a:solidFill>
            <a:srgbClr val="C9A227"/>
          </a:solidFill>
          <a:ln/>
        </p:spPr>
      </p:sp>
      <p:sp>
        <p:nvSpPr>
          <p:cNvPr id="14" name="Text 12"/>
          <p:cNvSpPr/>
          <p:nvPr/>
        </p:nvSpPr>
        <p:spPr>
          <a:xfrm>
            <a:off x="7498080" y="1783080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安装包 + SHA256SUMS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674352" y="1783080"/>
            <a:ext cx="2395728" cy="868680"/>
          </a:xfrm>
          <a:prstGeom prst="chevron">
            <a:avLst/>
          </a:prstGeom>
          <a:solidFill>
            <a:srgbClr val="1F4A38"/>
          </a:solidFill>
          <a:ln/>
        </p:spPr>
      </p:sp>
      <p:sp>
        <p:nvSpPr>
          <p:cNvPr id="16" name="Text 14"/>
          <p:cNvSpPr/>
          <p:nvPr/>
        </p:nvSpPr>
        <p:spPr>
          <a:xfrm>
            <a:off x="9802368" y="1783080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离线分发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57200" y="3108960"/>
            <a:ext cx="112471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2400" indent="-152400">
              <a:spcAft>
                <a:spcPts val="1100"/>
              </a:spcAft>
              <a:buSzPct val="100000"/>
              <a:buChar char="▪"/>
            </a:pPr>
            <a:r>
              <a:rPr lang="en-US" sz="135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VC++ 运行库 37.7MB 移出 git：CI 从微软官方直链下载 + SHA256 钉扎；安装期 NSIS 钩子二次校验（三态语义：匹配安装 / 篡改中止 / 工具缺失跳过）</a:t>
            </a:r>
            <a:endParaRPr lang="en-US" sz="1350" dirty="0"/>
          </a:p>
          <a:p>
            <a:pPr algn="l" marL="152400" indent="-152400">
              <a:spcAft>
                <a:spcPts val="1100"/>
              </a:spcAft>
              <a:buSzPct val="100000"/>
              <a:buChar char="▪"/>
            </a:pPr>
            <a:r>
              <a:rPr lang="en-US" sz="135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Release 附三个产物族独立 SHA256SUMS 清单；前端产物同步由字节粗校验升级为逐文件哈希比对</a:t>
            </a:r>
            <a:endParaRPr lang="en-US" sz="1350" dirty="0"/>
          </a:p>
          <a:p>
            <a:pPr algn="l" marL="152400" indent="-152400">
              <a:spcAft>
                <a:spcPts val="1100"/>
              </a:spcAft>
              <a:buSzPct val="100000"/>
              <a:buChar char="▪"/>
            </a:pPr>
            <a:r>
              <a:rPr lang="en-US" sz="135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GitHub Actions 全量 pin 到 commit SHA（57 处 uses），消除 tag 漂移的供应链风险</a:t>
            </a:r>
            <a:endParaRPr lang="en-US" sz="1350" dirty="0"/>
          </a:p>
          <a:p>
            <a:pPr algn="l" marL="152400" indent="-152400">
              <a:spcAft>
                <a:spcPts val="1100"/>
              </a:spcAft>
              <a:buSzPct val="100000"/>
              <a:buChar char="▪"/>
            </a:pPr>
            <a:r>
              <a:rPr lang="en-US" sz="135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代码签名管线就绪：配置证书后自动签名后端 exe 与安装包/卸载器</a:t>
            </a:r>
            <a:endParaRPr lang="en-US" sz="1350" dirty="0"/>
          </a:p>
          <a:p>
            <a:pPr algn="l" marL="152400" indent="-152400">
              <a:spcAft>
                <a:spcPts val="1100"/>
              </a:spcAft>
              <a:buSzPct val="100000"/>
              <a:buChar char="▪"/>
            </a:pPr>
            <a:r>
              <a:rPr lang="en-US" sz="135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NSIS 钩子路径转义根修（v1.11.1）：C 风格转义损坏路径曾致真机安装全部中止</a:t>
            </a:r>
            <a:endParaRPr lang="en-US" sz="135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1429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822960"/>
            <a:ext cx="4206240" cy="431512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0" b="1" dirty="0">
                <a:solidFill>
                  <a:srgbClr val="1C36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05</a:t>
            </a:r>
            <a:endParaRPr lang="en-US" sz="20000" dirty="0"/>
          </a:p>
        </p:txBody>
      </p:sp>
      <p:sp>
        <p:nvSpPr>
          <p:cNvPr id="3" name="Text 1"/>
          <p:cNvSpPr/>
          <p:nvPr/>
        </p:nvSpPr>
        <p:spPr>
          <a:xfrm>
            <a:off x="914400" y="3977640"/>
            <a:ext cx="10332720" cy="87765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质量工程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932688" y="48920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C9A22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QUALITY ENGINEERING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406640" y="1417320"/>
            <a:ext cx="42062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2400" indent="-1524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D7E2D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20,809 项自动化测试（后端 13,942 + 前端 6,867）</a:t>
            </a:r>
            <a:endParaRPr lang="en-US" sz="1400" dirty="0"/>
          </a:p>
          <a:p>
            <a:pPr algn="l" marL="152400" indent="-1524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D7E2D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三重前端门禁 + 双重后端门禁</a:t>
            </a:r>
            <a:endParaRPr lang="en-US" sz="1400" dirty="0"/>
          </a:p>
          <a:p>
            <a:pPr algn="l" marL="152400" indent="-1524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D7E2D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CI/CD 流水线（PR Checks 7 作业）</a:t>
            </a:r>
            <a:endParaRPr lang="en-US" sz="1400" dirty="0"/>
          </a:p>
          <a:p>
            <a:pPr algn="l" marL="152400" indent="-1524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D7E2D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代码深度审查（376 文件 / 918 条发现）</a:t>
            </a:r>
            <a:endParaRPr lang="en-US" sz="1400" dirty="0"/>
          </a:p>
          <a:p>
            <a:pPr algn="l" marL="152400" indent="-1524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D7E2D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双平台安装包自动构建</a:t>
            </a:r>
            <a:endParaRPr lang="en-US" sz="1400" dirty="0"/>
          </a:p>
          <a:p>
            <a:pPr algn="l" marL="152400" indent="-1524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D7E2D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 项预防棘轮门禁 + 11 个真实 HTTP 探针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274552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6E817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42</a:t>
            </a:r>
            <a:endParaRPr lang="en-US" sz="11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28016" cy="12801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676656" y="329184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D6A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05 质量工程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测试体系：数字不会说谎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274552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43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帮扶管理信息系统 v1.17.3</a:t>
            </a:r>
            <a:endParaRPr lang="en-US" sz="1050" dirty="0"/>
          </a:p>
        </p:txBody>
      </p:sp>
      <p:graphicFrame>
        <p:nvGraphicFramePr>
          <p:cNvPr id="7" name="Chart 0" descr=""/>
          <p:cNvGraphicFramePr/>
          <p:nvPr/>
        </p:nvGraphicFramePr>
        <p:xfrm>
          <a:off x="457200" y="1783080"/>
          <a:ext cx="6035040" cy="38404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8" name="Text 5"/>
          <p:cNvSpPr/>
          <p:nvPr/>
        </p:nvSpPr>
        <p:spPr>
          <a:xfrm>
            <a:off x="640080" y="5669280"/>
            <a:ext cx="6035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0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数据来源：2026-10-24 实测（v1.17.3）· 后端 14,404 / 前端 6,995 用例（329 文件）· 覆盖率 100% · 视觉回归 10 页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949440" y="1783080"/>
            <a:ext cx="4800600" cy="448056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A2E24">
                <a:alpha val="13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7242048" y="1965960"/>
            <a:ext cx="4215384" cy="3357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F4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测试纪律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7242048" y="2384012"/>
            <a:ext cx="4215384" cy="37333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2400" indent="-152400">
              <a:spcAft>
                <a:spcPts val="800"/>
              </a:spcAft>
              <a:buSzPct val="100000"/>
              <a:buChar char="▪"/>
            </a:pPr>
            <a:r>
              <a:rPr lang="en-US" sz="110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前后端覆盖率门禁均 100%（CI 硬阈值，12 个源码分组全约束）</a:t>
            </a:r>
            <a:endParaRPr lang="en-US" sz="1100" dirty="0"/>
          </a:p>
          <a:p>
            <a:pPr algn="l" marL="152400" indent="-152400">
              <a:spcAft>
                <a:spcPts val="800"/>
              </a:spcAft>
              <a:buSzPct val="100000"/>
              <a:buChar char="▪"/>
            </a:pPr>
            <a:r>
              <a:rPr lang="en-US" sz="110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新增接口/页面必须配套测试（协作约定强制）</a:t>
            </a:r>
            <a:endParaRPr lang="en-US" sz="1100" dirty="0"/>
          </a:p>
          <a:p>
            <a:pPr algn="l" marL="152400" indent="-152400">
              <a:spcAft>
                <a:spcPts val="800"/>
              </a:spcAft>
              <a:buSzPct val="100000"/>
              <a:buChar char="▪"/>
            </a:pPr>
            <a:r>
              <a:rPr lang="en-US" sz="110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新增 E2E 154+ 例（17 个 spec）+ 10 个关键页面视觉回归基线（DOM 结构快照，不比对像素）</a:t>
            </a:r>
            <a:endParaRPr lang="en-US" sz="1100" dirty="0"/>
          </a:p>
          <a:p>
            <a:pPr algn="l" marL="152400" indent="-152400">
              <a:spcAft>
                <a:spcPts val="800"/>
              </a:spcAft>
              <a:buSzPct val="100000"/>
              <a:buChar char="▪"/>
            </a:pPr>
            <a:r>
              <a:rPr lang="en-US" sz="110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UI Token 契约测试：主题 3 套 / 显示偏好 4 档 / 大屏字号档 / 全局类存在性 + R35 表格规范 117/117</a:t>
            </a:r>
            <a:endParaRPr lang="en-US" sz="1100" dirty="0"/>
          </a:p>
          <a:p>
            <a:pPr algn="l" marL="152400" indent="-152400">
              <a:spcAft>
                <a:spcPts val="800"/>
              </a:spcAft>
              <a:buSzPct val="100000"/>
              <a:buChar char="▪"/>
            </a:pPr>
            <a:r>
              <a:rPr lang="en-US" sz="110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硬编码色棘轮只降不升：基线 345 → 当前 305（57 个文件；目标 ≤200），改动文件零新增</a:t>
            </a:r>
            <a:endParaRPr lang="en-US" sz="1100" dirty="0"/>
          </a:p>
          <a:p>
            <a:pPr algn="l" marL="152400" indent="-152400">
              <a:spcAft>
                <a:spcPts val="800"/>
              </a:spcAft>
              <a:buSzPct val="100000"/>
              <a:buChar char="▪"/>
            </a:pPr>
            <a:r>
              <a:rPr lang="en-US" sz="110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6 项预防棘轮门禁接入 CI（os._exit / 上传限长 / 无界读 / 子进程编码 / 目录替换 / 周期任务注册），NEW=0</a:t>
            </a:r>
            <a:endParaRPr lang="en-US" sz="1100" dirty="0"/>
          </a:p>
          <a:p>
            <a:pPr algn="l" marL="152400" indent="-152400">
              <a:spcAft>
                <a:spcPts val="800"/>
              </a:spcAft>
              <a:buSzPct val="100000"/>
              <a:buChar char="▪"/>
            </a:pPr>
            <a:r>
              <a:rPr lang="en-US" sz="110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安全回归：限流签名 / loopback 门禁 / 错误不泄露 / PII 加密 / 组织守卫 均有专项锁定</a:t>
            </a:r>
            <a:endParaRPr lang="en-US" sz="11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28016" cy="12801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676656" y="329184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D6A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05 质量工程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CI/CD：从提交到安装包全自动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274552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44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帮扶管理信息系统 v1.17.3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1737360"/>
            <a:ext cx="2651760" cy="868680"/>
          </a:xfrm>
          <a:prstGeom prst="roundRect">
            <a:avLst>
              <a:gd name="adj" fmla="val 6316"/>
            </a:avLst>
          </a:prstGeom>
          <a:solidFill>
            <a:srgbClr val="1F4A38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73736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PR Checks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3383280" y="1810512"/>
            <a:ext cx="8321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每次 PR/推 main：后端 12 段独立进程测试（--cov-append 合并、覆盖率 100% 硬门禁）+ 前端测试 + flake8/bandit + 静态门禁 + Codecov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834640"/>
            <a:ext cx="2651760" cy="868680"/>
          </a:xfrm>
          <a:prstGeom prst="roundRect">
            <a:avLst>
              <a:gd name="adj" fmla="val 6316"/>
            </a:avLst>
          </a:prstGeom>
          <a:solidFill>
            <a:srgbClr val="1F4A38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83464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Nightly Full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3383280" y="2907792"/>
            <a:ext cx="8321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每日全量：后端同口径 6 段 + 前端全量 + 质量报告（JUnit / HTML 覆盖率报告）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931920"/>
            <a:ext cx="2651760" cy="868680"/>
          </a:xfrm>
          <a:prstGeom prst="roundRect">
            <a:avLst>
              <a:gd name="adj" fmla="val 6316"/>
            </a:avLst>
          </a:prstGeom>
          <a:solidFill>
            <a:srgbClr val="C9A227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393192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Tag → 安装包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3383280" y="4005072"/>
            <a:ext cx="8321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打 tag 自动构建：发布门禁（tag commit 的 PR Checks 必须全绿）→ Windows NSIS + 麒麟双 DEB + SHA256SUMS → Release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5029200"/>
            <a:ext cx="2651760" cy="868680"/>
          </a:xfrm>
          <a:prstGeom prst="roundRect">
            <a:avLst>
              <a:gd name="adj" fmla="val 6316"/>
            </a:avLst>
          </a:prstGeom>
          <a:solidFill>
            <a:srgbClr val="1F4A38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5029200"/>
            <a:ext cx="22860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质量门禁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3383280" y="5102352"/>
            <a:ext cx="8321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pre-commit（ruff/空白/YAML）+ pre-push（flake8/bandit/vue-tsc）两阶段拦截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617220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构建产物：Setup-x64.exe（Windows）· Electron DEB + standalone DEB（麒麟 ARM64，buildx+QEMU 交叉构建，layer 缓存加速）</a:t>
            </a:r>
            <a:endParaRPr lang="en-US" sz="12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28016" cy="12801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676656" y="329184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D6A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05 质量工程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发布工程：目标机器零依赖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274552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45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帮扶管理信息系统 v1.17.3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1645920"/>
            <a:ext cx="5486400" cy="448056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A2E24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49808" y="1874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F4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Windows x64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49808" y="2331720"/>
            <a:ext cx="49377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2400" indent="-1524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PyInstaller onedir（ADR-0006）：冷启动 32.3s → 8.6s（3.8 倍）</a:t>
            </a:r>
            <a:endParaRPr lang="en-US" sz="1300" dirty="0"/>
          </a:p>
          <a:p>
            <a:pPr algn="l" marL="152400" indent="-1524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electron-builder NSIS：静默安装 VC++ 运行库（哈希校验）</a:t>
            </a:r>
            <a:endParaRPr lang="en-US" sz="1300" dirty="0"/>
          </a:p>
          <a:p>
            <a:pPr algn="l" marL="152400" indent="-1524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内置 Python 运行时 + 全部 pip 依赖 + 前端静态资源</a:t>
            </a:r>
            <a:endParaRPr lang="en-US" sz="1300" dirty="0"/>
          </a:p>
          <a:p>
            <a:pPr algn="l" marL="152400" indent="-1524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安装/卸载/升级全程保留用户数据；卸载静默默认保留</a:t>
            </a:r>
            <a:endParaRPr lang="en-US" sz="1300" dirty="0"/>
          </a:p>
          <a:p>
            <a:pPr algn="l" marL="152400" indent="-1524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CI 安装包冒烟：解包直跑后端断言 /health + 包内禁含测试资产 + 构建指纹 builder=ci；SHA256SUMS 随 Release 附带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63640" y="1645920"/>
            <a:ext cx="5486400" cy="448056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A2E24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556248" y="1874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F4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麒麟 V10 ARM64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556248" y="2331720"/>
            <a:ext cx="49377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2400" indent="-1524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Docker buildx + QEMU 交叉构建（x86 CI 出 ARM64 产物）</a:t>
            </a:r>
            <a:endParaRPr lang="en-US" sz="1300" dirty="0"/>
          </a:p>
          <a:p>
            <a:pPr algn="l" marL="152400" indent="-1524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最低 GLIBC（Buster）构建，保证向前兼容</a:t>
            </a:r>
            <a:endParaRPr lang="en-US" sz="1300" dirty="0"/>
          </a:p>
          <a:p>
            <a:pPr algn="l" marL="152400" indent="-1524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双形态：Electron 桌面版 / standalone 纯 Web 版（systemd 服务）</a:t>
            </a:r>
            <a:endParaRPr lang="en-US" sz="1300" dirty="0"/>
          </a:p>
          <a:p>
            <a:pPr algn="l" marL="152400" indent="-1524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CRLF 回归门禁：DEB 内脚本 \r 即构建失败（历史事故防线）</a:t>
            </a:r>
            <a:endParaRPr lang="en-US" sz="1300" dirty="0"/>
          </a:p>
          <a:p>
            <a:pPr algn="l" marL="152400" indent="-1524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postinst 自动 chmod + 桌面数据库刷新</a:t>
            </a:r>
            <a:endParaRPr lang="en-US" sz="13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28016" cy="12801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676656" y="329184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D6A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05 质量工程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AI 代码深度审查：OpenCodeReview 全量扫描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274552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46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帮扶管理信息系统 v1.17.3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1645920"/>
            <a:ext cx="5486400" cy="448056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A2E24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49808" y="1874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F4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扫描规模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49808" y="2331720"/>
            <a:ext cx="49377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2400" indent="-1524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工具：alibaba/open-code-review v1.12.4（全文件 scan 模式）</a:t>
            </a:r>
            <a:endParaRPr lang="en-US" sz="1300" dirty="0"/>
          </a:p>
          <a:p>
            <a:pPr algn="l" marL="152400" indent="-1524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范围：376 个源文件（backend/app 全覆盖）</a:t>
            </a:r>
            <a:endParaRPr lang="en-US" sz="1300" dirty="0"/>
          </a:p>
          <a:p>
            <a:pPr algn="l" marL="152400" indent="-1524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产出：918 条发现 — critical 36 / high 177 / medium 458 / low 247</a:t>
            </a:r>
            <a:endParaRPr lang="en-US" sz="1300" dirty="0"/>
          </a:p>
          <a:p>
            <a:pPr algn="l" marL="152400" indent="-1524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消耗约 2,534 万 token，逐条甄别而非机械采纳</a:t>
            </a:r>
            <a:endParaRPr lang="en-US" sz="1300" dirty="0"/>
          </a:p>
          <a:p>
            <a:pPr algn="l" marL="152400" indent="-1524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确证缺陷 19 处已修复；有意设计/误报显式记录不改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63640" y="1645920"/>
            <a:ext cx="5486400" cy="448056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A2E24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556248" y="1874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F4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代表性修复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556248" y="2331720"/>
            <a:ext cx="493776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2400" indent="-1524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事务装饰器两条路径均缺 commit：写入被静默丢弃</a:t>
            </a:r>
            <a:endParaRPr lang="en-US" sz="1300" dirty="0"/>
          </a:p>
          <a:p>
            <a:pPr algn="l" marL="152400" indent="-1524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令牌 extra_claims 可覆盖 type/exp；缺 type 令牌 fail-open</a:t>
            </a:r>
            <a:endParaRPr lang="en-US" sz="1300" dirty="0"/>
          </a:p>
          <a:p>
            <a:pPr algn="l" marL="152400" indent="-1524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永久吊销被降级为 24 小时 —— 已吊销令牌复活</a:t>
            </a:r>
            <a:endParaRPr lang="en-US" sz="1300" dirty="0"/>
          </a:p>
          <a:p>
            <a:pPr algn="l" marL="152400" indent="-1524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require_admin 模式判定 fail-open（约 100 处调用）</a:t>
            </a:r>
            <a:endParaRPr lang="en-US" sz="1300" dirty="0"/>
          </a:p>
          <a:p>
            <a:pPr algn="l" marL="152400" indent="-1524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AES 密钥长度非法时静默换随机密钥 → 数据永不可解</a:t>
            </a:r>
            <a:endParaRPr lang="en-US" sz="1300" dirty="0"/>
          </a:p>
          <a:p>
            <a:pPr algn="l" marL="152400" indent="-1524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归档恢复路径穿越；本地门禁在 cp936 下「通过即崩溃」</a:t>
            </a:r>
            <a:endParaRPr lang="en-US" sz="13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1429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822960"/>
            <a:ext cx="4206240" cy="4315121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0" b="1" dirty="0">
                <a:solidFill>
                  <a:srgbClr val="1C362A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06</a:t>
            </a:r>
            <a:endParaRPr lang="en-US" sz="20000" dirty="0"/>
          </a:p>
        </p:txBody>
      </p:sp>
      <p:sp>
        <p:nvSpPr>
          <p:cNvPr id="3" name="Text 1"/>
          <p:cNvSpPr/>
          <p:nvPr/>
        </p:nvSpPr>
        <p:spPr>
          <a:xfrm>
            <a:off x="914400" y="3977640"/>
            <a:ext cx="10332720" cy="87765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部署运行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932688" y="48920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C9A22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DEPLOYMENT &amp; OPERATION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406640" y="1417320"/>
            <a:ext cx="42062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2400" indent="-1524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D7E2D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三种部署形态对比（v1.15.15 发布资产）</a:t>
            </a:r>
            <a:endParaRPr lang="en-US" sz="1400" dirty="0"/>
          </a:p>
          <a:p>
            <a:pPr algn="l" marL="152400" indent="-1524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D7E2D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备份恢复与离线升级</a:t>
            </a:r>
            <a:endParaRPr lang="en-US" sz="1400" dirty="0"/>
          </a:p>
          <a:p>
            <a:pPr algn="l" marL="152400" indent="-1524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D7E2D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版本历程 v1.13.0 → v1.15.15</a:t>
            </a:r>
            <a:endParaRPr lang="en-US" sz="1400" dirty="0"/>
          </a:p>
          <a:p>
            <a:pPr algn="l" marL="152400" indent="-152400">
              <a:spcAft>
                <a:spcPts val="1000"/>
              </a:spcAft>
              <a:buSzPct val="100000"/>
              <a:buChar char="▪"/>
            </a:pPr>
            <a:r>
              <a:rPr lang="en-US" sz="1400" dirty="0">
                <a:solidFill>
                  <a:srgbClr val="D7E2D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后续演进方向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274552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6E817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47</a:t>
            </a:r>
            <a:endParaRPr lang="en-US" sz="11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28016" cy="12801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676656" y="329184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D6A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06 部署运行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三种部署形态：按环境选型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274552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48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帮扶管理信息系统 v1.17.3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3639312" cy="3931920"/>
          </a:xfrm>
          <a:prstGeom prst="roundRect">
            <a:avLst>
              <a:gd name="adj" fmla="val 17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A2E24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31520" y="19202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F4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Windows 单机版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731520" y="2395728"/>
            <a:ext cx="2011680" cy="384048"/>
          </a:xfrm>
          <a:prstGeom prst="roundRect">
            <a:avLst>
              <a:gd name="adj" fmla="val 11905"/>
            </a:avLst>
          </a:prstGeom>
          <a:solidFill>
            <a:srgbClr val="C9A227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39572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NSIS 安装包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731520" y="3017520"/>
            <a:ext cx="3108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2400" indent="-152400">
              <a:spcAft>
                <a:spcPts val="900"/>
              </a:spcAft>
              <a:buSzPct val="100000"/>
              <a:buChar char="▪"/>
            </a:pPr>
            <a:r>
              <a:rPr lang="en-US" sz="130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Win10/11 x64</a:t>
            </a:r>
            <a:endParaRPr lang="en-US" sz="1300" dirty="0"/>
          </a:p>
          <a:p>
            <a:pPr algn="l" marL="152400" indent="-152400">
              <a:spcAft>
                <a:spcPts val="900"/>
              </a:spcAft>
              <a:buSzPct val="100000"/>
              <a:buChar char="▪"/>
            </a:pPr>
            <a:r>
              <a:rPr lang="en-US" sz="130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双击安装零依赖</a:t>
            </a:r>
            <a:endParaRPr lang="en-US" sz="1300" dirty="0"/>
          </a:p>
          <a:p>
            <a:pPr algn="l" marL="152400" indent="-152400">
              <a:spcAft>
                <a:spcPts val="900"/>
              </a:spcAft>
              <a:buSzPct val="100000"/>
              <a:buChar char="▪"/>
            </a:pPr>
            <a:r>
              <a:rPr lang="en-US" sz="130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托盘/开机自启</a:t>
            </a:r>
            <a:endParaRPr lang="en-US" sz="1300" dirty="0"/>
          </a:p>
          <a:p>
            <a:pPr algn="l" marL="152400" indent="-152400">
              <a:spcAft>
                <a:spcPts val="900"/>
              </a:spcAft>
              <a:buSzPct val="100000"/>
              <a:buChar char="▪"/>
            </a:pPr>
            <a:r>
              <a:rPr lang="en-US" sz="130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~272.8 MB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31520" y="50749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370832" y="1691640"/>
            <a:ext cx="3639312" cy="3931920"/>
          </a:xfrm>
          <a:prstGeom prst="roundRect">
            <a:avLst>
              <a:gd name="adj" fmla="val 17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A2E24">
                <a:alpha val="13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4645152" y="19202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F4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麒麟桌面版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4645152" y="2395728"/>
            <a:ext cx="2011680" cy="384048"/>
          </a:xfrm>
          <a:prstGeom prst="roundRect">
            <a:avLst>
              <a:gd name="adj" fmla="val 11905"/>
            </a:avLst>
          </a:prstGeom>
          <a:solidFill>
            <a:srgbClr val="C9A227"/>
          </a:solidFill>
          <a:ln/>
        </p:spPr>
      </p:sp>
      <p:sp>
        <p:nvSpPr>
          <p:cNvPr id="16" name="Text 14"/>
          <p:cNvSpPr/>
          <p:nvPr/>
        </p:nvSpPr>
        <p:spPr>
          <a:xfrm>
            <a:off x="4645152" y="239572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Electron DEB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4645152" y="3017520"/>
            <a:ext cx="3108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2400" indent="-152400">
              <a:spcAft>
                <a:spcPts val="900"/>
              </a:spcAft>
              <a:buSzPct val="100000"/>
              <a:buChar char="▪"/>
            </a:pPr>
            <a:r>
              <a:rPr lang="en-US" sz="130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银河麒麟 V10 ARM64</a:t>
            </a:r>
            <a:endParaRPr lang="en-US" sz="1300" dirty="0"/>
          </a:p>
          <a:p>
            <a:pPr algn="l" marL="152400" indent="-152400">
              <a:spcAft>
                <a:spcPts val="900"/>
              </a:spcAft>
              <a:buSzPct val="100000"/>
              <a:buChar char="▪"/>
            </a:pPr>
            <a:r>
              <a:rPr lang="en-US" sz="130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桌面双击运行</a:t>
            </a:r>
            <a:endParaRPr lang="en-US" sz="1300" dirty="0"/>
          </a:p>
          <a:p>
            <a:pPr algn="l" marL="152400" indent="-152400">
              <a:spcAft>
                <a:spcPts val="900"/>
              </a:spcAft>
              <a:buSzPct val="100000"/>
              <a:buChar char="▪"/>
            </a:pPr>
            <a:r>
              <a:rPr lang="en-US" sz="130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党政机适配</a:t>
            </a:r>
            <a:endParaRPr lang="en-US" sz="1300" dirty="0"/>
          </a:p>
          <a:p>
            <a:pPr algn="l" marL="152400" indent="-152400">
              <a:spcAft>
                <a:spcPts val="900"/>
              </a:spcAft>
              <a:buSzPct val="100000"/>
              <a:buChar char="▪"/>
            </a:pPr>
            <a:r>
              <a:rPr lang="en-US" sz="130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~196 MB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645152" y="50749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8284464" y="1691640"/>
            <a:ext cx="3639312" cy="3931920"/>
          </a:xfrm>
          <a:prstGeom prst="roundRect">
            <a:avLst>
              <a:gd name="adj" fmla="val 17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A2E24">
                <a:alpha val="13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8558784" y="19202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1F4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麒麟服务版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8558784" y="2395728"/>
            <a:ext cx="2011680" cy="384048"/>
          </a:xfrm>
          <a:prstGeom prst="roundRect">
            <a:avLst>
              <a:gd name="adj" fmla="val 11905"/>
            </a:avLst>
          </a:prstGeom>
          <a:solidFill>
            <a:srgbClr val="C9A227"/>
          </a:solidFill>
          <a:ln/>
        </p:spPr>
      </p:sp>
      <p:sp>
        <p:nvSpPr>
          <p:cNvPr id="22" name="Text 20"/>
          <p:cNvSpPr/>
          <p:nvPr/>
        </p:nvSpPr>
        <p:spPr>
          <a:xfrm>
            <a:off x="8558784" y="2395728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Standalone DEB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8558784" y="3017520"/>
            <a:ext cx="31089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2400" indent="-152400">
              <a:spcAft>
                <a:spcPts val="900"/>
              </a:spcAft>
              <a:buSzPct val="100000"/>
              <a:buChar char="▪"/>
            </a:pPr>
            <a:r>
              <a:rPr lang="en-US" sz="130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纯 Web 无桌面</a:t>
            </a:r>
            <a:endParaRPr lang="en-US" sz="1300" dirty="0"/>
          </a:p>
          <a:p>
            <a:pPr algn="l" marL="152400" indent="-152400">
              <a:spcAft>
                <a:spcPts val="900"/>
              </a:spcAft>
              <a:buSzPct val="100000"/>
              <a:buChar char="▪"/>
            </a:pPr>
            <a:r>
              <a:rPr lang="en-US" sz="130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systemd 托管</a:t>
            </a:r>
            <a:endParaRPr lang="en-US" sz="1300" dirty="0"/>
          </a:p>
          <a:p>
            <a:pPr algn="l" marL="152400" indent="-152400">
              <a:spcAft>
                <a:spcPts val="900"/>
              </a:spcAft>
              <a:buSzPct val="100000"/>
              <a:buChar char="▪"/>
            </a:pPr>
            <a:r>
              <a:rPr lang="en-US" sz="130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浏览器访问</a:t>
            </a:r>
            <a:endParaRPr lang="en-US" sz="1300" dirty="0"/>
          </a:p>
          <a:p>
            <a:pPr algn="l" marL="152400" indent="-152400">
              <a:spcAft>
                <a:spcPts val="900"/>
              </a:spcAft>
              <a:buSzPct val="100000"/>
              <a:buChar char="▪"/>
            </a:pPr>
            <a:r>
              <a:rPr lang="en-US" sz="130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~58 MB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558784" y="507492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57200" y="58978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2026-10-20 v1.15.15 实测体积；全部形态离线可用，安装包内含 VC++ 运行库与 Python 运行时，目标机器零预装</a:t>
            </a:r>
            <a:endParaRPr lang="en-US" sz="125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28016" cy="12801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676656" y="329184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D6A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06 部署运行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备份恢复与离线升级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274552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49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帮扶管理信息系统 v1.17.3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1645920"/>
            <a:ext cx="5486400" cy="448056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A2E24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49808" y="1828800"/>
            <a:ext cx="4901184" cy="3550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F4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备份与恢复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749808" y="2266188"/>
            <a:ext cx="4901184" cy="37139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2400" indent="-1524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备份包必含数据库本体，缺失即抛错（fail-loud）；列表标注 is_encrypted / database_included</a:t>
            </a:r>
            <a:endParaRPr lang="en-US" sz="1300" dirty="0"/>
          </a:p>
          <a:p>
            <a:pPr algn="l" marL="152400" indent="-1524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上传恢复：8MB 分块流式落盘防 OOM、10GB 防御上限；上传前内存预校验（加密标记 / 损坏 ZIP / 缺库文件）→ 拒绝零残留</a:t>
            </a:r>
            <a:endParaRPr lang="en-US" sz="1300" dirty="0"/>
          </a:p>
          <a:p>
            <a:pPr algn="l" marL="152400" indent="-1524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恢复流程 WAL 安全：先释放连接池再覆盖数据库文件</a:t>
            </a:r>
            <a:endParaRPr lang="en-US" sz="1300" dirty="0"/>
          </a:p>
          <a:p>
            <a:pPr algn="l" marL="152400" indent="-1524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加密备份口令（PBKDF2+Fernet）；全部拒绝路径清理临时文件</a:t>
            </a:r>
            <a:endParaRPr lang="en-US" sz="1300" dirty="0"/>
          </a:p>
          <a:p>
            <a:pPr algn="l" marL="152400" indent="-1524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路径单一来源：以会话引擎 / DATABASE_URL 为准（历史错源事故根治）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63640" y="1645920"/>
            <a:ext cx="5486400" cy="4480560"/>
          </a:xfrm>
          <a:prstGeom prst="roundRect">
            <a:avLst>
              <a:gd name="adj" fmla="val 142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A2E24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556248" y="1828800"/>
            <a:ext cx="4901184" cy="3550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F4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离线升级（ADR 指南）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556248" y="2266188"/>
            <a:ext cx="4901184" cy="37139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152400" indent="-1524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升级四步：备份 → SHA256/签名校验 → 覆盖安装 → Alembic 迁移</a:t>
            </a:r>
            <a:endParaRPr lang="en-US" sz="1300" dirty="0"/>
          </a:p>
          <a:p>
            <a:pPr algn="l" marL="152400" indent="-1524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失败回滚路径文档化；用户数据与安装目录分离</a:t>
            </a:r>
            <a:endParaRPr lang="en-US" sz="1300" dirty="0"/>
          </a:p>
          <a:p>
            <a:pPr algn="l" marL="152400" indent="-1524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出厂恢复通道（ADR-0008）：仅本机 + 仅未激活管理员 + 全程审计</a:t>
            </a:r>
            <a:endParaRPr lang="en-US" sz="1300" dirty="0"/>
          </a:p>
          <a:p>
            <a:pPr algn="l" marL="152400" indent="-1524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删库守卫：完整性失败默认 SystemExit 保留现场</a:t>
            </a:r>
            <a:endParaRPr lang="en-US" sz="1300" dirty="0"/>
          </a:p>
          <a:p>
            <a:pPr algn="l" marL="152400" indent="-1524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机器码三级回退：Windows 重装也能通过通行码恢复授权</a:t>
            </a:r>
            <a:endParaRPr lang="en-US" sz="1300" dirty="0"/>
          </a:p>
          <a:p>
            <a:pPr algn="l" marL="152400" indent="-152400">
              <a:spcAft>
                <a:spcPts val="1000"/>
              </a:spcAft>
              <a:buSzPct val="100000"/>
              <a:buChar char="▪"/>
            </a:pPr>
            <a:r>
              <a:rPr lang="en-US" sz="1300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升级期间写请求闸门（maintenance gate）挡住并发写入</a:t>
            </a:r>
            <a:endParaRPr lang="en-US" sz="13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28016" cy="12801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676656" y="329184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D6A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06 部署运行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版本历程：持续的密集演进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274552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50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帮扶管理信息系统 v1.17.3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5840" y="2834640"/>
            <a:ext cx="10149840" cy="0"/>
          </a:xfrm>
          <a:prstGeom prst="line">
            <a:avLst/>
          </a:prstGeom>
          <a:noFill/>
          <a:ln w="25400">
            <a:solidFill>
              <a:srgbClr val="D8E0D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41248" y="2706624"/>
            <a:ext cx="274320" cy="274320"/>
          </a:xfrm>
          <a:prstGeom prst="ellipse">
            <a:avLst/>
          </a:prstGeom>
          <a:solidFill>
            <a:srgbClr val="1F4A38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20116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v1.13.0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02920" y="312724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10-18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0040" y="3520440"/>
            <a:ext cx="1965960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导航架构重构：后端单一菜单源 v2 + 系统管理 6 聚合页 + Ctrl+K 菜单搜索 / 收藏 / 最近访问；旧路由与权限包 key 全兼容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081528" y="2706624"/>
            <a:ext cx="274320" cy="274320"/>
          </a:xfrm>
          <a:prstGeom prst="ellipse">
            <a:avLst/>
          </a:prstGeom>
          <a:solidFill>
            <a:srgbClr val="1F4A38"/>
          </a:solidFill>
          <a:ln/>
        </p:spPr>
      </p:sp>
      <p:sp>
        <p:nvSpPr>
          <p:cNvPr id="13" name="Text 11"/>
          <p:cNvSpPr/>
          <p:nvPr/>
        </p:nvSpPr>
        <p:spPr>
          <a:xfrm>
            <a:off x="2743200" y="20116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v1.14.0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2743200" y="312724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10-18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560320" y="3520440"/>
            <a:ext cx="1965960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功能大迭代：一户一档 / 影像库对比 / 消费帮扶台账 / 经费凭证 OCR / 报表组合导出 / 7 板块折叠 / 大屏退出；删遗留表与下线页面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321808" y="2706624"/>
            <a:ext cx="274320" cy="274320"/>
          </a:xfrm>
          <a:prstGeom prst="ellipse">
            <a:avLst/>
          </a:prstGeom>
          <a:solidFill>
            <a:srgbClr val="1F4A38"/>
          </a:solidFill>
          <a:ln/>
        </p:spPr>
      </p:sp>
      <p:sp>
        <p:nvSpPr>
          <p:cNvPr id="17" name="Text 15"/>
          <p:cNvSpPr/>
          <p:nvPr/>
        </p:nvSpPr>
        <p:spPr>
          <a:xfrm>
            <a:off x="4983480" y="20116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v1.15.0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983480" y="312724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10-19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00600" y="3520440"/>
            <a:ext cx="1965960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UI v2.0 重构：主题 3 套 + 显示偏好 4 档 + Token 升级 + 全局组件类/6 通用组件 + 侧栏金色竖条/浮层/面包屑 + 工作台 KPI + 大屏三层/距离字号/轮播 + 视觉回归门禁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7562088" y="2706624"/>
            <a:ext cx="274320" cy="274320"/>
          </a:xfrm>
          <a:prstGeom prst="ellipse">
            <a:avLst/>
          </a:prstGeom>
          <a:solidFill>
            <a:srgbClr val="1F4A38"/>
          </a:solidFill>
          <a:ln/>
        </p:spPr>
      </p:sp>
      <p:sp>
        <p:nvSpPr>
          <p:cNvPr id="21" name="Text 19"/>
          <p:cNvSpPr/>
          <p:nvPr/>
        </p:nvSpPr>
        <p:spPr>
          <a:xfrm>
            <a:off x="7223760" y="20116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v1.15.12/14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223760" y="312724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10-19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040880" y="3520440"/>
            <a:ext cx="1965960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R33 单位授权：上级配置授权包 → 签名下发 → 下级验签导入只读执行；v1.15.14 effectiveness_evaluations FK 重建迁移 + 冗余退码清理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9802368" y="2706624"/>
            <a:ext cx="274320" cy="27432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25" name="Text 23"/>
          <p:cNvSpPr/>
          <p:nvPr/>
        </p:nvSpPr>
        <p:spPr>
          <a:xfrm>
            <a:off x="9464040" y="20116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D6A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v1.15.15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9464040" y="312724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10-20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281160" y="3520440"/>
            <a:ext cx="1965960" cy="18105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R35 UI 精细化方案 C：品牌区 20px/800、工作台板块级、表格规范 117/117、筛选栏 4 档、PageHeader 31 页、ui-refine.scss；一户一档入口迁入帮扶村年度数据页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57200" y="5394960"/>
            <a:ext cx="11274552" cy="868680"/>
          </a:xfrm>
          <a:prstGeom prst="roundRect">
            <a:avLst>
              <a:gd name="adj" fmla="val 7368"/>
            </a:avLst>
          </a:prstGeom>
          <a:solidFill>
            <a:srgbClr val="E8EFEA"/>
          </a:solidFill>
          <a:ln/>
          <a:effectLst>
            <a:outerShdw sx="100000" sy="100000" kx="0" ky="0" algn="bl" rotWithShape="0" blurRad="88900" dist="25400" dir="5400000">
              <a:srgbClr val="1A2E24">
                <a:alpha val="13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749808" y="5394960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b="1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净效果：13,942 后端用例（行+分支覆盖率 100%）+ 6,867 前端用例全绿（331 文件）+ 10 页视觉回归基线；Windows x64 与麒麟 ARM64 离线安装包由 GitHub Actions 自动构建并发布 Release（发布前强制校验 tag commit 的 PR Checks 全绿）</a:t>
            </a:r>
            <a:endParaRPr lang="en-US" sz="135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57200"/>
            <a:ext cx="128016" cy="128016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3" name="Text 1"/>
          <p:cNvSpPr/>
          <p:nvPr/>
        </p:nvSpPr>
        <p:spPr>
          <a:xfrm>
            <a:off x="676656" y="329184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spc="300" kern="0" dirty="0">
                <a:solidFill>
                  <a:srgbClr val="2D6A4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06 部署运行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457200" y="713232"/>
            <a:ext cx="1127455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000" b="1" dirty="0">
                <a:solidFill>
                  <a:srgbClr val="1A2E24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后续演进：已立项的工单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1274552" y="63550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10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51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63550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帮扶管理信息系统 v1.17.3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544068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A2E24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31520" y="1819656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F4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调度任务注册表（P-2）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731520" y="2203704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scheduler_registry 清单化 + /health 全量暴露（当前仅落地裸 threading.Timer 扫描门禁）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63640" y="1691640"/>
            <a:ext cx="544068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A2E24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537960" y="1819656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F4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依赖门禁分级（P-4）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537960" y="2203704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pip-audit 分级：有修复版本的高危阻断合入；无修复版本强制登记豁免理由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3172968"/>
            <a:ext cx="544068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A2E24">
                <a:alpha val="13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31520" y="3300984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F4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本地环境标准化（R10）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31520" y="3685032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用 3.11.9+ 重建 .venv + make venv/test-local 固化 PYTHONUTF8 与 IDE 注入清理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6263640" y="3172968"/>
            <a:ext cx="544068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A2E24">
                <a:alpha val="13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537960" y="3300984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F4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代码签名落地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537960" y="3685032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采购证书后接入 CSC secrets，安装包/后端 exe 全签名（W6-T1）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57200" y="4654296"/>
            <a:ext cx="544068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A2E24">
                <a:alpha val="13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31520" y="478231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F4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评审清单与 PR 模板（P-5）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31520" y="5166360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新增线程/Timer、except-pass、文件写入、新依赖四类必答项并入 PR 模板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263640" y="4654296"/>
            <a:ext cx="5440680" cy="1234440"/>
          </a:xfrm>
          <a:prstGeom prst="roundRect">
            <a:avLst>
              <a:gd name="adj" fmla="val 518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25400" dir="5400000">
              <a:srgbClr val="1A2E24">
                <a:alpha val="13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37960" y="478231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1F4A3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E2E 与视觉回归扩充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537960" y="5166360"/>
            <a:ext cx="4892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5F6F66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E2E 154+ 例稳定运行；像素级截图基线接入 nightly；UI v2.0 二期把硬编码色收敛到 ≤200 处</a:t>
            </a:r>
            <a:endParaRPr lang="en-US" sz="115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1429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011680" y="-2377440"/>
            <a:ext cx="5486400" cy="5486400"/>
          </a:xfrm>
          <a:prstGeom prst="ellipse">
            <a:avLst/>
          </a:prstGeom>
          <a:solidFill>
            <a:srgbClr val="1C362A"/>
          </a:solidFill>
          <a:ln/>
        </p:spPr>
      </p:sp>
      <p:sp>
        <p:nvSpPr>
          <p:cNvPr id="3" name="Shape 1"/>
          <p:cNvSpPr/>
          <p:nvPr/>
        </p:nvSpPr>
        <p:spPr>
          <a:xfrm>
            <a:off x="914400" y="2286000"/>
            <a:ext cx="237744" cy="237744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4" name="Text 2"/>
          <p:cNvSpPr/>
          <p:nvPr/>
        </p:nvSpPr>
        <p:spPr>
          <a:xfrm>
            <a:off x="1280160" y="2176272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700" b="1" spc="400" kern="0" dirty="0">
                <a:solidFill>
                  <a:srgbClr val="C9A227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数据可信 · 流程可控 · 成效可查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877824" y="2743200"/>
            <a:ext cx="100584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谢谢观看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914400" y="416052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D7E2DB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帮扶管理信息系统 v1.17.3  ·  仓库：github.com/lzh745200/MRRS  ·  完整文档见 docs/ 目录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914400" y="4617720"/>
            <a:ext cx="10058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8FA298"/>
                </a:solidFill>
                <a:latin typeface="微软雅黑" pitchFamily="34" charset="0"/>
                <a:ea typeface="微软雅黑" pitchFamily="34" charset="-122"/>
                <a:cs typeface="微软雅黑" pitchFamily="34" charset="-120"/>
              </a:rPr>
              <a:t>13,942 后端用例 + 6,867 前端用例全绿守护 · 10 页视觉回归基线 · 双平台离线交付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54</Slides>
  <Notes>54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54</vt:i4>
      </vt:variant>
    </vt:vector>
  </HeadingPairs>
  <TitlesOfParts>
    <vt:vector size="5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帮扶管理信息系统 — 系统介绍</dc:title>
  <dc:subject>PptxGenJS Presentation</dc:subject>
  <dc:creator>帮扶管理信息系统</dc:creator>
  <cp:lastModifiedBy>帮扶管理信息系统</cp:lastModifiedBy>
  <cp:revision>1</cp:revision>
  <dcterms:created xsi:type="dcterms:W3CDTF">2026-10-24T07:56:34Z</dcterms:created>
  <dcterms:modified xsi:type="dcterms:W3CDTF">2026-10-24T07:56:34Z</dcterms:modified>
</cp:coreProperties>
</file>