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7" Type="http://schemas.openxmlformats.org/officeDocument/2006/relationships/tableStyles" Target="tableStyles.xml"/><Relationship Id="rId46" Type="http://schemas.openxmlformats.org/officeDocument/2006/relationships/viewProps" Target="viewProps.xml"/><Relationship Id="rId45" Type="http://schemas.openxmlformats.org/officeDocument/2006/relationships/presProps" Target="presProps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400" b="0" i="0" u="none" strike="noStrike" kern="1200" baseline="0">
                    <a:solidFill>
                      <a:srgbClr val="1A2E24"/>
                    </a:solidFill>
                    <a:latin typeface="微软雅黑" panose="020B0503020204020204" pitchFamily="34" charset="-122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后端 pytest</c:v>
                </c:pt>
                <c:pt idx="1">
                  <c:v>前端 vitest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13505</c:v>
                </c:pt>
                <c:pt idx="1">
                  <c:v>6685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300" b="0" i="0" u="none" strike="noStrike" kern="1200" baseline="0">
                <a:solidFill>
                  <a:srgbClr val="5F6F66"/>
                </a:solidFill>
                <a:latin typeface="微软雅黑" panose="020B0503020204020204" pitchFamily="34" charset="-122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00000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9026b431-4f01-4ff0-a6b7-b3bbf145582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</p:spPr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kern="0" spc="400" dirty="0">
                <a:solidFill>
                  <a:srgbClr val="C9A2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6437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完全离线 · 数据本机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V1.13.0  |  2026-10-18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3468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kern="0" spc="500" dirty="0">
                <a:solidFill>
                  <a:srgbClr val="C9A2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</p:spPr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</p:spPr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</p:spPr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一个工作台 + 六大板块 · 6 个聚合页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</p:spPr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</p:spPr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 万+ 项自动化测试 · CI/CD · 依赖自检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</p:spPr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为什么需要这套系统</a:t>
            </a:r>
            <a:endParaRPr lang="en-US" sz="14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系统的定位与形态</a:t>
            </a:r>
            <a:endParaRPr lang="en-US" sz="14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离线优先的产品决策</a:t>
            </a:r>
            <a:endParaRPr lang="en-US" sz="14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6E817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9" name="Text 7"/>
          <p:cNvSpPr/>
          <p:nvPr/>
        </p:nvSpPr>
        <p:spPr>
          <a:xfrm>
            <a:off x="1024128" y="1874520"/>
            <a:ext cx="4206240" cy="426487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13" name="Text 11"/>
          <p:cNvSpPr/>
          <p:nvPr/>
        </p:nvSpPr>
        <p:spPr>
          <a:xfrm>
            <a:off x="6830568" y="1874520"/>
            <a:ext cx="4206240" cy="426487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17" name="Text 15"/>
          <p:cNvSpPr/>
          <p:nvPr/>
        </p:nvSpPr>
        <p:spPr>
          <a:xfrm>
            <a:off x="1024128" y="4160520"/>
            <a:ext cx="4206240" cy="426487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21" name="Text 19"/>
          <p:cNvSpPr/>
          <p:nvPr/>
        </p:nvSpPr>
        <p:spPr>
          <a:xfrm>
            <a:off x="6830568" y="4160520"/>
            <a:ext cx="4206240" cy="426487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87765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13,500+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25327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87765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6,700+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825327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87765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99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825327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菜单 key（后端单一源 v2）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87765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139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825327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2743200" cy="87765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93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882727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后端 API 模块（api/v1 含子包）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87765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882727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后端服务（100 + 13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87765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882727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87765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882727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数据来源：2026-10-18 仓库实测（v1.13.0）—— 后端 13,500+ 用例全绿 / 行+分支覆盖率 100%（branch=True 严格门禁）· 前端 6,700+ 用例全绿 · flake8 0 · bandit 0 中高危 · vue-tsc 0 · eslint 0 警告（以发布时全量实测为准）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技术栈选型与理由</a:t>
            </a:r>
            <a:endParaRPr lang="en-US" sz="14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四层架构设计</a:t>
            </a:r>
            <a:endParaRPr lang="en-US" sz="14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前端 / 后端工程结构</a:t>
            </a:r>
            <a:endParaRPr lang="en-US" sz="14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6E817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Windows x64 NSIS 安装包</a:t>
            </a:r>
            <a:endParaRPr lang="en-US" sz="1200" dirty="0"/>
          </a:p>
          <a:p>
            <a:pPr marL="152400" indent="-152400" algn="l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麒麟 V10 ARM64 DEB</a:t>
            </a:r>
            <a:endParaRPr lang="en-US" sz="1200" dirty="0"/>
          </a:p>
          <a:p>
            <a:pPr marL="152400" indent="-152400" algn="l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托盘 / 自启 / 锁屏 / 快捷键</a:t>
            </a:r>
            <a:endParaRPr lang="en-US" sz="1200" dirty="0"/>
          </a:p>
          <a:p>
            <a:pPr marL="152400" indent="-152400" algn="l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Element Plus + Pinia + Vue Router</a:t>
            </a:r>
            <a:endParaRPr lang="en-US" sz="1200" dirty="0"/>
          </a:p>
          <a:p>
            <a:pPr marL="152400" indent="-152400" algn="l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SCSS 设计令牌（4 套可切换主题）</a:t>
            </a:r>
            <a:endParaRPr lang="en-US" sz="1200" dirty="0"/>
          </a:p>
          <a:p>
            <a:pPr marL="152400" indent="-152400" algn="l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131 个视图 · 25 个共享组件</a:t>
            </a:r>
            <a:endParaRPr lang="en-US" sz="1200" dirty="0"/>
          </a:p>
          <a:p>
            <a:pPr marL="152400" indent="-152400" algn="l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93 个路由模块 + 13 个子包</a:t>
            </a:r>
            <a:endParaRPr lang="en-US" sz="1200" dirty="0"/>
          </a:p>
          <a:p>
            <a:pPr marL="152400" indent="-152400" algn="l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100 个服务 + 13 个子包</a:t>
            </a:r>
            <a:endParaRPr lang="en-US" sz="1200" dirty="0"/>
          </a:p>
          <a:p>
            <a:pPr marL="152400" indent="-152400" algn="l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SQLAlchemy 2.x + Alembic</a:t>
            </a:r>
            <a:endParaRPr lang="en-US" sz="1200" dirty="0"/>
          </a:p>
          <a:p>
            <a:pPr marL="152400" indent="-152400" algn="l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单文件数据库，随备份带走</a:t>
            </a:r>
            <a:endParaRPr lang="en-US" sz="1200" dirty="0"/>
          </a:p>
          <a:p>
            <a:pPr marL="152400" indent="-152400" algn="l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WAL 并发 + 外键强制</a:t>
            </a:r>
            <a:endParaRPr lang="en-US" sz="1200" dirty="0"/>
          </a:p>
          <a:p>
            <a:pPr marL="152400" indent="-152400" algn="l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EncryptedText 列透明加密</a:t>
            </a:r>
            <a:endParaRPr lang="en-US" sz="1200" dirty="0"/>
          </a:p>
          <a:p>
            <a:pPr marL="152400" indent="-152400" algn="l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45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</p:spPr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</p:spPr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</p:spPr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93 API 模块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</p:spPr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WAL · 45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139 个业务视图（34 个功能目录）</a:t>
            </a:r>
            <a:endParaRPr lang="en-US" sz="13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25 个共享组件（PageHeader / EmptyState / BaseChart 等标准件）</a:t>
            </a:r>
            <a:endParaRPr lang="en-US" sz="13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34 个 Pinia store + 30+ 组合式函数</a:t>
            </a:r>
            <a:endParaRPr lang="en-US" sz="13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313 个测试文件 · 6,700+ 个用例</a:t>
            </a:r>
            <a:endParaRPr lang="en-US" sz="13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后端 v2 菜单单一源：侧栏 / 移动端 / 权限面板全部数据驱动（Ctrl+K 搜索 / 收藏 / 最近访问）</a:t>
            </a:r>
            <a:endParaRPr lang="en-US" sz="13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覆盖率门禁（行 + 分支 100%）+ lint --max-warnings=0 + vue-tsc 三重 CI 门禁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vite additionalData 注入 SCSS 变量，杜绝硬编码色值</a:t>
            </a:r>
            <a:endParaRPr lang="en-US" sz="135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</p:spPr>
      </p:sp>
      <p:sp>
        <p:nvSpPr>
          <p:cNvPr id="8" name="Text 6"/>
          <p:cNvSpPr/>
          <p:nvPr/>
        </p:nvSpPr>
        <p:spPr>
          <a:xfrm>
            <a:off x="1133602" y="2095373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</p:spPr>
      </p:sp>
      <p:sp>
        <p:nvSpPr>
          <p:cNvPr id="11" name="Text 9"/>
          <p:cNvSpPr/>
          <p:nvPr/>
        </p:nvSpPr>
        <p:spPr>
          <a:xfrm>
            <a:off x="3437890" y="2095373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</p:spPr>
      </p:sp>
      <p:sp>
        <p:nvSpPr>
          <p:cNvPr id="14" name="Text 12"/>
          <p:cNvSpPr/>
          <p:nvPr/>
        </p:nvSpPr>
        <p:spPr>
          <a:xfrm>
            <a:off x="5742178" y="2095373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</p:spPr>
      </p:sp>
      <p:sp>
        <p:nvSpPr>
          <p:cNvPr id="17" name="Text 15"/>
          <p:cNvSpPr/>
          <p:nvPr/>
        </p:nvSpPr>
        <p:spPr>
          <a:xfrm>
            <a:off x="8046466" y="2095373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</p:spPr>
      </p:sp>
      <p:sp>
        <p:nvSpPr>
          <p:cNvPr id="20" name="Text 18"/>
          <p:cNvSpPr/>
          <p:nvPr/>
        </p:nvSpPr>
        <p:spPr>
          <a:xfrm>
            <a:off x="10350754" y="2095373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252045"/>
          </a:xfrm>
          <a:prstGeom prst="roundRect">
            <a:avLst>
              <a:gd name="adj" fmla="val 2842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160520"/>
            <a:ext cx="10689336" cy="33575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578572"/>
            <a:ext cx="10689336" cy="1504809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marL="152400" indent="-152400" algn="l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marL="152400" indent="-152400" algn="l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marL="152400" indent="-152400" algn="l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数据层：59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59 个模型文件 / 120+ 模型类：村、项目、资金、学校、政策、组织、审计…</a:t>
            </a:r>
            <a:endParaRPr lang="en-US" sz="135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SoftDeleteMixin：is_active 软删 + deleted_by 审计列</a:t>
            </a:r>
            <a:endParaRPr lang="en-US" sz="135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45 个 Alembic 迁移：含 PII 存量回填（幂等可重跑）与外键守护</a:t>
            </a:r>
            <a:endParaRPr lang="en-US" sz="135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数据全部在本机 %APPDATA% 数据库文件</a:t>
            </a:r>
            <a:endParaRPr lang="en-US" sz="1300" dirty="0"/>
          </a:p>
          <a:p>
            <a:pPr marL="152400" indent="-152400" algn="l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marL="152400" indent="-152400" algn="l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加密数据包（口令 + PBKDF2）在机器间摆渡</a:t>
            </a:r>
            <a:endParaRPr lang="en-US" sz="1300" dirty="0"/>
          </a:p>
          <a:p>
            <a:pPr marL="152400" indent="-152400" algn="l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包内 manifest 记录 org/类型/记录数/校验和</a:t>
            </a:r>
            <a:endParaRPr lang="en-US" sz="1300" dirty="0"/>
          </a:p>
          <a:p>
            <a:pPr marL="152400" indent="-152400" algn="l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</p:spPr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</p:spPr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</p:spPr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</p:spPr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</p:spPr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</p:spPr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一个工作台 + 六大板块 · 99 个菜单 key</a:t>
            </a:r>
            <a:endParaRPr lang="en-US" sz="14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帮扶业务：村/项目/学校/经费/结对/政策</a:t>
            </a:r>
            <a:endParaRPr lang="en-US" sz="14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工作协同 + 分析汇报：审批 · 大屏 · 报表</a:t>
            </a:r>
            <a:endParaRPr lang="en-US" sz="14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系统管理：6 个聚合页 · 页内 Tab 切换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6E817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功能地图：一个工作台 + 六大板块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" y="1764792"/>
            <a:ext cx="237744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工作台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58368" y="2148840"/>
            <a:ext cx="2395728" cy="9326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固定首位：KPI 卡 · 待办聚合 · 快捷操作 · 年度趋势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58368" y="3145536"/>
            <a:ext cx="2395728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dashboard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346704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47872" y="1764792"/>
            <a:ext cx="237744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帮扶业务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547872" y="2148840"/>
            <a:ext cx="2395728" cy="9326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帮扶村 10 板块 · 项目全周期 · 经费台账/申请/资金周期 · 结对/捐赠/政策/移交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47872" y="3145536"/>
            <a:ext cx="2395728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villages / projects / funds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236208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37376" y="1764792"/>
            <a:ext cx="237744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乡村振兴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437376" y="2148840"/>
            <a:ext cx="2395728" cy="9326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工作首页 · 工作列表 · 驻村工作台（打卡与台账）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37376" y="3145536"/>
            <a:ext cx="2395728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rural-works / checkin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25712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326880" y="1764792"/>
            <a:ext cx="237744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工作协同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9326880" y="2148840"/>
            <a:ext cx="2395728" cy="9326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待办 · 审批管理（总览/待审批/我的申请/历史）· 日历 · 提醒 · 消息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326880" y="3145536"/>
            <a:ext cx="2395728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todos / approval / reminder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8368" y="3913632"/>
            <a:ext cx="237744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分析汇报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658368" y="4297680"/>
            <a:ext cx="2395728" cy="9326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汇报大屏 · 数据分析（仪表盘/地图/工作分析/成效排名评估/舆情）· 报表模板/导出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8368" y="5294376"/>
            <a:ext cx="2395728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bigscreen / analytics / report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346704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547872" y="3913632"/>
            <a:ext cx="237744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数据管理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3547872" y="4297680"/>
            <a:ext cx="2395728" cy="9326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概览 · 导入导出 · 数据包与批量导入 · 校验/规则 · 综合录入 · 批量操作 · 数据上报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547872" y="5294376"/>
            <a:ext cx="2395728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data-package / data-upload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36208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37376" y="3913632"/>
            <a:ext cx="237744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系统管理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6437376" y="4297680"/>
            <a:ext cx="2395728" cy="9326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6 聚合页：组织与权限/安全与审计/运维与监控/备份与存储/系统设置/关于与反馈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437376" y="5294376"/>
            <a:ext cx="2395728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system-console-*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6144768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+ Ctrl+K 菜单搜索 · 收藏 / 最近访问 · 权限包三级裁剪 · 旧路由全部保留 —— 由后端单一菜单源（v2）贯穿全站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KPI 卡片真实环比：本年资金 / 项目 / 村 / 学校，方向箭头动态化</a:t>
            </a:r>
            <a:endParaRPr lang="en-US" sz="13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待办聚合：待审批 / 待办任务 / 未读消息一键直达</a:t>
            </a:r>
            <a:endParaRPr lang="en-US" sz="13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快捷操作自定义布局（QuickActions 拖拽）</a:t>
            </a:r>
            <a:endParaRPr lang="en-US" sz="13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图表年度趋势：资金 / 项目双轴联动</a:t>
            </a:r>
            <a:endParaRPr lang="en-US" sz="13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侧栏 Ctrl+K 菜单搜索 · 收藏 / 最近访问（v1.13.0）</a:t>
            </a:r>
            <a:endParaRPr lang="en-US" sz="13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工作台可按角色裁剪：viewer 只见只读面板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年度对比：任选两年，村/项目/资金多维并排</a:t>
            </a:r>
            <a:endParaRPr lang="en-US" sz="135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帮扶成效评估：村庄打分、排名、历年对比</a:t>
            </a:r>
            <a:endParaRPr lang="en-US" sz="135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ECharts 统一主题（军绿科技风），全站图表一致</a:t>
            </a:r>
            <a:endParaRPr lang="en-US" sz="135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帮扶大屏：全屏汇报模式，支持按帮扶村/学校/单位筛选下钻</a:t>
            </a:r>
            <a:endParaRPr lang="en-US" sz="135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</p:spPr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</p:spPr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</p:spPr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</p:spPr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</p:spPr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</p:spPr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</p:spPr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</p:spPr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年度板块数据支持 Excel 模板按板块导入（工作表名需与板块对应）；整村档案可导出（脱敏可选），支撑向上汇报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</p:spPr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</p:spPr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</p:spPr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</p:spPr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</p:spPr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</p:spPr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marL="152400" indent="-152400" algn="l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marL="152400" indent="-152400" algn="l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marL="152400" indent="-152400" algn="l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marL="152400" indent="-152400" algn="l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</p:spPr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</p:spPr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</p:spPr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</p:spPr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</p:spPr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</p:spPr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</p:spPr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</p:spPr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资金来源 / 金额 / 阶段状态 / 凭证附件全要素</a:t>
            </a:r>
            <a:endParaRPr lang="en-US" sz="13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编号 ZJ 自动生成；预算三级预警 80/90/100%</a:t>
            </a:r>
            <a:endParaRPr lang="en-US" sz="13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合同 → 支付凭证 → 划转凭证 全链条挂接</a:t>
            </a:r>
            <a:endParaRPr lang="en-US" sz="13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学校档案：校长/联系电话（加密列）/地区层级</a:t>
            </a:r>
            <a:endParaRPr lang="en-US" sz="135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受助学生与助学名单：助学金发放记录</a:t>
            </a:r>
            <a:endParaRPr lang="en-US" sz="135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奖学金台账：发放批次 / 金额 / 对象</a:t>
            </a:r>
            <a:endParaRPr lang="en-US" sz="135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学校帮扶项目挂接与附件（图片/文档预览）</a:t>
            </a:r>
            <a:endParaRPr lang="en-US" sz="135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政策库：分类 / 层级 / 发布年份多维筛选</a:t>
            </a:r>
            <a:endParaRPr lang="en-US" sz="135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FTS5 全文检索：命中片段高亮 + XSS 消毒</a:t>
            </a:r>
            <a:endParaRPr lang="en-US" sz="135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文件在线预览（PDF/图片），收藏与阅读痕迹</a:t>
            </a:r>
            <a:endParaRPr lang="en-US" sz="135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</p:spPr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</p:spPr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</p:spPr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</p:spPr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</p:spPr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marL="152400" indent="-152400" algn="l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「待我审批 / 我发起的 / 已完成」状态页签切换，支持批量通过 / 驳回（原因必填）</a:t>
            </a:r>
            <a:endParaRPr lang="en-US" sz="1400" dirty="0"/>
          </a:p>
          <a:p>
            <a:pPr marL="152400" indent="-152400" algn="l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marL="152400" indent="-152400" algn="l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marL="152400" indent="-152400" algn="l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marL="152400" indent="-152400" algn="l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marL="152400" indent="-152400" algn="l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导出增量包：仅打包变更记录，包型 update</a:t>
            </a:r>
            <a:endParaRPr lang="en-US" sz="1250" dirty="0"/>
          </a:p>
          <a:p>
            <a:pPr marL="152400" indent="-152400" algn="l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marL="152400" indent="-152400" algn="l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为数据包创建版本快照（变更集记录）</a:t>
            </a:r>
            <a:endParaRPr lang="en-US" sz="1250" dirty="0"/>
          </a:p>
          <a:p>
            <a:pPr marL="152400" indent="-152400" algn="l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两版本对比：新增 / 修改 / 移除 按类型列出</a:t>
            </a:r>
            <a:endParaRPr lang="en-US" sz="1250" dirty="0"/>
          </a:p>
          <a:p>
            <a:pPr marL="152400" indent="-152400" algn="l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版本详情按数据类型分页查看记录 ID 集合</a:t>
            </a:r>
            <a:endParaRPr lang="en-US" sz="1250" dirty="0"/>
          </a:p>
          <a:p>
            <a:pPr marL="152400" indent="-152400" algn="l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系统管理：6 个聚合页 · 页内 Tab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755648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组织与权限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139696"/>
            <a:ext cx="493776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用户与组织 · 角色管理 · 菜单管理 · 权限包管理 · 组织机构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755648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安全与审计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139696"/>
            <a:ext cx="493776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安全审计 · 零信任 · 密钥管理 · 数据分级 · 加密设置 · 机器码管理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090672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20040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运维与监控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584448"/>
            <a:ext cx="493776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系统总览 · 健康检查 · 系统监控 · 缓存管理 · 后台任务 · 运行环境 · 错误上报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090672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20040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备份与存储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584448"/>
            <a:ext cx="493776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备份管理 · 分片上传 · 地图瓦片 · 管控配置包 · 系统配置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535424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645152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系统设置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029200"/>
            <a:ext cx="493776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多语言 · 邮件设置 · 更新日志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535424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645152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关于与反馈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029200"/>
            <a:ext cx="493776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关于系统 · 反馈管理 · 帮助中心 · 管理面板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统一入口 + 页内 Tab：旧页面 / 旧路由全部保留（深链不失效），菜单 key 一个不改、权限包配置完全兼容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四角色权限模型</a:t>
            </a:r>
            <a:endParaRPr lang="en-US" sz="14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组织数据隔离（fail-closed）</a:t>
            </a:r>
            <a:endParaRPr lang="en-US" sz="14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PII 字段透明加密（ADR-0005）</a:t>
            </a:r>
            <a:endParaRPr lang="en-US" sz="14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6E817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</p:spPr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</p:spPr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</p:spPr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</p:spPr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marL="152400" indent="-152400" algn="l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菜单单一源（后端 v2：板块→入口→Tab）；可见性三级裁剪：角色默认 → 权限包 → 用户级配置；公开模块全角色一致</a:t>
            </a:r>
            <a:endParaRPr lang="en-US" sz="1300" dirty="0"/>
          </a:p>
          <a:p>
            <a:pPr marL="152400" indent="-152400" algn="l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</p:spPr>
      </p:sp>
      <p:sp>
        <p:nvSpPr>
          <p:cNvPr id="10" name="Text 8"/>
          <p:cNvSpPr/>
          <p:nvPr/>
        </p:nvSpPr>
        <p:spPr>
          <a:xfrm>
            <a:off x="868680" y="2286000"/>
            <a:ext cx="1965960" cy="6035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ORM 写入 · 明文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71216" y="2587752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68680" y="2999232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</p:spPr>
      </p:sp>
      <p:sp>
        <p:nvSpPr>
          <p:cNvPr id="13" name="Text 11"/>
          <p:cNvSpPr/>
          <p:nvPr/>
        </p:nvSpPr>
        <p:spPr>
          <a:xfrm>
            <a:off x="868680" y="2999232"/>
            <a:ext cx="1965960" cy="6035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EncryptedText · AES-SIV 加密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71216" y="3300984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" y="3712464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1F4A38"/>
          </a:solidFill>
        </p:spPr>
      </p:sp>
      <p:sp>
        <p:nvSpPr>
          <p:cNvPr id="16" name="Text 14"/>
          <p:cNvSpPr/>
          <p:nvPr/>
        </p:nvSpPr>
        <p:spPr>
          <a:xfrm>
            <a:off x="868680" y="3712464"/>
            <a:ext cx="1965960" cy="6035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SQLite · enc.v1: 密文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54680" y="2331720"/>
            <a:ext cx="2697480" cy="1920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AES-SIV（RFC 5297）：同明文恒同密文</a:t>
            </a:r>
            <a:endParaRPr lang="en-US" sz="125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</p:spPr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</p:spPr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</p:spPr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</p:spPr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</p:spPr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</p:spPr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</p:spPr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</p:spPr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</p:spPr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</p:spPr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</p:spPr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marL="152400" indent="-152400" algn="l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marL="152400" indent="-152400" algn="l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marL="152400" indent="-152400" algn="l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marL="152400" indent="-152400" algn="l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19,158 项自动化测试（后端 12,795 + 前端 6,363）</a:t>
            </a:r>
            <a:endParaRPr lang="en-US" sz="14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三重前端门禁 + 双重后端门禁</a:t>
            </a:r>
            <a:endParaRPr lang="en-US" sz="14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CI/CD 流水线（PR Checks 7 作业）</a:t>
            </a:r>
            <a:endParaRPr lang="en-US" sz="14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AI 代码深度审查（376 文件 / 918 条发现）</a:t>
            </a:r>
            <a:endParaRPr lang="en-US" sz="14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双平台安装包自动构建</a:t>
            </a:r>
            <a:endParaRPr lang="en-US" sz="14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6 项预防棘轮门禁 + 11 个真实 HTTP 探针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6E817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457200" y="1783080"/>
          <a:ext cx="603504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669280"/>
            <a:ext cx="603504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数据来源：2026-10-18 实测口径（v1.13.0）· 后端 13,500+ / 前端 6,700+ · 覆盖率 100%（行+分支）· 以发布实测为准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242048" y="1965960"/>
            <a:ext cx="4215384" cy="33575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384012"/>
            <a:ext cx="4215384" cy="373332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前后端覆盖率门禁均 100%（CI 硬阈值，12 个源码分组全约束）</a:t>
            </a:r>
            <a:endParaRPr lang="en-US" sz="11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新增接口/页面必须配套测试（协作约定强制）</a:t>
            </a:r>
            <a:endParaRPr lang="en-US" sz="11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弱断言治理：安全守卫补真实断言（开放重定向 / javascript: 协议防线）</a:t>
            </a:r>
            <a:endParaRPr lang="en-US" sz="11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安全回归：限流签名 / loopback 门禁 / 错误不泄露 / PII 加密 / 组织守卫 均有专项锁定</a:t>
            </a:r>
            <a:endParaRPr lang="en-US" sz="11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6 项预防棘轮门禁接入 CI（os._exit / 上传限长 / 无界读 / 子进程编码 / 目录替换 / 周期任务注册），NEW=0</a:t>
            </a:r>
            <a:endParaRPr lang="en-US" sz="11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 个真实 HTTP 探针脚本（backend/tests/probe/）：与运行时刻 / 时区无关</a:t>
            </a:r>
            <a:endParaRPr lang="en-US" sz="11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个 skip 滥用：仅 13 个平台专属跳过（Win/Linux 差异）；flaky 用例公开记录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</p:spPr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</p:spPr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</p:spPr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</p:spPr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Docker buildx + QEMU 交叉构建（x86 CI 出 ARM64 产物）</a:t>
            </a:r>
            <a:endParaRPr lang="en-US" sz="13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最低 GLIBC（Buster）构建，保证向前兼容</a:t>
            </a:r>
            <a:endParaRPr lang="en-US" sz="13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范围：376 个源文件（backend/app 全覆盖）</a:t>
            </a:r>
            <a:endParaRPr lang="en-US" sz="13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消耗约 2,534 万 token，逐条甄别而非机械采纳</a:t>
            </a:r>
            <a:endParaRPr lang="en-US" sz="13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require_admin 模式判定 fail-open（约 100 处调用）</a:t>
            </a:r>
            <a:endParaRPr lang="en-US" sz="13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三种部署形态对比</a:t>
            </a:r>
            <a:endParaRPr lang="en-US" sz="14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备份恢复与离线升级</a:t>
            </a:r>
            <a:endParaRPr lang="en-US" sz="14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版本历程 1.10 → 1.11</a:t>
            </a:r>
            <a:endParaRPr lang="en-US" sz="14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6E817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</p:spPr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Win10/11 x64</a:t>
            </a:r>
            <a:endParaRPr lang="en-US" sz="13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双击安装零依赖</a:t>
            </a:r>
            <a:endParaRPr lang="en-US" sz="13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托盘/开机自启</a:t>
            </a:r>
            <a:endParaRPr lang="en-US" sz="13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</p:spPr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银河麒麟 V10 ARM64</a:t>
            </a:r>
            <a:endParaRPr lang="en-US" sz="13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桌面双击运行</a:t>
            </a:r>
            <a:endParaRPr lang="en-US" sz="13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党政机适配</a:t>
            </a:r>
            <a:endParaRPr lang="en-US" sz="13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</p:spPr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纯 Web 无桌面</a:t>
            </a:r>
            <a:endParaRPr lang="en-US" sz="13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systemd 托管</a:t>
            </a:r>
            <a:endParaRPr lang="en-US" sz="13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浏览器访问</a:t>
            </a:r>
            <a:endParaRPr lang="en-US" sz="1300" dirty="0"/>
          </a:p>
          <a:p>
            <a:pPr marL="152400" indent="-152400" algn="l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4901184" cy="3550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6188"/>
            <a:ext cx="4901184" cy="371398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备份包必含数据库本体，缺失即抛错（fail-loud）；列表标注 is_encrypted / database_included</a:t>
            </a:r>
            <a:endParaRPr lang="en-US" sz="13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上传恢复：8MB 分块流式落盘防 OOM、10GB 防御上限；上传前内存预校验（加密标记 / 损坏 ZIP / 缺库文件）→ 拒绝零残留</a:t>
            </a:r>
            <a:endParaRPr lang="en-US" sz="13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恢复流程 WAL 安全：先释放连接池再覆盖数据库文件</a:t>
            </a:r>
            <a:endParaRPr lang="en-US" sz="13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路径单一来源：以会话引擎 / 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4901184" cy="3550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6188"/>
            <a:ext cx="4901184" cy="371398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删库守卫：完整性失败默认 SystemExit 保留现场</a:t>
            </a:r>
            <a:endParaRPr lang="en-US" sz="13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机器码三级回退：Windows 重装也能通过通行码恢复授权</a:t>
            </a:r>
            <a:endParaRPr lang="en-US" sz="1300" dirty="0"/>
          </a:p>
          <a:p>
            <a:pPr marL="152400" indent="-152400" algn="l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升级期间写请求闸门（maintenance gate）挡住并发写入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版本历程：持续的密集演进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</p:spPr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v1.12.7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09-13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20440"/>
            <a:ext cx="1965960" cy="181051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遗留风险二批：上传体积三层上限、导出回收、导入拒绝记录、Windows CI 可见性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</p:spPr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v1.12.8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09-14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20440"/>
            <a:ext cx="1965960" cy="181051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R7 恢复维护闸门 / R12 低危批量 7 项 / R2 残余清零 / P-1~P-3 门禁 / R14 组织树修复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</p:spPr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v1.12.9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09-14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1965960" cy="181051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深审缺陷批量修复（越权/数据完整性/静默失效）+ 响应信封与凭据语义修复 + 前后端覆盖率双双补齐至 100%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</p:spPr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v1.12.10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10-02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1965960" cy="181051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跨平台 CI 双红根因修复：归档恢复穿越判定去平台化、审批时间轴断言去时区依赖 + 测试会话数据根隔离契约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</p:spPr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v1.13.0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10-18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20440"/>
            <a:ext cx="1965960" cy="181051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导航架构重构：后端单一菜单源 v2（99 key / 6 板块）+ 系统管理 6 聚合页 + Ctrl+K 菜单搜索 / 收藏 / 最近访问；旧路由与权限包 key 全兼容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68680"/>
          </a:xfrm>
          <a:prstGeom prst="roundRect">
            <a:avLst>
              <a:gd name="adj" fmla="val 7368"/>
            </a:avLst>
          </a:prstGeom>
          <a:solidFill>
            <a:srgbClr val="E8EFEA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" y="5394960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净效果：13,500+ 后端用例（行+分支覆盖率 100%）+ 6,700+ 前端用例全绿（以发布时全量实测为准）；Windows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effectLst>
            <a:outerShdw blurRad="88900" dist="25400" dir="5400000" algn="bl" rotWithShape="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</p:spPr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</p:spPr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kern="0" spc="400" dirty="0">
                <a:solidFill>
                  <a:srgbClr val="C9A2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325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帮扶管理信息系统 v1.13.0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13,500+ 后端用例 + 6,700+ 前端用例全绿守护 · 双平台离线交付（以发布实测为准）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12295</Words>
  <Application>WPS 演示</Application>
  <PresentationFormat>On-screen Show (16:9)</PresentationFormat>
  <Paragraphs>1123</Paragraphs>
  <Slides>41</Slides>
  <Notes>41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41</vt:i4>
      </vt:variant>
    </vt:vector>
  </HeadingPairs>
  <TitlesOfParts>
    <vt:vector size="51" baseType="lpstr">
      <vt:lpstr>Arial</vt:lpstr>
      <vt:lpstr>宋体</vt:lpstr>
      <vt:lpstr>Wingdings</vt:lpstr>
      <vt:lpstr>微软雅黑</vt:lpstr>
      <vt:lpstr>微软雅黑</vt:lpstr>
      <vt:lpstr>Calibri</vt:lpstr>
      <vt:lpstr>Arial Unicode MS</vt:lpstr>
      <vt:lpstr>等线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creator>帮扶管理信息系统</dc:creator>
  <dc:subject>PptxGenJS Presentation</dc:subject>
  <cp:lastModifiedBy>心凌晨曦</cp:lastModifiedBy>
  <cp:revision>2</cp:revision>
  <dcterms:created xsi:type="dcterms:W3CDTF">2026-10-18T08:13:00Z</dcterms:created>
  <dcterms:modified xsi:type="dcterms:W3CDTF">2026-10-18T09:26:44Z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2052-12.1.0.29161</vt:lpwstr>
  </property>
  <property fmtid="{D5CDD505-2E9C-101B-9397-08002B2CF9AE}" pid="3" name="ICV">
    <vt:lpwstr>9FBB5A56C87F465696A7B884AE6F9D9A_12</vt:lpwstr>
  </property>
</Properties>
</file>