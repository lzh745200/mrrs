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notesMasterIdLst>
    <p:notesMasterId r:id="rId6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/>
          <a:lstStyle/>
          <a:p>
            <a:pPr/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/>
  <p:notesStyle>
    <a:lvl1pPr marL="0" algn="l">
      <a:defRPr sz="1200" lang="zh-CN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各位好，今天这堂课我们不讲原理，只讲怎么用。两小时，六十页，从登录一直到数据上报接收，每一个动作我都会演示一遍，大家跟着点一遍。学完你就能独立完成日常工作。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分八段。第一段入门，把界面认清楚；第二段建村建档；第三段项目和经费；第四段上报接收；第五段看数据；第六段系统管理和备份；最后一段是收尾自查。建议按顺序听，因为后面的操作会用到前面的数据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节奏是三段：我演示一遍、大家跟做一遍、然后按清单自己独立走一遍。中间我会故意做错一次，让大家看清报错长什么样——报错不可怕，会看报错才是真会了。卡住随时举手，不要跳步。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开课前请确认三样东西。第一，账号能登录，密码是管理员给的初始密码；第二，机器能装软件，Windows 或麒麟都行；第三，有一份练习数据，村名、项目名、金额随便编，但要真实感。建议再备一个 U 盘，后面练备份和数据包要用。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先讲入门。这一段的目标很简单：能登录、能改密码、能认清界面的四个区域、会用四个通用操作。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登录就三步：账号、密码、点登录。进来之后认四个地方：左边是菜单，按板块折叠；上面是面包屑，告诉你现在在哪一层；中间是工作台，待办和常用入口都在这；右下角是用户菜单，改密码和退出在这里。这四个区域记住了，后面每页我都能一句话告诉你去哪点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一次登录必须改密码。点右下角用户名，选修改密码，填旧密码、新密码、确认新密码。新密码有长度和复杂度要求，太简单会被拒绝。改完之后当前这个窗口不受影响，但别的设备上的旧登录会失效，这是安全设计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有四个动作在所有列表页都一样：搜索、筛选、分页、导出。搜索在顶部，回车就查；筛选可以组合多个条件，一键重置；分页在底部，每页可以选 20 到 200 条；导出在右上角，能出 Excel 也能出 PDF。学会一次，到处能用。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角色，看到的东西不一样。超级管理员全都能看；管理员看本组织及下级；普通用户只看自己录入的；查看者只能看不能改。这里记住一句话：看不到某个菜单，是权限包没勾；看不到某个村，是数据域限制。都不是系统坏了，找管理员就行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用完请退出，不要直接关窗口。退出后令牌立刻失效，别人拿到你的电脑也进不来。三条习惯：不共用账号，因为所有操作都记在账号名下；不在别人电脑上保存密码；重大操作前先备份一次。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第二段是帮扶村和一户一档。这是整套系统的地基——村建不起来，后面的项目、资金、上报都没法做。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左边菜单帮扶村管理，右上角新增。必填三项：帮扶村名称、各部门各单位、具体帮扶单位。名称一百字以内，同组织内不能重名。省、市、县、乡镇建议填，后面筛选统计要用。填完保存，列表就能搜到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村名进详情，顶部有年度选择器。一个村一年一份账，切到哪年就维护哪年的数据。八个板块：基本情况、人口变动、收入结构、产业帮扶、基础设施、组织建设、帮扶成效、年度对比。改完保存，系统会自动留字段级历史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村多的时候别一个个建。先下模板，再填数据，然后上传。注意模板第六行是表头，第七行是示例，从第八行才开始填。带星号的列必填，不要改表头，也不要在表头前面插行。一次最多一千条，多了分批。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四种常见错。名称不能为空，是必填列没填；帮扶村已存在，是同组织内重名，改名或者删掉重复行；日期格式错误，统一写成年月日加横线；文件格式不对，只接受 xlsx 和 xls，不要传 csv 或者改后缀。报错会给行号，按行号改最快。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注意一个变化：一户一档现在不单独占菜单了，入口在帮扶村的年度数据页里。路径是帮扶村管理，选中村，切年度，找一户一档。新增的时候先录户主，再录家庭成员，每户必须指定帮扶责任人。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三项：姓名、与户主关系、身份证号。身份证号是加密存的，展示时按权限掩码，没权限只看到星号。劳动能力、健康状况、是否在校建议填，影响后面帮扶措施的匹配。成员有变动请新增记录，不要直接删旧的，历史要能追溯。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这一页讲逻辑。帮扶措施写"做了什么"，比如产业、就业、教育、医疗、住房、兜底；收入登记写"结果如何"，分生产经营性、工资性、财产性、转移性四项。系统自动算人均收入。两者对得上，成效才站得住。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个后悔药。改错了，进详情看变更历史，能看到哪个字段从什么改成了什么、谁改的、什么时候改的。删错了，列表筛选已删除，选中恢复就行。但彻底删除只有管理员能做，而且不可恢复——删之前先想一秒。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要交材料不用手工做。导出 Excel 是明细，方便你二次统计；导出 PDF 是一村一册，适合报送盖章；打印前先预览分页，注意页边距。对外提供材料记得勾选脱敏，别把身份证号带出去。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第三段是项目和经费。项目管过程，经费管钱，两者靠审批串起来。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五项：项目名称、负责单位与负责人、帮扶村、预算金额与资金来源、起止时间。负责人决定数据归属和审批人，预算影响后面的资金预警，起止时间影响甘特图。立项依据的附件建议上传，批复文件、会议纪要都行。保存后状态是待审批。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提交后进待审批，审批人能在待办池看到。通过就进执行；驳回必须写原因，退回申请人改完可以重新提交；转审是移交给别的审批人，链条完整记录，不会丢件。每一次状态变化都有日志。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把项目拆成几个节点，进度就看得见了。新增里程碑填名称、计划开始与结束、负责人。甘特图按时间自动铺开，滞后节点会高亮。节点完成后标记完成，顺手传现场照片。建议拆三到五个节点，不要拆太细。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路径是项目详情里的照片墙，支持批量上传。系统按项目和日期自动归类。关键技巧：固定角度、固定位置拍，同一位置多期拍摄才能生成有说服力的对比图。单张有大小限制，超了会提示。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四步：申请验收、上传材料、验收通过、归档。材料要三样：验收报告、现场照片、财务凭证。验收通过状态变成已完成。归档后进历史项目库，只能看不能改，所以归档前把材料补全。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必填：申请事由、金额、资金来源。建议填关联项目和用款计划，方便按项目归集支出。编号是系统自动生成的，ZJ 开头，不用手工编。保存后提交审批，超预算会预警。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四个动作。通过可以附意见；驳回原因必填，空着提交不了，这是硬校验；转审必须选接收人；批量是勾选多条统一处理，系统逐条记录结果，不是一笔带过。待办池在审批中心，工作台的待办也能直接点进来。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两步。拨付登记填拨付日期、金额、凭证号、收款方；使用登记按笔填用途、金额、日期、经办人。系统自动累计已用金额和余额。账要对得上，靠的就是这两步都登记。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流程是提交报销单、审核、核销、归档。报销必须上传发票或收据，没票不能报。核销完成后这笔资金状态变成已核销，闭环结束。缺票缺凭证会被打回，补齐再提交。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上传发票照片，系统会尝试识别金额、日期、号码并回填。这里要强调一句：识别只是帮忙填，金额和日期必须人工核对，识别错一个数字账就错了。识别不可用时会降级成手工录入，不影响继续办事。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三级：用到八成提示，九成警告，十成阻断，不能再支出。异常监控还会列出超支、进度偏差、资金闲置、重复支付、缺凭证五类。建议每周看一眼异常清单，别等年底集中爆。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第四段是数据上报和接收。这是多级单位协作的核心，也是最容易出错的地方。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五项：数据是否全部录入保存、必填是否完整、有没有明显异常值、本期有没有删除或大幅修改、是否已经备份。五项都打勾再上报，能省掉大半返工。这一页建议截图存手机，每次上报前对着看。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三步：选数据范围、选类型（选上报包）、生成并下载。包里自动带组织信息、记录数和校验和。生成后先自己解压看一眼清单，确认记录数对得上再发出去。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四步：上传、校验、预览、确认入库。系统先校验包完整性和校验和，再展示将要导入的记录，确认后才真正写入，不会直接覆盖现有数据。注意：只有管理员能看到接收入口，普通用户没这个菜单。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三类结果。通过的直接入库；已纠正的是系统按规则改了格式，需要你复核一眼；被拒的是必填缺失或类型错误，必须让下级改原始数据重报。看到被拒不要硬导，否则同样的错会一直带上去。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点确认入库，系统写入并记录导入历史。然后到帮扶村、项目、资金对应列表核对。导入历史里能看到本次条数、操作人和时间。建议抽查两三条，比事后发现问题再回滚省事得多。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导出时勾选加密，设置口令。两个要点：口令丢了无法恢复，只能重新导；口令要通过别的渠道告知对方，不要和包放同一个 U 盘里。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上传加密包，输入口令，解密后先预览，确认记录无误再导入。口令错误会明确提示"口令不正确"，不会静默失败，这点可以放心。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四条：用专用 U 盘，不混用私人介质；拷贝前后各杀一次毒；到了对端核对文件大小和校验和；记录交接人、时间、包名。离线环境里，介质摆渡是最容易被忽视的环节，这四条做到就能避免绝大多数事故。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四类原因：包损坏就重新导出；权限不足需要管理员；版本不一致就两端升到同一版本；磁盘空间不足就清理后重试。报错文案会直接指出原因，先读文案再动手，不要一上来就重装。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第五段讲怎么看数据、怎么出材料。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三步：先筛范围，选年度、单位、帮扶村；再点图表元素下钻到明细；用面包屑逐层退回。常用的筛选条件可以保存成视图，下次一键调出。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个视角：总量、变化、差距、关联。总量看覆盖村数户数和累计投入；变化看年度趋势；差距看村与村、单位与单位对比；关联看措施和收入的变化是否对得上。看到异常值先核对原始数据，别急着在会上解释。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三个维度：结构、进度、异常。结构看各板块占比和来源构成；进度看预算执行率、拨付与使用的差；异常看超支、闲置、缺凭证。单位排名只作横向参考，口径不同要先对齐再比。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分工很清楚：Excel 用来继续算，保留全部明细行，可以本地二次统计；PDF 用来报送存档，版式固定不会跑版，适合盖章。大批量导出会转成后台任务，等提示完成再点下载。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四步：进大屏、选字号档位、按需开轮播、退出。字号按观看距离选，三米、六米、十米。轮播是十五秒在 KPI 和图表之间切换，随时能暂停。退出时先退全屏再回工作台，不会卡在中间状态。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三个陷阱：口径变了还硬比同比；基数太小，百分比波动大但绝对数很小；同比和环比混用，结论会相反。汇报前先问自己三句：口径一致吗？基数够大吗？时间范围一样吗？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第六段是管理员的操作：管人、管组织、管权限、管配置、管备份。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用户要填用户名、姓名、初始密码、角色、所属组织。这里最容易漏的是组织和角色——不填，人登录进来什么都看不到。离职调岗请停用账号而不是删除，历史操作记录要保留。重置密码后，用户首次登录还得再改一次。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新增组织必须选上级，层级由系统自动算。要提醒的是：组织就是数据域的边界，层级建错，下级可能看不到本该看到的数据。组织下面有用户或项目时，系统不允许直接删除，这是保护机制。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一个权限包就是一套菜单。新建时勾选这个包允许看到的菜单，然后绑定到用户。一个用户只能绑一个包；不绑就用角色默认菜单；有几个公共模块对所有角色始终可见，这是产品设计，不是漏洞。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常见的有备份目录、备份计划、上传大小限制、列表条数上限。配置改的是全组织行为，改前先确认影响范围，改后做一次验证。生效时机不一样，多数立即生效，少数要重启应用。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三种：手动随时点，适合重大操作前；自动按计划在后台跑，保底；即时是插 U 盘一键备份到介质，适合带离现场。建议保留最近七天加每月一份，而且备份文件要放到另一块物理磁盘上，别和数据库放同一个盘。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四步：选备份文件、系统自动再备一次当前库、执行恢复、重启并抽查。恢复会覆盖当前数据，是最不可逆的操作，一定要确认时间点。恢复期间禁止他人操作，避免数据写坏。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导入之后一定要自检。检查表结构和关键数据条数，再抽查三个村、两个项目，确认附件和照片能打开。换机、迁移、恢复之后都建议走一遍这个流程。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五个高频：401 是没登录或令牌过期，重新登录；403 是没权限，找管理员；422 是参数校验失败，按提示改字段；413 是文件太大，压缩或分批；500 是服务器错误，记录时间点和操作步骤联系管理员。报错文案就是线索，先读再动手。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三张清单。每天：录入当天数据、处理待办审批。每周：生成并上报数据包、检查异常预警。每月：完整备份一次、核对资金余额、导出月报。照这三张做，工作就不会积压到年底。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/>
            <a:r>
              <a:rPr lang="zh-CN" dirty="0"/>
              <a:t>课程到这里。记不住没关系，02 用户手册里每一步都有，共十一篇，按模块分册。遇到问题先查手册，手册解决不了再联系系统管理员。谢谢大家。</a:t>
            </a:r>
          </a:p>
        </p:txBody>
      </p:sp>
    </p:spTree>
  </p:cSld>
  <p:clrMapOvr>
    <a:masterClrMapping/>
  </p:clrMapOvr>
</p:note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mrrs-training-ops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mrrs-training-ops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30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35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25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2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1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95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85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7810500" y="1143000"/>
            <a:ext cx="3619500" cy="4191000"/>
          </a:xfrm>
          <a:prstGeom prst="roundRect">
            <a:avLst>
              <a:gd name="adj" fmla="val 1579"/>
            </a:avLst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6" name="Rectangle 6"/>
          <p:cNvSpPr/>
          <p:nvPr/>
        </p:nvSpPr>
        <p:spPr>
          <a:xfrm>
            <a:off x="762000" y="14287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7" name="TextBox 7"/>
          <p:cNvSpPr txBox="1"/>
          <p:nvPr/>
        </p:nvSpPr>
        <p:spPr>
          <a:xfrm>
            <a:off x="754380" y="1784350"/>
            <a:ext cx="2262188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spc="300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培训专用 · 上机跟做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742950" y="2324100"/>
            <a:ext cx="4793552" cy="8477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350" b="1" spc="75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帮扶管理信息系统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46760" y="313690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功能使用操作培训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5142" y="3778250"/>
            <a:ext cx="2921508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从登录到上报接收，一步一步跟着做</a:t>
            </a:r>
          </a:p>
        </p:txBody>
      </p:sp>
      <p:sp>
        <p:nvSpPr>
          <p:cNvPr id="11" name="Rectangle 11"/>
          <p:cNvSpPr/>
          <p:nvPr/>
        </p:nvSpPr>
        <p:spPr>
          <a:xfrm>
            <a:off x="762000" y="4305300"/>
            <a:ext cx="5334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756285" y="4584700"/>
            <a:ext cx="3524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适用对象：驻村工作队 / 县乡经办人 / 新入职操作员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56285" y="4889500"/>
            <a:ext cx="329831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配套手册：docs/02-用户手册（11 篇操作说明）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8269224" y="13779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614535" y="16319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页课程</a:t>
            </a:r>
          </a:p>
        </p:txBody>
      </p:sp>
      <p:sp>
        <p:nvSpPr>
          <p:cNvPr id="16" name="Line 16"/>
          <p:cNvSpPr/>
          <p:nvPr/>
        </p:nvSpPr>
        <p:spPr>
          <a:xfrm>
            <a:off x="8286750" y="20764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8269224" y="2254250"/>
            <a:ext cx="303266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8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14535" y="25082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个板块</a:t>
            </a:r>
          </a:p>
        </p:txBody>
      </p:sp>
      <p:sp>
        <p:nvSpPr>
          <p:cNvPr id="19" name="Line 19"/>
          <p:cNvSpPr/>
          <p:nvPr/>
        </p:nvSpPr>
        <p:spPr>
          <a:xfrm>
            <a:off x="8286750" y="29527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8269224" y="3130550"/>
            <a:ext cx="839693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120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14535" y="3384550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分钟</a:t>
            </a:r>
          </a:p>
        </p:txBody>
      </p:sp>
      <p:sp>
        <p:nvSpPr>
          <p:cNvPr id="22" name="Line 22"/>
          <p:cNvSpPr/>
          <p:nvPr/>
        </p:nvSpPr>
        <p:spPr>
          <a:xfrm>
            <a:off x="8286750" y="3829050"/>
            <a:ext cx="2667000" cy="9525"/>
          </a:xfrm>
          <a:custGeom>
            <a:avLst/>
            <a:gdLst/>
            <a:ahLst/>
            <a:cxnLst/>
            <a:rect l="l" t="t" r="r" b="b"/>
            <a:pathLst>
              <a:path w="2667000" h="9525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/>
          <a:ln w="9525">
            <a:solidFill>
              <a:schemeClr val="accent6">
                <a:alpha val="35000"/>
              </a:schemeClr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8269224" y="4006850"/>
            <a:ext cx="571479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614535" y="4260850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chemeClr val="accent6"/>
                </a:solidFill>
                <a:latin typeface="+mn-lt"/>
                <a:ea typeface="+mn-ea"/>
                <a:cs typeface="+mn-cs"/>
              </a:rPr>
              <a:t>篇手册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57047" y="6273800"/>
            <a:ext cx="38010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V1.18.25 | 2026-10-28 | FastAPI + Vue 3 + Electron + SQLite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44474" y="781050"/>
            <a:ext cx="1892808" cy="67475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45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课程目录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56285" y="1384300"/>
            <a:ext cx="223638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TRAINING AGENDA</a:t>
            </a:r>
          </a:p>
        </p:txBody>
      </p:sp>
      <p:sp>
        <p:nvSpPr>
          <p:cNvPr id="6" name="Rectangle 6"/>
          <p:cNvSpPr/>
          <p:nvPr/>
        </p:nvSpPr>
        <p:spPr>
          <a:xfrm>
            <a:off x="762000" y="1752600"/>
            <a:ext cx="571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35" name="toc-list"/>
          <p:cNvGrpSpPr/>
          <p:nvPr/>
        </p:nvGrpSpPr>
        <p:grpSpPr>
          <a:xfrm>
            <a:off x="752094" y="2044700"/>
            <a:ext cx="10677906" cy="3679825"/>
            <a:chOff x="752094" y="2044700"/>
            <a:chExt cx="10677906" cy="3679825"/>
          </a:xfrm>
        </p:grpSpPr>
        <p:sp>
          <p:nvSpPr>
            <p:cNvPr id="7" name="TextBox 7"/>
            <p:cNvSpPr txBox="1"/>
            <p:nvPr/>
          </p:nvSpPr>
          <p:spPr>
            <a:xfrm>
              <a:off x="752094" y="2044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667637" y="20701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入门与界面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4471035" y="21272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登录、改密、界面四区、通用操作</a:t>
              </a:r>
            </a:p>
          </p:txBody>
        </p:sp>
        <p:sp>
          <p:nvSpPr>
            <p:cNvPr id="10" name="Line 10"/>
            <p:cNvSpPr/>
            <p:nvPr/>
          </p:nvSpPr>
          <p:spPr>
            <a:xfrm>
              <a:off x="762000" y="2514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752094" y="2578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667637" y="26035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帮扶村与一户一档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71035" y="2660650"/>
              <a:ext cx="239844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建村、年度数据、Excel 导入、建档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762000" y="3048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52094" y="31115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667637" y="31369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项目与经费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4471035" y="31940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立项、审批、里程碑、经费全流程</a:t>
              </a:r>
            </a:p>
          </p:txBody>
        </p:sp>
        <p:sp>
          <p:nvSpPr>
            <p:cNvPr id="18" name="Line 18"/>
            <p:cNvSpPr/>
            <p:nvPr/>
          </p:nvSpPr>
          <p:spPr>
            <a:xfrm>
              <a:off x="762000" y="35814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752094" y="36449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667637" y="3670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数据上报与接收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4471035" y="3727450"/>
              <a:ext cx="22730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打包、校验、入库、加密包、排查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762000" y="4114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752094" y="41783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1667637" y="42037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分析与报表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471035" y="4260850"/>
              <a:ext cx="2725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筛选下钻、成效与资金分析、导出、大屏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762000" y="4648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752094" y="47117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06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667637" y="47371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系统管理与备份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471035" y="479425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用户、组织、权限包、配置、备份恢复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762000" y="51816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752094" y="5245100"/>
              <a:ext cx="311827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07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667637" y="52705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收尾与自查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471035" y="5327650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常见错误、日周月清单</a:t>
              </a:r>
            </a:p>
          </p:txBody>
        </p:sp>
        <p:sp>
          <p:nvSpPr>
            <p:cNvPr id="34" name="Line 34"/>
            <p:cNvSpPr/>
            <p:nvPr/>
          </p:nvSpPr>
          <p:spPr>
            <a:xfrm>
              <a:off x="762000" y="57150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这门课怎么上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howto"/>
          <p:cNvGrpSpPr/>
          <p:nvPr/>
        </p:nvGrpSpPr>
        <p:grpSpPr>
          <a:xfrm>
            <a:off x="762000" y="2800350"/>
            <a:ext cx="10668000" cy="2381250"/>
            <a:chOff x="762000" y="2800350"/>
            <a:chExt cx="10668000" cy="2381250"/>
          </a:xfrm>
        </p:grpSpPr>
        <p:sp>
          <p:nvSpPr>
            <p:cNvPr id="7" name="Rectangle 7"/>
            <p:cNvSpPr/>
            <p:nvPr/>
          </p:nvSpPr>
          <p:spPr>
            <a:xfrm>
              <a:off x="762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讲授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讲师演示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每个动作先完整演示一遍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只讲必要步骤，不展开原理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跟做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学员同步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90207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讲师演示完立刻跟做一遍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2259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卡住举手，不跳步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800350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800350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33692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练习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679825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独立完成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9814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9020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按清单独立走一遍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3053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422592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故意做错一次，学会看报错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66694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培训说明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培训前准备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6" name="prepar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账号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管理员发放的初始账号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初始密码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所属组织已确认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5822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机器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397250"/>
              <a:ext cx="18101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Windows 或麒麟/统信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能安装软件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4698492" y="4044950"/>
              <a:ext cx="179473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屏幕分辨率 1280 以上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材料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3972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练习用村名与项目名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8317992" y="3721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练习用金额数据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8317992" y="4044950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建议备一个 U 盘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5" name="TextBox 35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三样齐了就可以开始；缺哪一样，先找培训组织者补齐再动手。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01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入门与界面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25394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GETTING STARTED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登录与界面认识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201587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修改密码与个人设置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界面通用操作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权限与角色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退出登录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登录与界面认识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7" name="login-ui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登录三步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输入账号（管理员发放）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输入密码（首次为初始密码）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点「登录」进入工作台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界面四个区域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左侧菜单：按板块折叠，点板块展开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顶部面包屑：显示你现在在哪一层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82686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中间工作台：待办、常用入口、KPI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286500" y="3800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6489192" y="3721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右下角用户菜单：改密与退出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记住这四个区域，后面每一页的操作都能定位到具体位置。</a:t>
              </a:r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修改密码与个人设置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password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点右下角头像或用户名，展开菜单。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选择「修改密码」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填写旧密码、新密码、确认新密码三项。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提交并验证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保存成功后当前会话保持，其他设备上的旧登录会失效。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37540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新密码需要满足长度与复杂度要求，太简单会被拒绝。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56475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个人资料里可以改姓名与联系方式，改完列表与审批记录里同步显示。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界面通用操作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5" name="common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搜索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顶部关键词框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72110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回车即查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971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1078992" y="4044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支持名称与编号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67741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筛选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下拉条件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7211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可组合多个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368617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379361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重置一键清空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6" name="Rectangle 26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39203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分页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640080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6508242" y="33972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底部页码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640080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6508242" y="3721100"/>
              <a:ext cx="173113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每页 20/50/100/200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640080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6508242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跳转到指定页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5" name="Rectangle 35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106662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右上角导出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9115425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222867" y="3721100"/>
              <a:ext cx="108452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与 PDF</a:t>
              </a:r>
            </a:p>
          </p:txBody>
        </p:sp>
        <p:sp>
          <p:nvSpPr>
            <p:cNvPr id="41" name="Rectangle 41"/>
            <p:cNvSpPr/>
            <p:nvPr/>
          </p:nvSpPr>
          <p:spPr>
            <a:xfrm>
              <a:off x="9115425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2" name="TextBox 42"/>
            <p:cNvSpPr txBox="1"/>
            <p:nvPr/>
          </p:nvSpPr>
          <p:spPr>
            <a:xfrm>
              <a:off x="9222867" y="4044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先筛选再导出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4" name="TextBox 4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这四个动作在所有列表页都一样，学会一次到处能用。</a:t>
              </a:r>
            </a:p>
          </p:txBody>
        </p:sp>
      </p:grpSp>
      <p:sp>
        <p:nvSpPr>
          <p:cNvPr id="46" name="TextBox 4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权限与角色：你能做什么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41" name="rol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超级管理员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全部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全部菜单与数据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组织与用户管理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367741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管理员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680460" y="3441700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本组织及下级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业务管理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368617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379361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数据包收发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392037" y="30988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普通用户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39508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仅本人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40080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6508242" y="36639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录入与流转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640080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650824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不能接收数据包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2" name="Rectangle 32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3" name="TextBox 33"/>
            <p:cNvSpPr txBox="1"/>
            <p:nvPr/>
          </p:nvSpPr>
          <p:spPr>
            <a:xfrm>
              <a:off x="9106662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查看者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109710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只读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9115425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222867" y="3663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只能查看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9115425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8" name="TextBox 38"/>
            <p:cNvSpPr txBox="1"/>
            <p:nvPr/>
          </p:nvSpPr>
          <p:spPr>
            <a:xfrm>
              <a:off x="9222867" y="398780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写操作被拒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40" name="TextBox 40"/>
            <p:cNvSpPr txBox="1"/>
            <p:nvPr/>
          </p:nvSpPr>
          <p:spPr>
            <a:xfrm>
              <a:off x="985647" y="5695950"/>
              <a:ext cx="462737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看不到某个菜单＝权限包没勾；看不到某个村＝数据域限制。都不是系统故障。</a:t>
              </a:r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09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01 入门与界面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退出登录与安全习惯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2" name="logout"/>
          <p:cNvGrpSpPr/>
          <p:nvPr/>
        </p:nvGrpSpPr>
        <p:grpSpPr>
          <a:xfrm>
            <a:off x="762000" y="1971675"/>
            <a:ext cx="10668000" cy="2775458"/>
            <a:chOff x="762000" y="1971675"/>
            <a:chExt cx="10668000" cy="27754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打开用户菜单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点右下角用户名。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点「退出登录」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退出后令牌立即失效，需要重新登录。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762000" y="37338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771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964692" y="37211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不要共用账号：所有操作都会记在账号名下。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4152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64692" y="41021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不要在他人电脑上保存密码。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53390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4831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重要操作前先做一次备份。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02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4379595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帮扶村与一户一档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1588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VILLAGES &amp; HOUSEHOLDS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建第一个村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年度数据维护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34241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Excel 批量导入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一户一档建档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恢复与导出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250025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11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建第一个村：字段逐项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211473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100 字以内，同组织内不能重名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各部门各单位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帮扶的部门或单位名称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具体帮扶单位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实际派驻或结对单位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58074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省 / 市 / 县 / 乡镇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用于地区筛选与统计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223227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地区范围 / 三区三州等标签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影响后续分类统计口径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6147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路径：左侧菜单「帮扶村管理」→ 右上角「新增」→ 填完保存。三项必填齐了就能先建起来。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编辑与年度数据维护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annual"/>
          <p:cNvGrpSpPr/>
          <p:nvPr/>
        </p:nvGrpSpPr>
        <p:grpSpPr>
          <a:xfrm>
            <a:off x="828675" y="1971675"/>
            <a:ext cx="7838313" cy="3080258"/>
            <a:chOff x="828675" y="1971675"/>
            <a:chExt cx="7838313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进入村详情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在列表点村名，进入该村档案。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切换年度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顶部年度选择器，切到要维护的年份。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维护八个板块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728319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基本情况、人口变动、收入结构、产业帮扶、基础设施、组织建设、帮扶成效、年度对比。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保存并核对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保存后回到详情，确认数据已更新；改动会留字段级历史。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5829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Excel 批量导入帮扶村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import"/>
          <p:cNvGrpSpPr/>
          <p:nvPr/>
        </p:nvGrpSpPr>
        <p:grpSpPr>
          <a:xfrm>
            <a:off x="762000" y="2209800"/>
            <a:ext cx="9641764" cy="1870583"/>
            <a:chOff x="762000" y="2209800"/>
            <a:chExt cx="9641764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240030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下载模板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填写数据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上传文件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220980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232092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789236" y="269875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查看结果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3133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054350"/>
              <a:ext cx="48206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模板第 6 行是表头，第 7 行是示例，第 8 行起才开始填写。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3514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3435350"/>
              <a:ext cx="494787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带 * 的列是必填，不要修改表头文字，也不要在表头前插行。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389572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3816350"/>
              <a:ext cx="306689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单次最多导入 1000 条，超过请分批。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导入报错怎么处理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import-err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210144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帮扶村名称不能为空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必填列没填，补上后重传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帮扶村已存在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同组织内重名，改名或删掉重复行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日期格式错误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193121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统一写成 YYYY-MM-DD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文件格式不对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49398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只接受 .xlsx / .xls，不要传 csv 或改后缀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导入结果会给出具体行号，按行号改最快。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一户一档：入口与建档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ousehold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进入帮扶村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左侧菜单「帮扶村管理」，选中目标村。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打开年度数据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切到对应年度，找到「一户一档」入口。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新增一户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先录户主信息，再录家庭成员。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指定帮扶责任人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每户必须有明确的责任人。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注意：一户一档入口已并入帮扶村的年度数据页，不再单独占一个菜单。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家庭成员录入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姓名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与身份证一致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与户主关系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61717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本人/配偶/子女/父母等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身份证号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97149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加密存储，展示时按权限掩码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劳动能力 / 健康状况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影响帮扶措施匹配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是否在校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21762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教育帮扶统计口径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97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成员变动请新增记录，不要直接删掉旧成员——历史要能追溯。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帮扶措施与收入登记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measures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帮扶措施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产业、就业、教育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医疗、住房、兜底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0416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收入登记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397250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生产经营性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721100"/>
              <a:ext cx="131313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工资性 / 财产性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4044950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转移性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成效核对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系统自动算人均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与措施逐项对应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4126047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措施写"做了什么"，收入写"结果如何"，两者对得上，成效才站得住。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变更历史与回收站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history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改错了看历史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49487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详情页 → 变更历史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看字段级旧值与新值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看操作人与时间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删错了进回收站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列表筛选「已删除」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选中后点「恢复」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彻底删除仅管理员可做，且不可恢复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9941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建议：删之前先想一秒——回收站能救你一次，但救不了"彻底删除"。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19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65044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02 帮扶村与一户一档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村档案导出与打印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expor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116907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Excel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保留明细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便于二次统计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8154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导出 PDF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一村一册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适合报送盖章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打印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先预览分页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注意页边距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对外提供材料时，记得勾选脱敏，避免身份证号等敏感信息外泄。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项目与经费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40477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PROJECTS &amp; FUNDS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项目立项与审批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里程碑与验收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经费申请与拨付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报销核销与预警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21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项目立项：字段逐项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5" name="fields"/>
          <p:cNvGrpSpPr/>
          <p:nvPr/>
        </p:nvGrpSpPr>
        <p:grpSpPr>
          <a:xfrm>
            <a:off x="762000" y="1962150"/>
            <a:ext cx="10668000" cy="3771900"/>
            <a:chOff x="762000" y="1962150"/>
            <a:chExt cx="10668000" cy="377190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项目名称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简明写清做什么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150532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负责单位 / 负责人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决定数据归属与审批人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帮扶村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关联到具体村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预算金额 / 资金来源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91607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影响资金预警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起止时间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影响甘特图与进度判断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983742" y="472122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立项依据（附件）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3613785" y="47466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5328285" y="4746625"/>
              <a:ext cx="151917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批复文件、会议纪要等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762000" y="502920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3" name="Rectangle 33"/>
            <p:cNvSpPr/>
            <p:nvPr/>
          </p:nvSpPr>
          <p:spPr>
            <a:xfrm>
              <a:off x="762000" y="52768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84885" y="53657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保存后状态为「待审批」，进入审批人待办池。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项目审批流转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1" name="approval"/>
          <p:cNvGrpSpPr/>
          <p:nvPr/>
        </p:nvGrpSpPr>
        <p:grpSpPr>
          <a:xfrm>
            <a:off x="762000" y="2914650"/>
            <a:ext cx="9791700" cy="2251583"/>
            <a:chOff x="762000" y="2914650"/>
            <a:chExt cx="9791700" cy="2251583"/>
          </a:xfrm>
        </p:grpSpPr>
        <p:sp>
          <p:nvSpPr>
            <p:cNvPr id="7" name="Line 7"/>
            <p:cNvSpPr/>
            <p:nvPr/>
          </p:nvSpPr>
          <p:spPr>
            <a:xfrm>
              <a:off x="1828800" y="3105150"/>
              <a:ext cx="8534400" cy="9525"/>
            </a:xfrm>
            <a:custGeom>
              <a:avLst/>
              <a:gdLst/>
              <a:ahLst/>
              <a:cxnLst/>
              <a:rect l="l" t="t" r="r" b="b"/>
              <a:pathLst>
                <a:path w="8534400" h="9525">
                  <a:moveTo>
                    <a:pt x="0" y="0"/>
                  </a:moveTo>
                  <a:lnTo>
                    <a:pt x="85344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6383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7418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6723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37719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38754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7305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待审批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59055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60090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5864123" y="34036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审批中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80391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81426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831306" y="3403600"/>
              <a:ext cx="79658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 / 驳回</a:t>
              </a:r>
            </a:p>
          </p:txBody>
        </p:sp>
        <p:sp>
          <p:nvSpPr>
            <p:cNvPr id="20" name="Ellipse 20"/>
            <p:cNvSpPr/>
            <p:nvPr/>
          </p:nvSpPr>
          <p:spPr>
            <a:xfrm>
              <a:off x="10172700" y="29146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276236" y="30257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05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206711" y="34036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3838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64692" y="3759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通过：进入执行，可附审批意见。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219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64692" y="414020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驳回：原因必填，退回申请人修改后可重新提交。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4600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64692" y="45212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转审：移交给其他审批人，链条完整记录，不丢件。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762000" y="49815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64692" y="4902200"/>
              <a:ext cx="473887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每次状态变化都写日志，事后可查谁批的、什么时候批的。</a:t>
              </a:r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里程碑与甘特图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4" name="milestone"/>
          <p:cNvGrpSpPr/>
          <p:nvPr/>
        </p:nvGrpSpPr>
        <p:grpSpPr>
          <a:xfrm>
            <a:off x="762000" y="1971675"/>
            <a:ext cx="10668000" cy="3213608"/>
            <a:chOff x="762000" y="1971675"/>
            <a:chExt cx="10668000" cy="32136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新增里程碑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填名称、计划开始与结束、负责人。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查看甘特图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系统按时间自动铺开，滞后节点会高亮。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标记完成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节点完成后标记，并上传现场照片。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762000" y="45529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591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4540250"/>
              <a:ext cx="46389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建议按"启动—实施—验收"拆 3–5 个节点，不要拆得过细。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972050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92125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节点时间要留缓冲，避免一个节点延误拖垮整条链。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进度照片上传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photos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进入照片墙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167661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项目详情 → 照片墙。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批量上传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一次可选多张，单张大小有上限。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按项目与时间归类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系统自动归入当前项目与当前日期。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生成对比图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同一位置多期拍摄可生成前后对比。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关键：固定角度、固定位置拍摄，对比图才有说服力。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项目验收与归档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accept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88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申请验收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455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上传材料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122236" y="35941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验收通过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验收材料：验收报告、现场照片、财务凭证。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验收通过后项目状态变为「已完成」。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419366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归档后进入历史项目库，只能查看，不能随意修改。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经费申请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fields"/>
          <p:cNvGrpSpPr/>
          <p:nvPr/>
        </p:nvGrpSpPr>
        <p:grpSpPr>
          <a:xfrm>
            <a:off x="762000" y="1962150"/>
            <a:ext cx="10668000" cy="3333750"/>
            <a:chOff x="762000" y="1962150"/>
            <a:chExt cx="10668000" cy="33337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10668000" cy="438150"/>
            </a:xfrm>
            <a:prstGeom prst="rect">
              <a:avLst/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848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字段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3613785" y="21082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是否必填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5328285" y="21082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说明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4003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83742" y="25304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申请事由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3613785" y="25558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5328285" y="2555875"/>
              <a:ext cx="106685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一句话说清用途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983742" y="2968625"/>
              <a:ext cx="37719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金额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3613785" y="29940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5328285" y="2994025"/>
              <a:ext cx="182072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与预算对照，超预算会预警</a:t>
              </a:r>
            </a:p>
          </p:txBody>
        </p:sp>
        <p:sp>
          <p:nvSpPr>
            <p:cNvPr id="18" name="Rectangle 18"/>
            <p:cNvSpPr/>
            <p:nvPr/>
          </p:nvSpPr>
          <p:spPr>
            <a:xfrm>
              <a:off x="762000" y="32766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19" name="TextBox 19"/>
            <p:cNvSpPr txBox="1"/>
            <p:nvPr/>
          </p:nvSpPr>
          <p:spPr>
            <a:xfrm>
              <a:off x="983742" y="34067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资金来源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613785" y="34321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2"/>
                  </a:solidFill>
                  <a:latin typeface="+mn-lt"/>
                  <a:ea typeface="+mn-ea"/>
                  <a:cs typeface="+mn-cs"/>
                </a:rPr>
                <a:t>必填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5328285" y="3432175"/>
              <a:ext cx="16699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财政、捐赠、单位自筹等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983742" y="38449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关联项目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3613785" y="387032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5328285" y="387032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便于按项目归集支出</a:t>
              </a:r>
            </a:p>
          </p:txBody>
        </p:sp>
        <p:sp>
          <p:nvSpPr>
            <p:cNvPr id="25" name="Rectangle 25"/>
            <p:cNvSpPr/>
            <p:nvPr/>
          </p:nvSpPr>
          <p:spPr>
            <a:xfrm>
              <a:off x="762000" y="4152900"/>
              <a:ext cx="10668000" cy="438150"/>
            </a:xfrm>
            <a:prstGeom prst="rect">
              <a:avLst/>
            </a:prstGeom>
            <a:solidFill>
              <a:schemeClr val="lt2">
                <a:alpha val="50000"/>
              </a:schemeClr>
            </a:solidFill>
            <a:ln>
              <a:noFill/>
            </a:ln>
          </p:spPr>
          <p:txBody>
            <a:bodyPr/>
            <a:p/>
          </p:txBody>
        </p:sp>
        <p:sp>
          <p:nvSpPr>
            <p:cNvPr id="26" name="TextBox 26"/>
            <p:cNvSpPr txBox="1"/>
            <p:nvPr/>
          </p:nvSpPr>
          <p:spPr>
            <a:xfrm>
              <a:off x="983742" y="4283075"/>
              <a:ext cx="168705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用款计划 / 附件依据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3613785" y="4308475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建议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5328285" y="4308475"/>
              <a:ext cx="1368400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分批用款请写清节点</a:t>
              </a:r>
            </a:p>
          </p:txBody>
        </p:sp>
        <p:sp>
          <p:nvSpPr>
            <p:cNvPr id="29" name="Line 29"/>
            <p:cNvSpPr/>
            <p:nvPr/>
          </p:nvSpPr>
          <p:spPr>
            <a:xfrm>
              <a:off x="762000" y="4591050"/>
              <a:ext cx="10668000" cy="9525"/>
            </a:xfrm>
            <a:custGeom>
              <a:avLst/>
              <a:gdLst/>
              <a:ahLst/>
              <a:cxnLst/>
              <a:rect l="l" t="t" r="r" b="b"/>
              <a:pathLst>
                <a:path w="10668000" h="9525">
                  <a:moveTo>
                    <a:pt x="0" y="0"/>
                  </a:moveTo>
                  <a:lnTo>
                    <a:pt x="10668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30" name="Rectangle 30"/>
            <p:cNvSpPr/>
            <p:nvPr/>
          </p:nvSpPr>
          <p:spPr>
            <a:xfrm>
              <a:off x="762000" y="48387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4885" y="4927600"/>
              <a:ext cx="400382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编号自动生成（ZJ 开头），不用手工编。保存后提交审批。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56845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审批：通过、驳回、转审、批量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action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可附审批意见，流转到下一环节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驳回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原因必填，退回申请人；空原因提交不了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转审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必须选接收人，链条完整记录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批量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勾选多条统一处理，系统逐条记录结果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44002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待办池在「审批中心」，也可以从工作台待办直接点进去。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拨付与使用登记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disburse"/>
          <p:cNvGrpSpPr/>
          <p:nvPr/>
        </p:nvGrpSpPr>
        <p:grpSpPr>
          <a:xfrm>
            <a:off x="828675" y="1971675"/>
            <a:ext cx="4203573" cy="2261108"/>
            <a:chOff x="828675" y="1971675"/>
            <a:chExt cx="4203573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拨付登记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填拨付日期、金额、凭证号、收款方。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使用登记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按笔登记用途、金额、日期、经办人。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核对余额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系统自动累计已用金额与余额，异常会提示。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29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报销与核销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6" name="reimburse"/>
          <p:cNvGrpSpPr/>
          <p:nvPr/>
        </p:nvGrpSpPr>
        <p:grpSpPr>
          <a:xfrm>
            <a:off x="762000" y="3105150"/>
            <a:ext cx="9525000" cy="1870583"/>
            <a:chOff x="762000" y="3105150"/>
            <a:chExt cx="9525000" cy="1870583"/>
          </a:xfrm>
        </p:grpSpPr>
        <p:sp>
          <p:nvSpPr>
            <p:cNvPr id="7" name="Line 7"/>
            <p:cNvSpPr/>
            <p:nvPr/>
          </p:nvSpPr>
          <p:spPr>
            <a:xfrm>
              <a:off x="2095500" y="3295650"/>
              <a:ext cx="8001000" cy="9525"/>
            </a:xfrm>
            <a:custGeom>
              <a:avLst/>
              <a:gdLst/>
              <a:ahLst/>
              <a:cxnLst/>
              <a:rect l="l" t="t" r="r" b="b"/>
              <a:pathLst>
                <a:path w="8001000" h="9525">
                  <a:moveTo>
                    <a:pt x="0" y="0"/>
                  </a:moveTo>
                  <a:lnTo>
                    <a:pt x="8001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Ellipse 8"/>
            <p:cNvSpPr/>
            <p:nvPr/>
          </p:nvSpPr>
          <p:spPr>
            <a:xfrm>
              <a:off x="1905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2008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12849" y="3594100"/>
              <a:ext cx="7653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提交报销单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4572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4675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606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审核</a:t>
              </a:r>
            </a:p>
          </p:txBody>
        </p:sp>
        <p:sp>
          <p:nvSpPr>
            <p:cNvPr id="14" name="Ellipse 14"/>
            <p:cNvSpPr/>
            <p:nvPr/>
          </p:nvSpPr>
          <p:spPr>
            <a:xfrm>
              <a:off x="7239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5" name="TextBox 15"/>
            <p:cNvSpPr txBox="1"/>
            <p:nvPr/>
          </p:nvSpPr>
          <p:spPr>
            <a:xfrm>
              <a:off x="7342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7273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核销</a:t>
              </a:r>
            </a:p>
          </p:txBody>
        </p:sp>
        <p:sp>
          <p:nvSpPr>
            <p:cNvPr id="17" name="Ellipse 17"/>
            <p:cNvSpPr/>
            <p:nvPr/>
          </p:nvSpPr>
          <p:spPr>
            <a:xfrm>
              <a:off x="9906000" y="3105150"/>
              <a:ext cx="381000" cy="381000"/>
            </a:xfrm>
            <a:prstGeom prst="ellipse">
              <a:avLst/>
            </a:prstGeom>
            <a:solidFill>
              <a:srgbClr val="1A2E24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10009536" y="3216275"/>
              <a:ext cx="1739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04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9940011" y="35941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归档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762000" y="4029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964692" y="39497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报销必须上传发票或收据，无票不能报。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762000" y="4410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964692" y="4330700"/>
              <a:ext cx="455714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核销完成后，这笔资金状态变为「已核销」，闭环结束。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762000" y="47910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964692" y="47117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缺票或缺凭证会被打回，补齐后重新提交。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凭证上传与识别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c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上传发票照片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拍照或扫描件均可，保证清晰、四角完整。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系统尝试识别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识别金额、日期、号码并回填到表单。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人工核对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务必核对识别结果，识别错一个数字，账就错了。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83621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识别不可用时（如离线模型缺失）会降级为手工录入，不影响继续办事。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03 项目与经费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预算预警与异常监控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warning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80%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提示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预算已用八成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提醒后续支出节奏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46730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90%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警告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剩余空间有限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新增支出需说明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60102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100%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31297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阻断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禁止继续支出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需追加预算或调整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90442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异常监控还会列出：超支、进度偏差、资金闲置、重复支付、缺凭证——每周看一眼。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04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数据上报与接收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30964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REPORTING &amp; RECEIVING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上报前检查清单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生成上报包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接收校验与入库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349502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加密包与排查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33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上报前检查清单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checklist"/>
          <p:cNvGrpSpPr/>
          <p:nvPr/>
        </p:nvGrpSpPr>
        <p:grpSpPr>
          <a:xfrm>
            <a:off x="762000" y="1949450"/>
            <a:ext cx="10668000" cy="3194050"/>
            <a:chOff x="762000" y="1949450"/>
            <a:chExt cx="10668000" cy="3194050"/>
          </a:xfrm>
        </p:grpSpPr>
        <p:sp>
          <p:nvSpPr>
            <p:cNvPr id="7" name="Rectangle 7"/>
            <p:cNvSpPr/>
            <p:nvPr/>
          </p:nvSpPr>
          <p:spPr>
            <a:xfrm>
              <a:off x="762000" y="19621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1155192" y="1949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本期数据是否已全部录入并保存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762000" y="24574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1155192" y="2444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必填字段是否完整（村名、单位、金额等）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527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155192" y="2940050"/>
              <a:ext cx="362119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是否有明显异常值（金额为 0、日期超范围）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480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155192" y="34353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本期是否有删除或大幅修改，是否已说明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943350"/>
              <a:ext cx="209550" cy="209550"/>
            </a:xfrm>
            <a:prstGeom prst="roundRect">
              <a:avLst>
                <a:gd name="adj" fmla="val 13636"/>
              </a:avLst>
            </a:prstGeom>
            <a:solidFill>
              <a:schemeClr val="lt2"/>
            </a:solidFill>
            <a:ln w="19050">
              <a:solidFill>
                <a:schemeClr val="accent1"/>
              </a:solidFill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1155192" y="39306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是否已做一次备份（出错可回退）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762000" y="46863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984885" y="4775200"/>
              <a:ext cx="25745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五项都打勾再上报，能省掉大半返工。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生成上报包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pk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选择数据范围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按年度、按组织选择要上报的数据。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选择类型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61255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类型选「上报包」（report）。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生成并下载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401193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 zip 后下载，包内含组织、记录数与校验和。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23311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包生成后先自己解压看一眼清单，确认记录数对得上再发出去。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上级接收：校验与预览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ceiv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上传上报包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9760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接收 → 选择 zip 文件。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系统校验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校验包完整性、校验和与来源组织。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预览数据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展示将要导入的记录，先看清楚再确认。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确认入库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确认后才真正写入，不会直接覆盖现有数据。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注意：只有管理员能看到接收入口，普通用户没有这个菜单。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字段级校验结果处理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3" name="validat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通过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965835" y="3441700"/>
              <a:ext cx="61452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直接入库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971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1078992" y="36639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字段完整合规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971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1078992" y="39878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4582287" y="309880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已纠正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853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需复核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66395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系统按规则修正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45910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46984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如格式、去空格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201787" y="30988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被拒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8204835" y="3441700"/>
              <a:ext cx="463753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chemeClr val="accent5"/>
                  </a:solidFill>
                  <a:latin typeface="+mn-lt"/>
                  <a:ea typeface="+mn-ea"/>
                  <a:cs typeface="+mn-cs"/>
                </a:rPr>
                <a:t>需回退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8210550" y="3743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8317992" y="366395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必填缺失或类型错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8210550" y="40671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8317992" y="39878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让下级改后重报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看到「被拒」不要硬导，先让下级改原始数据，否则同样的错会一直带上去。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确认入库与查看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confirm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点确认入库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系统写入并记录本次导入历史。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到业务列表核对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到帮扶村、项目、资金对应列表查看。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查导入历史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可看本次导入条数、操作人与时间。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93156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导入后抽查两三条数据，比事后发现问题再回滚省事得多。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加密数据包导出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enc-export"/>
          <p:cNvGrpSpPr/>
          <p:nvPr/>
        </p:nvGrpSpPr>
        <p:grpSpPr>
          <a:xfrm>
            <a:off x="828675" y="1971675"/>
            <a:ext cx="3294888" cy="2261108"/>
            <a:chOff x="828675" y="1971675"/>
            <a:chExt cx="3294888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选择加密导出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导出时勾选加密，设置口令。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牢记口令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口令丢失无法恢复，需重新导出。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通过其他渠道告知口令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41538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不要和包放在同一个 U 盘里。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39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加密数据包导入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enc-import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上传加密包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2218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数据包管理 → 导入加密包。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输入口令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口令正确才能解密预览。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预览后导入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确认记录无误再导入。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6300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口令错误会明确提示「口令不正确」，不会静默失败。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介质摆渡注意事项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media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专用介质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4322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不用私人 U 盘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专盘专用并登记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先杀毒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拷贝前后各扫一次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避免带毒进内网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核对校验和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对比文件大小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43195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必要时算 SHA256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留交接记录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记录人、时间、包名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谁给的、谁收的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4495444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介质摆渡是离线环境最容易被忽视的环节，四条做到就能避免绝大多数事故。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04 数据上报与接收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上报失败排查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trouble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712165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包损坏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重新导出一次；传输过程可能中断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权限不足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需要管理员角色才能接收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版本不一致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两端升级到同一版本再上报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磁盘空间不足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清理备份或临时文件后重试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报错文案会直接指出原因，先读文案再动手，不要盲目重装。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05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27439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分析与报表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82173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ANALYTICS &amp; REPORTS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18" name="section-items"/>
          <p:cNvGrpSpPr/>
          <p:nvPr/>
        </p:nvGrpSpPr>
        <p:grpSpPr>
          <a:xfrm>
            <a:off x="5334000" y="1635125"/>
            <a:ext cx="5715000" cy="2755900"/>
            <a:chOff x="5334000" y="1635125"/>
            <a:chExt cx="5715000" cy="275590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筛选与下钻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成效分析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资金分析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1571625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报表导出与大屏</a:t>
              </a:r>
            </a:p>
          </p:txBody>
        </p:sp>
        <p:sp>
          <p:nvSpPr>
            <p:cNvPr id="17" name="Line 17"/>
            <p:cNvSpPr/>
            <p:nvPr/>
          </p:nvSpPr>
          <p:spPr>
            <a:xfrm>
              <a:off x="5334000" y="438150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19" name="TextBox 19"/>
          <p:cNvSpPr txBox="1"/>
          <p:nvPr/>
        </p:nvSpPr>
        <p:spPr>
          <a:xfrm>
            <a:off x="757047" y="6286500"/>
            <a:ext cx="854243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43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筛选与下钻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filter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先筛范围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顶部选年度、单位、帮扶村。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再点图表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点击图表元素下钻到明细。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用面包屑回退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183108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面包屑可以逐层退回。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317769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筛选条件可以保存为常用视图，下次一键调出。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成效分析怎么看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7" name="effect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总量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覆盖村数、户数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累计投入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347662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347662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367741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变化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368617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3793617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年度趋势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368617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3793617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191250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6191250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639203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差距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640080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650824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村与村对比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640080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650824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单位之间对比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905875" y="2562225"/>
              <a:ext cx="2524125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9" name="Rectangle 29"/>
            <p:cNvSpPr/>
            <p:nvPr/>
          </p:nvSpPr>
          <p:spPr>
            <a:xfrm>
              <a:off x="8905875" y="2562225"/>
              <a:ext cx="2524125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0" name="TextBox 30"/>
            <p:cNvSpPr txBox="1"/>
            <p:nvPr/>
          </p:nvSpPr>
          <p:spPr>
            <a:xfrm>
              <a:off x="9106662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关联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9115425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2" name="TextBox 32"/>
            <p:cNvSpPr txBox="1"/>
            <p:nvPr/>
          </p:nvSpPr>
          <p:spPr>
            <a:xfrm>
              <a:off x="9222867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措施与收入变化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9115425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4" name="TextBox 34"/>
            <p:cNvSpPr txBox="1"/>
            <p:nvPr/>
          </p:nvSpPr>
          <p:spPr>
            <a:xfrm>
              <a:off x="9222867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投入与成效对应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6" name="TextBox 36"/>
            <p:cNvSpPr txBox="1"/>
            <p:nvPr/>
          </p:nvSpPr>
          <p:spPr>
            <a:xfrm>
              <a:off x="985647" y="5695950"/>
              <a:ext cx="2912313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看到异常值先核对原始数据，别急着在会上解释。</a:t>
              </a:r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资金分析怎么看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fun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结构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各板块占比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来源构成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进度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预算执行率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拨付与使用差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异常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94966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超支 / 闲置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55892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缺凭证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30809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单位排名只作横向参考，口径不同时先对齐口径再比较。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87825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报表导出 Excel / PDF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export2"/>
          <p:cNvGrpSpPr/>
          <p:nvPr/>
        </p:nvGrpSpPr>
        <p:grpSpPr>
          <a:xfrm>
            <a:off x="753237" y="2108200"/>
            <a:ext cx="10676763" cy="3949700"/>
            <a:chOff x="753237" y="2108200"/>
            <a:chExt cx="10676763" cy="3949700"/>
          </a:xfrm>
        </p:grpSpPr>
        <p:sp>
          <p:nvSpPr>
            <p:cNvPr id="7" name="TextBox 7"/>
            <p:cNvSpPr txBox="1"/>
            <p:nvPr/>
          </p:nvSpPr>
          <p:spPr>
            <a:xfrm>
              <a:off x="753237" y="2108200"/>
              <a:ext cx="186371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Excel 用来继续算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7620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Rectangle 9"/>
            <p:cNvSpPr/>
            <p:nvPr/>
          </p:nvSpPr>
          <p:spPr>
            <a:xfrm>
              <a:off x="7620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964692" y="2578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保留全部明细行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64692" y="295910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可在本地做二次统计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7620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9646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适合内部汇总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6277737" y="2108200"/>
              <a:ext cx="190773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PDF 用来报送存档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6286500" y="2438400"/>
              <a:ext cx="381000" cy="190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Rectangle 17"/>
            <p:cNvSpPr/>
            <p:nvPr/>
          </p:nvSpPr>
          <p:spPr>
            <a:xfrm>
              <a:off x="6286500" y="2657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6489192" y="2578100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版式固定不会跑版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6286500" y="3038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6489192" y="2959100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适合盖章与归档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86500" y="3419475"/>
              <a:ext cx="57150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2" name="TextBox 22"/>
            <p:cNvSpPr txBox="1"/>
            <p:nvPr/>
          </p:nvSpPr>
          <p:spPr>
            <a:xfrm>
              <a:off x="6489192" y="3340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适合对外提供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176168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大批量导出会转成后台任务，等提示完成后再点下载。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4536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大屏模式操作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3" name="bigscreen"/>
          <p:cNvGrpSpPr/>
          <p:nvPr/>
        </p:nvGrpSpPr>
        <p:grpSpPr>
          <a:xfrm>
            <a:off x="828675" y="1971675"/>
            <a:ext cx="3569894" cy="3080258"/>
            <a:chOff x="828675" y="1971675"/>
            <a:chExt cx="3569894" cy="308025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进入大屏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工作台右上角进入，自动全屏。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选字号档位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6712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按观看距离选 3m / 6m / 10m。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按需开轮播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01477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15 秒在 KPI 与图表间切换，可暂停。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退出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先退全屏，再回工作台。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05 分析与报表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6652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图表读法与常见误读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misread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口径变了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统计范围调整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同比不可直接比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基数太小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百分比波动大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绝对数可能很小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时间混用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同比与环比混用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92240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结论会相反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3703879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汇报前先问三句：口径一致吗？基数够大吗？时间范围一样吗？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49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571500" y="1016000"/>
            <a:ext cx="2172056" cy="27336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50" b="1" dirty="0">
                <a:solidFill>
                  <a:schemeClr val="accent1">
                    <a:alphaMod val="12000"/>
                  </a:schemeClr>
                </a:solidFill>
                <a:latin typeface="+mn-lt"/>
                <a:ea typeface="+mn-ea"/>
                <a:cs typeface="+mn-cs"/>
              </a:rPr>
              <a:t>06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62000" y="3251200"/>
            <a:ext cx="383438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spc="150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系统管理与备份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794385" y="3898900"/>
            <a:ext cx="2068087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spc="37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ADMIN &amp; BACKUP</a:t>
            </a:r>
          </a:p>
        </p:txBody>
      </p:sp>
      <p:sp>
        <p:nvSpPr>
          <p:cNvPr id="8" name="Rectangle 8"/>
          <p:cNvSpPr/>
          <p:nvPr/>
        </p:nvSpPr>
        <p:spPr>
          <a:xfrm>
            <a:off x="781050" y="4324350"/>
            <a:ext cx="13335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grpSp>
        <p:nvGrpSpPr>
          <p:cNvPr id="20" name="section-items"/>
          <p:cNvGrpSpPr/>
          <p:nvPr/>
        </p:nvGrpSpPr>
        <p:grpSpPr>
          <a:xfrm>
            <a:off x="5334000" y="1635125"/>
            <a:ext cx="5715000" cy="3498850"/>
            <a:chOff x="5334000" y="1635125"/>
            <a:chExt cx="5715000" cy="3498850"/>
          </a:xfrm>
        </p:grpSpPr>
        <p:sp>
          <p:nvSpPr>
            <p:cNvPr id="9" name="Rectangle 9"/>
            <p:cNvSpPr/>
            <p:nvPr/>
          </p:nvSpPr>
          <p:spPr>
            <a:xfrm>
              <a:off x="5334000" y="17145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0" name="TextBox 10"/>
            <p:cNvSpPr txBox="1"/>
            <p:nvPr/>
          </p:nvSpPr>
          <p:spPr>
            <a:xfrm>
              <a:off x="5630418" y="163512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用户管理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5334000" y="24574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5630418" y="23780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组织管理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5334000" y="32004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4" name="TextBox 14"/>
            <p:cNvSpPr txBox="1"/>
            <p:nvPr/>
          </p:nvSpPr>
          <p:spPr>
            <a:xfrm>
              <a:off x="5630418" y="31210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权限包配置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5334000" y="394335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5630418" y="3863975"/>
              <a:ext cx="905256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系统配置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334000" y="4686300"/>
              <a:ext cx="66675" cy="666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5630418" y="4606925"/>
              <a:ext cx="1127379" cy="322707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6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备份与恢复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334000" y="5124450"/>
              <a:ext cx="5715000" cy="9525"/>
            </a:xfrm>
            <a:custGeom>
              <a:avLst/>
              <a:gdLst/>
              <a:ahLst/>
              <a:cxnLst/>
              <a:rect l="l" t="t" r="r" b="b"/>
              <a:pathLst>
                <a:path w="5715000" h="9525">
                  <a:moveTo>
                    <a:pt x="0" y="0"/>
                  </a:moveTo>
                  <a:lnTo>
                    <a:pt x="5715000" y="0"/>
                  </a:lnTo>
                </a:path>
              </a:pathLst>
            </a:custGeom>
            <a:noFill/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</p:grpSp>
      <p:sp>
        <p:nvSpPr>
          <p:cNvPr id="21" name="TextBox 21"/>
          <p:cNvSpPr txBox="1"/>
          <p:nvPr/>
        </p:nvSpPr>
        <p:spPr>
          <a:xfrm>
            <a:off x="757047" y="6286500"/>
            <a:ext cx="1118098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50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用户管理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users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新增用户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填用户名、姓名、初始密码、角色、所属组织。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停用而非删除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64845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离职或调岗时停用账号，保留历史操作记录。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重置密码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管理员重置后，用户首次登录需再改一次。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08233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新建账号必须指定角色和组织，否则登录后看不到任何数据。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51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164592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组织管理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1" name="org"/>
          <p:cNvGrpSpPr/>
          <p:nvPr/>
        </p:nvGrpSpPr>
        <p:grpSpPr>
          <a:xfrm>
            <a:off x="762000" y="1971675"/>
            <a:ext cx="10668000" cy="3190875"/>
            <a:chOff x="762000" y="1971675"/>
            <a:chExt cx="10668000" cy="319087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新增组织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310324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选择上级组织，层级由系统自动计算。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维护层级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调整层级会影响数据可见范围，需谨慎。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删除限制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组织下有用户或项目时不允许直接删除。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535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84885" y="4794250"/>
              <a:ext cx="468543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组织就是数据域的边界：层级建错，下级可能看不到本该看到的数据。</a:t>
              </a:r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52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权限包配置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pack"/>
          <p:cNvGrpSpPr/>
          <p:nvPr/>
        </p:nvGrpSpPr>
        <p:grpSpPr>
          <a:xfrm>
            <a:off x="828675" y="1971675"/>
            <a:ext cx="3840099" cy="2261108"/>
            <a:chOff x="828675" y="1971675"/>
            <a:chExt cx="3840099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新建权限包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勾选这个包允许看到的菜单。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绑定用户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一个用户只能绑定一个权限包。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未绑定时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28498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使用角色默认菜单；公共模块始终可见。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53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0497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系统配置项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config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91080"/>
              <a:ext cx="1638351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备份目录与计划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32283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决定备份存到哪、多久备一次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938462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938462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317309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上传大小限制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3204845"/>
              <a:ext cx="267616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超过限制的文件会被拒绝（413）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819525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819525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4053205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列表条数上限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4084955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影响分页可选的最大每页条数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700588"/>
              <a:ext cx="10668000" cy="747712"/>
            </a:xfrm>
            <a:prstGeom prst="roundRect">
              <a:avLst>
                <a:gd name="adj" fmla="val 5096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700588"/>
              <a:ext cx="38100" cy="747712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93522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生效时机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96697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多数立即生效，少数需重启应用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5647" y="5695950"/>
              <a:ext cx="3835806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配置改的是全组织行为，改前先确认影响范围，改后做一次验证。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54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47294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备份：手动、自动、即时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0" name="backup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手动备份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随时可点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重大操作前必做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自动备份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285875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按计划后台执行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无需人工干预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203575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即时备份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559175"/>
              <a:ext cx="1324966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插入 U 盘一键备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适合带离现场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985647" y="5695950"/>
              <a:ext cx="4007312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建议保留最近 7 天 + 每月一份；备份文件要放到另一块物理磁盘上。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326136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恢复：步骤与风险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5" name="restore"/>
          <p:cNvGrpSpPr/>
          <p:nvPr/>
        </p:nvGrpSpPr>
        <p:grpSpPr>
          <a:xfrm>
            <a:off x="762000" y="1971675"/>
            <a:ext cx="10668000" cy="4010025"/>
            <a:chOff x="762000" y="1971675"/>
            <a:chExt cx="10668000" cy="4010025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选择备份文件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55803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确认备份时间点，别选错日期。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869897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系统自动再备一次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恢复前先备份当前库，留后悔药。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执行恢复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期间禁止他人操作，避免数据写坏。</a:t>
              </a:r>
            </a:p>
          </p:txBody>
        </p:sp>
        <p:sp>
          <p:nvSpPr>
            <p:cNvPr id="19" name="Ellipse 19"/>
            <p:cNvSpPr/>
            <p:nvPr/>
          </p:nvSpPr>
          <p:spPr>
            <a:xfrm>
              <a:off x="828675" y="44291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941349" y="45085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4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1381887" y="4432300"/>
              <a:ext cx="1175258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重启并抽查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383792" y="4787900"/>
              <a:ext cx="346671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重启应用后抽查村、项目、附件是否正常。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5524500"/>
              <a:ext cx="10668000" cy="457200"/>
            </a:xfrm>
            <a:prstGeom prst="roundRect">
              <a:avLst>
                <a:gd name="adj" fmla="val 625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4" name="TextBox 24"/>
            <p:cNvSpPr txBox="1"/>
            <p:nvPr/>
          </p:nvSpPr>
          <p:spPr>
            <a:xfrm>
              <a:off x="984885" y="5613400"/>
              <a:ext cx="424819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恢复会覆盖当前数据，务必确认时间点——这是最不可逆的操作。</a:t>
              </a:r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56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478802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06 系统管理与备份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06908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数据包导入与系统自检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19" name="selfcheck"/>
          <p:cNvGrpSpPr/>
          <p:nvPr/>
        </p:nvGrpSpPr>
        <p:grpSpPr>
          <a:xfrm>
            <a:off x="828675" y="1971675"/>
            <a:ext cx="4385310" cy="2261108"/>
            <a:chOff x="828675" y="1971675"/>
            <a:chExt cx="4385310" cy="2261108"/>
          </a:xfrm>
        </p:grpSpPr>
        <p:sp>
          <p:nvSpPr>
            <p:cNvPr id="7" name="Ellipse 7"/>
            <p:cNvSpPr/>
            <p:nvPr/>
          </p:nvSpPr>
          <p:spPr>
            <a:xfrm>
              <a:off x="828675" y="19716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8" name="TextBox 8"/>
            <p:cNvSpPr txBox="1"/>
            <p:nvPr/>
          </p:nvSpPr>
          <p:spPr>
            <a:xfrm>
              <a:off x="941349" y="20510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81887" y="1974850"/>
              <a:ext cx="2332990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导入数据包或恢复备份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83792" y="2330450"/>
              <a:ext cx="201282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按前面章节的步骤操作。</a:t>
              </a:r>
            </a:p>
          </p:txBody>
        </p:sp>
        <p:sp>
          <p:nvSpPr>
            <p:cNvPr id="11" name="Ellipse 11"/>
            <p:cNvSpPr/>
            <p:nvPr/>
          </p:nvSpPr>
          <p:spPr>
            <a:xfrm>
              <a:off x="828675" y="279082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2" name="TextBox 12"/>
            <p:cNvSpPr txBox="1"/>
            <p:nvPr/>
          </p:nvSpPr>
          <p:spPr>
            <a:xfrm>
              <a:off x="941349" y="287020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2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381887" y="2794000"/>
              <a:ext cx="1406804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运行系统自检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383792" y="3149600"/>
              <a:ext cx="2376297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检查表结构与关键数据条数。</a:t>
              </a:r>
            </a:p>
          </p:txBody>
        </p:sp>
        <p:sp>
          <p:nvSpPr>
            <p:cNvPr id="15" name="Ellipse 15"/>
            <p:cNvSpPr/>
            <p:nvPr/>
          </p:nvSpPr>
          <p:spPr>
            <a:xfrm>
              <a:off x="828675" y="3609975"/>
              <a:ext cx="323850" cy="32385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941349" y="3689350"/>
              <a:ext cx="9850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+mn-lt"/>
                  <a:ea typeface="+mn-ea"/>
                  <a:cs typeface="+mn-cs"/>
                </a:rPr>
                <a:t>3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1381887" y="3613150"/>
              <a:ext cx="943712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rgbClr val="1A2E24"/>
                  </a:solidFill>
                  <a:latin typeface="+mn-lt"/>
                  <a:ea typeface="+mn-ea"/>
                  <a:cs typeface="+mn-cs"/>
                </a:rPr>
                <a:t>抽查验证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83792" y="3968750"/>
              <a:ext cx="3830193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抽三个村、两个项目，确认附件与照片能打开。</a:t>
              </a:r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57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2857500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常见错误与处理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29" name="errors"/>
          <p:cNvGrpSpPr/>
          <p:nvPr/>
        </p:nvGrpSpPr>
        <p:grpSpPr>
          <a:xfrm>
            <a:off x="762000" y="2057400"/>
            <a:ext cx="10668000" cy="4000500"/>
            <a:chOff x="762000" y="2057400"/>
            <a:chExt cx="10668000" cy="4000500"/>
          </a:xfrm>
        </p:grpSpPr>
        <p:sp>
          <p:nvSpPr>
            <p:cNvPr id="7" name="Rectangle 7"/>
            <p:cNvSpPr/>
            <p:nvPr/>
          </p:nvSpPr>
          <p:spPr>
            <a:xfrm>
              <a:off x="762000" y="20574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0574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1019937" y="220345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401 未登录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3803142" y="223520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令牌过期或未登录，重新登录即可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762000" y="27622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2" name="Rectangle 12"/>
            <p:cNvSpPr/>
            <p:nvPr/>
          </p:nvSpPr>
          <p:spPr>
            <a:xfrm>
              <a:off x="762000" y="27622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19937" y="2908300"/>
              <a:ext cx="118625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403 无权限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803142" y="2940050"/>
              <a:ext cx="2739771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角色或权限包不足，找管理员开通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762000" y="34671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6" name="Rectangle 16"/>
            <p:cNvSpPr/>
            <p:nvPr/>
          </p:nvSpPr>
          <p:spPr>
            <a:xfrm>
              <a:off x="762000" y="34671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7" name="TextBox 17"/>
            <p:cNvSpPr txBox="1"/>
            <p:nvPr/>
          </p:nvSpPr>
          <p:spPr>
            <a:xfrm>
              <a:off x="1019937" y="3613150"/>
              <a:ext cx="1880896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422 参数校验失败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3803142" y="3644900"/>
              <a:ext cx="2194560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按提示修改对应字段后重试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762000" y="417195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0" name="Rectangle 20"/>
            <p:cNvSpPr/>
            <p:nvPr/>
          </p:nvSpPr>
          <p:spPr>
            <a:xfrm>
              <a:off x="762000" y="417195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1" name="TextBox 21"/>
            <p:cNvSpPr txBox="1"/>
            <p:nvPr/>
          </p:nvSpPr>
          <p:spPr>
            <a:xfrm>
              <a:off x="1019937" y="4318000"/>
              <a:ext cx="1417803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413 文件过大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803142" y="4349750"/>
              <a:ext cx="1649349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压缩文件或分批上传</a:t>
              </a:r>
            </a:p>
          </p:txBody>
        </p:sp>
        <p:sp>
          <p:nvSpPr>
            <p:cNvPr id="23" name="Rectangle 23"/>
            <p:cNvSpPr/>
            <p:nvPr/>
          </p:nvSpPr>
          <p:spPr>
            <a:xfrm>
              <a:off x="762000" y="4876800"/>
              <a:ext cx="10668000" cy="571500"/>
            </a:xfrm>
            <a:prstGeom prst="roundRect">
              <a:avLst>
                <a:gd name="adj" fmla="val 6667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4" name="Rectangle 24"/>
            <p:cNvSpPr/>
            <p:nvPr/>
          </p:nvSpPr>
          <p:spPr>
            <a:xfrm>
              <a:off x="762000" y="4876800"/>
              <a:ext cx="38100" cy="5715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1019937" y="5022850"/>
              <a:ext cx="164934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500 服务器错误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3803142" y="5054600"/>
              <a:ext cx="292150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记录时间点与操作步骤，联系管理员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8" name="TextBox 28"/>
            <p:cNvSpPr txBox="1"/>
            <p:nvPr/>
          </p:nvSpPr>
          <p:spPr>
            <a:xfrm>
              <a:off x="985647" y="5695950"/>
              <a:ext cx="3571951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报错文案就是线索：先读文案，再动手，不要一上来就重装。</a:t>
              </a:r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58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1905000" cy="571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TextBox 4"/>
          <p:cNvSpPr txBox="1"/>
          <p:nvPr/>
        </p:nvSpPr>
        <p:spPr>
          <a:xfrm>
            <a:off x="756666" y="635000"/>
            <a:ext cx="1135521" cy="20535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050" b="1" spc="225" dirty="0">
                <a:solidFill>
                  <a:schemeClr val="accent2"/>
                </a:solidFill>
                <a:latin typeface="+mn-lt"/>
                <a:ea typeface="+mn-ea"/>
                <a:cs typeface="+mn-cs"/>
              </a:rPr>
              <a:t>07 收尾与自查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46760" y="869950"/>
            <a:ext cx="423668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0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每日 / 每周 / 每月清单</a:t>
            </a:r>
          </a:p>
        </p:txBody>
      </p:sp>
      <p:sp>
        <p:nvSpPr>
          <p:cNvPr id="6" name="Line 6"/>
          <p:cNvSpPr/>
          <p:nvPr/>
        </p:nvSpPr>
        <p:spPr>
          <a:xfrm>
            <a:off x="762000" y="1600200"/>
            <a:ext cx="10668000" cy="9525"/>
          </a:xfrm>
          <a:custGeom>
            <a:avLst/>
            <a:gdLst/>
            <a:ahLst/>
            <a:cxnLst/>
            <a:rect l="l" t="t" r="r" b="b"/>
            <a:pathLst>
              <a:path w="10668000" h="9525">
                <a:moveTo>
                  <a:pt x="0" y="0"/>
                </a:moveTo>
                <a:lnTo>
                  <a:pt x="10668000" y="0"/>
                </a:lnTo>
              </a:path>
            </a:pathLst>
          </a:custGeom>
          <a:noFill/>
          <a:ln w="9525">
            <a:solidFill>
              <a:schemeClr val="accent6"/>
            </a:solidFill>
          </a:ln>
        </p:spPr>
        <p:txBody>
          <a:bodyPr/>
          <a:p/>
        </p:txBody>
      </p:sp>
      <p:grpSp>
        <p:nvGrpSpPr>
          <p:cNvPr id="32" name="routine"/>
          <p:cNvGrpSpPr/>
          <p:nvPr/>
        </p:nvGrpSpPr>
        <p:grpSpPr>
          <a:xfrm>
            <a:off x="762000" y="2562225"/>
            <a:ext cx="10668000" cy="3495675"/>
            <a:chOff x="762000" y="2562225"/>
            <a:chExt cx="10668000" cy="3495675"/>
          </a:xfrm>
        </p:grpSpPr>
        <p:sp>
          <p:nvSpPr>
            <p:cNvPr id="7" name="Rectangle 7"/>
            <p:cNvSpPr/>
            <p:nvPr/>
          </p:nvSpPr>
          <p:spPr>
            <a:xfrm>
              <a:off x="762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8" name="Rectangle 8"/>
            <p:cNvSpPr/>
            <p:nvPr/>
          </p:nvSpPr>
          <p:spPr>
            <a:xfrm>
              <a:off x="762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9" name="TextBox 9"/>
            <p:cNvSpPr txBox="1"/>
            <p:nvPr/>
          </p:nvSpPr>
          <p:spPr>
            <a:xfrm>
              <a:off x="9627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每日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9715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1" name="TextBox 11"/>
            <p:cNvSpPr txBox="1"/>
            <p:nvPr/>
          </p:nvSpPr>
          <p:spPr>
            <a:xfrm>
              <a:off x="1078992" y="355917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录入当天数据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9715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3" name="TextBox 13"/>
            <p:cNvSpPr txBox="1"/>
            <p:nvPr/>
          </p:nvSpPr>
          <p:spPr>
            <a:xfrm>
              <a:off x="10789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处理待办审批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43815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15" name="Rectangle 15"/>
            <p:cNvSpPr/>
            <p:nvPr/>
          </p:nvSpPr>
          <p:spPr>
            <a:xfrm>
              <a:off x="43815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6" name="TextBox 16"/>
            <p:cNvSpPr txBox="1"/>
            <p:nvPr/>
          </p:nvSpPr>
          <p:spPr>
            <a:xfrm>
              <a:off x="4582287" y="3203575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每周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591050" y="363855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18" name="TextBox 18"/>
            <p:cNvSpPr txBox="1"/>
            <p:nvPr/>
          </p:nvSpPr>
          <p:spPr>
            <a:xfrm>
              <a:off x="4698492" y="3559175"/>
              <a:ext cx="1467612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生成并上报数据包</a:t>
              </a:r>
            </a:p>
          </p:txBody>
        </p:sp>
        <p:sp>
          <p:nvSpPr>
            <p:cNvPr id="19" name="Rectangle 19"/>
            <p:cNvSpPr/>
            <p:nvPr/>
          </p:nvSpPr>
          <p:spPr>
            <a:xfrm>
              <a:off x="4591050" y="3962400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0" name="TextBox 20"/>
            <p:cNvSpPr txBox="1"/>
            <p:nvPr/>
          </p:nvSpPr>
          <p:spPr>
            <a:xfrm>
              <a:off x="4698492" y="3883025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检查异常预警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0" y="2562225"/>
              <a:ext cx="3429000" cy="2381250"/>
            </a:xfrm>
            <a:prstGeom prst="roundRect">
              <a:avLst>
                <a:gd name="adj" fmla="val 1600"/>
              </a:avLst>
            </a:prstGeom>
            <a:solidFill>
              <a:schemeClr val="lt2"/>
            </a:solidFill>
            <a:ln w="9525">
              <a:solidFill>
                <a:schemeClr val="accent6"/>
              </a:solidFill>
            </a:ln>
          </p:spPr>
          <p:txBody>
            <a:bodyPr/>
            <a:p/>
          </p:txBody>
        </p:sp>
        <p:sp>
          <p:nvSpPr>
            <p:cNvPr id="22" name="Rectangle 22"/>
            <p:cNvSpPr/>
            <p:nvPr/>
          </p:nvSpPr>
          <p:spPr>
            <a:xfrm>
              <a:off x="8001000" y="2562225"/>
              <a:ext cx="3429000" cy="2857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3" name="TextBox 23"/>
            <p:cNvSpPr txBox="1"/>
            <p:nvPr/>
          </p:nvSpPr>
          <p:spPr>
            <a:xfrm>
              <a:off x="8201787" y="3041650"/>
              <a:ext cx="480619" cy="33737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720" b="1" dirty="0">
                  <a:solidFill>
                    <a:schemeClr val="accent1"/>
                  </a:solidFill>
                  <a:latin typeface="+mn-lt"/>
                  <a:ea typeface="+mn-ea"/>
                  <a:cs typeface="+mn-cs"/>
                </a:rPr>
                <a:t>每月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8210550" y="34766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5" name="TextBox 25"/>
            <p:cNvSpPr txBox="1"/>
            <p:nvPr/>
          </p:nvSpPr>
          <p:spPr>
            <a:xfrm>
              <a:off x="8317992" y="339725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完整备份一次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8210550" y="380047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7" name="TextBox 27"/>
            <p:cNvSpPr txBox="1"/>
            <p:nvPr/>
          </p:nvSpPr>
          <p:spPr>
            <a:xfrm>
              <a:off x="8317992" y="3721100"/>
              <a:ext cx="1104138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核对资金余额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8210550" y="4124325"/>
              <a:ext cx="47625" cy="47625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p/>
          </p:txBody>
        </p:sp>
        <p:sp>
          <p:nvSpPr>
            <p:cNvPr id="29" name="TextBox 29"/>
            <p:cNvSpPr txBox="1"/>
            <p:nvPr/>
          </p:nvSpPr>
          <p:spPr>
            <a:xfrm>
              <a:off x="8317992" y="4044950"/>
              <a:ext cx="740664" cy="26403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35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导出月报</a:t>
              </a:r>
            </a:p>
          </p:txBody>
        </p:sp>
        <p:sp>
          <p:nvSpPr>
            <p:cNvPr id="30" name="Rectangle 30"/>
            <p:cNvSpPr/>
            <p:nvPr/>
          </p:nvSpPr>
          <p:spPr>
            <a:xfrm>
              <a:off x="762000" y="5581650"/>
              <a:ext cx="10668000" cy="476250"/>
            </a:xfrm>
            <a:prstGeom prst="roundRect">
              <a:avLst>
                <a:gd name="adj" fmla="val 6000"/>
              </a:avLst>
            </a:prstGeom>
            <a:solidFill>
              <a:srgbClr val="E8EFEA"/>
            </a:solidFill>
            <a:ln>
              <a:noFill/>
            </a:ln>
          </p:spPr>
          <p:txBody>
            <a:bodyPr/>
            <a:p/>
          </p:txBody>
        </p:sp>
        <p:sp>
          <p:nvSpPr>
            <p:cNvPr id="31" name="TextBox 31"/>
            <p:cNvSpPr txBox="1"/>
            <p:nvPr/>
          </p:nvSpPr>
          <p:spPr>
            <a:xfrm>
              <a:off x="985647" y="5695950"/>
              <a:ext cx="2516530" cy="19164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B43"/>
                  </a:solidFill>
                  <a:latin typeface="+mn-lt"/>
                  <a:ea typeface="+mn-ea"/>
                  <a:cs typeface="+mn-cs"/>
                </a:rPr>
                <a:t>照这三张清单做，工作就不会积压到年底。</a:t>
              </a:r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757047" y="6286500"/>
            <a:ext cx="16128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帮扶管理信息系统 v1.18.25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8A9790"/>
                </a:solidFill>
                <a:latin typeface="+mn-lt"/>
                <a:ea typeface="+mn-ea"/>
                <a:cs typeface="+mn-cs"/>
              </a:rPr>
              <a:t>59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1A2E24"/>
          </a:solidFill>
          <a:ln>
            <a:noFill/>
          </a:ln>
        </p:spPr>
        <p:txBody>
          <a:bodyPr/>
          <a:p/>
        </p:txBody>
      </p:sp>
      <p:sp>
        <p:nvSpPr>
          <p:cNvPr id="3" name="Rectangle 3"/>
          <p:cNvSpPr/>
          <p:nvPr/>
        </p:nvSpPr>
        <p:spPr>
          <a:xfrm>
            <a:off x="0" y="0"/>
            <a:ext cx="2286000" cy="76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4" name="Rectangle 4"/>
          <p:cNvSpPr/>
          <p:nvPr/>
        </p:nvSpPr>
        <p:spPr>
          <a:xfrm>
            <a:off x="762000" y="2381250"/>
            <a:ext cx="1143000" cy="190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742950" y="2660650"/>
            <a:ext cx="4763262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A2E24"/>
                </a:solidFill>
                <a:latin typeface="+mn-lt"/>
                <a:ea typeface="+mn-ea"/>
                <a:cs typeface="+mn-cs"/>
              </a:rPr>
              <a:t>培训结束，随时可查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752094" y="3492500"/>
            <a:ext cx="4219956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3D4B43"/>
                </a:solidFill>
                <a:latin typeface="+mn-lt"/>
                <a:ea typeface="+mn-ea"/>
                <a:cs typeface="+mn-cs"/>
              </a:rPr>
              <a:t>记不住没关系，手册里每一步都有。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762000" y="4152900"/>
            <a:ext cx="9906000" cy="952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755142" y="4464050"/>
            <a:ext cx="468435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dirty="0">
                <a:solidFill>
                  <a:schemeClr val="accent5"/>
                </a:solidFill>
                <a:latin typeface="+mn-lt"/>
                <a:ea typeface="+mn-ea"/>
                <a:cs typeface="+mn-cs"/>
              </a:rPr>
              <a:t>遇到问题先查 02 用户手册；解决不了再联系系统管理员。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756285" y="5003800"/>
            <a:ext cx="6292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帮扶管理信息系统 v1.18.25 · 仓库：github.com/lzh745200/MRRS · 完整文档见 docs/ 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757047" y="6273800"/>
            <a:ext cx="1438707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V1.18.25 | 2026-10-28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279927" y="6273800"/>
            <a:ext cx="15502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zh-CN" sz="980" dirty="0">
                <a:solidFill>
                  <a:srgbClr val="7E9488"/>
                </a:solidFill>
                <a:latin typeface="+mn-lt"/>
                <a:ea typeface="+mn-ea"/>
                <a:cs typeface="+mn-cs"/>
              </a:rPr>
              <a:t>60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mrrs-training-ops">
  <a:themeElements>
    <a:clrScheme name="mrrs-training-ops">
      <a:dk1>
        <a:srgbClr val="1F2A24"/>
      </a:dk1>
      <a:lt1>
        <a:srgbClr val="F7F5EF"/>
      </a:lt1>
      <a:dk2>
        <a:srgbClr val="1F497D"/>
      </a:dk2>
      <a:lt2>
        <a:srgbClr val="FFFFFF"/>
      </a:lt2>
      <a:accent1>
        <a:srgbClr val="1F4A38"/>
      </a:accent1>
      <a:accent2>
        <a:srgbClr val="C9A227"/>
      </a:accent2>
      <a:accent3>
        <a:srgbClr val="2D6A4F"/>
      </a:accent3>
      <a:accent4>
        <a:srgbClr val="1F4A38"/>
      </a:accent4>
      <a:accent5>
        <a:srgbClr val="5F6F66"/>
      </a:accent5>
      <a:accent6>
        <a:srgbClr val="D7E2DB"/>
      </a:accent6>
      <a:hlink>
        <a:srgbClr val="C9A227"/>
      </a:hlink>
      <a:folHlink>
        <a:srgbClr val="2D6A4F"/>
      </a:folHlink>
    </a:clrScheme>
    <a:fontScheme name="mrrs-training-ops">
      <a:maj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Microsoft YaHei"/>
        <a:cs typeface="Arial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mrrs-training-op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60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2026-10-26T07:29:22Z</dcterms:created>
  <dcterms:modified xsi:type="dcterms:W3CDTF">2026-10-26T07:29:22Z</dcterms:modified>
  <cp:category/>
  <cp:contentStatus/>
</cp:coreProperties>
</file>