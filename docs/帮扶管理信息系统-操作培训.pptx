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各位好，今天这堂课我们不讲原理，只讲怎么用。两小时，六十页，从登录一直到数据上报接收，每一个动作我都会演示一遍，大家跟着点一遍。学完你就能独立完成日常工作。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课程分八段。第一段入门，把界面认清楚；第二段建村建档；第三段项目和经费；第四段上报接收；第五段看数据；第六段系统管理和备份；最后一段是收尾自查。建议按顺序听，因为后面的操作会用到前面的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节奏是三段：我演示一遍、大家跟做一遍、然后按清单自己独立走一遍。中间我会故意做错一次，让大家看清报错长什么样——报错不可怕，会看报错才是真会了。卡住随时举手，不要跳步。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开课前请确认三样东西。第一，账号能登录，密码是管理员给的初始密码；第二，机器能装软件，Windows 或麒麟都行；第三，有一份练习数据，村名、项目名、金额随便编，但要真实感。建议再备一个 U 盘，后面练备份和数据包要用。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先讲入门。这一段的目标很简单：能登录、能改密码、能认清界面的四个区域、会用四个通用操作。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登录就三步：账号、密码、点登录。进来之后认四个地方：左边是菜单，按板块折叠；上面是面包屑，告诉你现在在哪一层；中间是工作台，待办和常用入口都在这；右下角是用户菜单，改密码和退出在这里。这四个区域记住了，后面每页我都能一句话告诉你去哪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次登录必须改密码。点右下角用户名，选修改密码，填旧密码、新密码、确认新密码。新密码有长度和复杂度要求，太简单会被拒绝。改完之后当前这个窗口不受影响，但别的设备上的旧登录会失效，这是安全设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有四个动作在所有列表页都一样：搜索、筛选、分页、导出。搜索在顶部，回车就查；筛选可以组合多个条件，一键重置；分页在底部，每页可以选 20 到 200 条；导出在右上角，能出 Excel 也能出 PDF。学会一次，到处能用。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种角色，看到的东西不一样。超级管理员全都能看；管理员看本组织及下级；普通用户只看自己录入的；查看者只能看不能改。这里记住一句话：看不到某个菜单，是权限包没勾；看不到某个村，是数据域限制。都不是系统坏了，找管理员就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用完请退出，不要直接关窗口。退出后令牌立刻失效，别人拿到你的电脑也进不来。三条习惯：不共用账号，因为所有操作都记在账号名下；不在别人电脑上保存密码；重大操作前先备份一次。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第二段是帮扶村和一户一档。这是整套系统的地基——村建不起来，后面的项目、资金、上报都没法做。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径是左边菜单帮扶村管理，右上角新增。必填三项：帮扶村名称、各部门各单位、具体帮扶单位。名称一百字以内，同组织内不能重名。省、市、县、乡镇建议填，后面筛选统计要用。填完保存，列表就能搜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点村名进详情，顶部有年度选择器。一个村一年一份账，切到哪年就维护哪年的数据。八个板块：基本情况、人口变动、收入结构、产业帮扶、基础设施、组织建设、帮扶成效、年度对比。改完保存，系统会自动留字段级历史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村多的时候别一个个建。先下模板，再填数据，然后上传。注意模板第六行是表头，第七行是示例，从第八行才开始填。带星号的列必填，不要改表头，也不要在表头前面插行。一次最多一千条，多了分批。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四种常见错。名称不能为空，是必填列没填；帮扶村已存在，是同组织内重名，改名或者删掉重复行；日期格式错误，统一写成年月日加横线；文件格式不对，只接受 xlsx 和 xls，不要传 csv 或者改后缀。报错会给行号，按行号改最快。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注意一个变化：一户一档现在不单独占菜单了，入口在帮扶村的年度数据页里。路径是帮扶村管理，选中村，切年度，找一户一档。新增的时候先录户主，再录家庭成员，每户必须指定帮扶责任人。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必填三项：姓名、与户主关系、身份证号。身份证号是加密存的，展示时按权限掩码，没权限只看到星号。劳动能力、健康状况、是否在校建议填，影响后面帮扶措施的匹配。成员有变动请新增记录，不要直接删旧的，历史要能追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这一页讲逻辑。帮扶措施写"做了什么"，比如产业、就业、教育、医疗、住房、兜底；收入登记写"结果如何"，分生产经营性、工资性、财产性、转移性四项。系统自动算人均收入。两者对得上，成效才站得住。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个后悔药。改错了，进详情看变更历史，能看到哪个字段从什么改成了什么、谁改的、什么时候改的。删错了，列表筛选已删除，选中恢复就行。但彻底删除只有管理员能做，而且不可恢复——删之前先想一秒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要交材料不用手工做。导出 Excel 是明细，方便你二次统计；导出 PDF 是一村一册，适合报送盖章；打印前先预览分页，注意页边距。对外提供材料记得勾选脱敏，别把身份证号带出去。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第三段是项目和经费。项目管过程，经费管钱，两者靠审批串起来。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必填五项：项目名称、负责单位与负责人、帮扶村、预算金额与资金来源、起止时间。负责人决定数据归属和审批人，预算影响后面的资金预警，起止时间影响甘特图。立项依据的附件建议上传，批复文件、会议纪要都行。保存后状态是待审批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提交后进待审批，审批人能在待办池看到。通过就进执行；驳回必须写原因，退回申请人改完可以重新提交；转审是移交给别的审批人，链条完整记录，不会丢件。每一次状态变化都有日志。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把项目拆成几个节点，进度就看得见了。新增里程碑填名称、计划开始与结束、负责人。甘特图按时间自动铺开，滞后节点会高亮。节点完成后标记完成，顺手传现场照片。建议拆三到五个节点，不要拆太细。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路径是项目详情里的照片墙，支持批量上传。系统按项目和日期自动归类。关键技巧：固定角度、固定位置拍，同一位置多期拍摄才能生成有说服力的对比图。单张有大小限制，超了会提示。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四步：申请验收、上传材料、验收通过、归档。材料要三样：验收报告、现场照片、财务凭证。验收通过状态变成已完成。归档后进历史项目库，只能看不能改，所以归档前把材料补全。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必填：申请事由、金额、资金来源。建议填关联项目和用款计划，方便按项目归集支出。编号是系统自动生成的，ZJ 开头，不用手工编。保存后提交审批，超预算会预警。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四个动作。通过可以附意见；驳回原因必填，空着提交不了，这是硬校验；转审必须选接收人；批量是勾选多条统一处理，系统逐条记录结果，不是一笔带过。待办池在审批中心，工作台的待办也能直接点进来。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两步。拨付登记填拨付日期、金额、凭证号、收款方；使用登记按笔填用途、金额、日期、经办人。系统自动累计已用金额和余额。账要对得上，靠的就是这两步都登记。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流程是提交报销单、审核、核销、归档。报销必须上传发票或收据，没票不能报。核销完成后这笔资金状态变成已核销，闭环结束。缺票缺凭证会被打回，补齐再提交。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上传发票照片，系统会尝试识别金额、日期、号码并回填。这里要强调一句：识别只是帮忙填，金额和日期必须人工核对，识别错一个数字账就错了。识别不可用时会降级成手工录入，不影响继续办事。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三级：用到八成提示，九成警告，十成阻断，不能再支出。异常监控还会列出超支、进度偏差、资金闲置、重复支付、缺凭证五类。建议每周看一眼异常清单，别等年底集中爆。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第四段是数据上报和接收。这是多级单位协作的核心，也是最容易出错的地方。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五项：数据是否全部录入保存、必填是否完整、有没有明显异常值、本期有没有删除或大幅修改、是否已经备份。五项都打勾再上报，能省掉大半返工。这一页建议截图存手机，每次上报前对着看。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三步：选数据范围、选类型（选上报包）、生成并下载。包里自动带组织信息、记录数和校验和。生成后先自己解压看一眼清单，确认记录数对得上再发出去。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四步：上传、校验、预览、确认入库。系统先校验包完整性和校验和，再展示将要导入的记录，确认后才真正写入，不会直接覆盖现有数据。注意：只有管理员能看到接收入口，普通用户没这个菜单。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三类结果。通过的直接入库；已纠正的是系统按规则改了格式，需要你复核一眼；被拒的是必填缺失或类型错误，必须让下级改原始数据重报。看到被拒不要硬导，否则同样的错会一直带上去。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点确认入库，系统写入并记录导入历史。然后到帮扶村、项目、资金对应列表核对。导入历史里能看到本次条数、操作人和时间。建议抽查两三条，比事后发现问题再回滚省事得多。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导出时勾选加密，设置口令。两个要点：口令丢了无法恢复，只能重新导；口令要通过别的渠道告知对方，不要和包放同一个 U 盘里。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上传加密包，输入口令，解密后先预览，确认记录无误再导入。口令错误会明确提示"口令不正确"，不会静默失败，这点可以放心。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四条：用专用 U 盘，不混用私人介质；拷贝前后各杀一次毒；到了对端核对文件大小和校验和；记录交接人、时间、包名。离线环境里，介质摆渡是最容易被忽视的环节，这四条做到就能避免绝大多数事故。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四类原因：包损坏就重新导出；权限不足需要管理员；版本不一致就两端升到同一版本；磁盘空间不足就清理后重试。报错文案会直接指出原因，先读文案再动手，不要一上来就重装。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第五段讲怎么看数据、怎么出材料。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三步：先筛范围，选年度、单位、帮扶村；再点图表元素下钻到明细；用面包屑逐层退回。常用的筛选条件可以保存成视图，下次一键调出。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视角：总量、变化、差距、关联。总量看覆盖村数户数和累计投入；变化看年度趋势；差距看村与村、单位与单位对比；关联看措施和收入的变化是否对得上。看到异常值先核对原始数据，别急着在会上解释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三个维度：结构、进度、异常。结构看各板块占比和来源构成；进度看预算执行率、拨付与使用的差；异常看超支、闲置、缺凭证。单位排名只作横向参考，口径不同要先对齐再比。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分工很清楚：Excel 用来继续算，保留全部明细行，可以本地二次统计；PDF 用来报送存档，版式固定不会跑版，适合盖章。大批量导出会转成后台任务，等提示完成再点下载。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四步：进大屏、选字号档位、按需开轮播、退出。字号按观看距离选，三米、六米、十米。轮播是十五秒在 KPI 和图表之间切换，随时能暂停。退出时先退全屏再回工作台，不会卡在中间状态。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三个陷阱：口径变了还硬比同比；基数太小，百分比波动大但绝对数很小；同比和环比混用，结论会相反。汇报前先问自己三句：口径一致吗？基数够大吗？时间范围一样吗？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第六段是管理员的操作：管人、管组织、管权限、管配置、管备份。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增用户要填用户名、姓名、初始密码、角色、所属组织。这里最容易漏的是组织和角色——不填，人登录进来什么都看不到。离职调岗请停用账号而不是删除，历史操作记录要保留。重置密码后，用户首次登录还得再改一次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新增组织必须选上级，层级由系统自动算。要提醒的是：组织就是数据域的边界，层级建错，下级可能看不到本该看到的数据。组织下面有用户或项目时，系统不允许直接删除，这是保护机制。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一个权限包就是一套菜单。新建时勾选这个包允许看到的菜单，然后绑定到用户。一个用户只能绑一个包；不绑就用角色默认菜单；有几个公共模块对所有角色始终可见，这是产品设计，不是漏洞。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常见的有备份目录、备份计划、上传大小限制、列表条数上限。配置改的是全组织行为，改前先确认影响范围，改后做一次验证。生效时机不一样，多数立即生效，少数要重启应用。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三种：手动随时点，适合重大操作前；自动按计划在后台跑，保底；即时是插 U 盘一键备份到介质，适合带离现场。建议保留最近七天加每月一份，而且备份文件要放到另一块物理磁盘上，别和数据库放同一个盘。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四步：选备份文件、系统自动再备一次当前库、执行恢复、重启并抽查。恢复会覆盖当前数据，是最不可逆的操作，一定要确认时间点。恢复期间禁止他人操作，避免数据写坏。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导入之后一定要自检。检查表结构和关键数据条数，再抽查三个村、两个项目，确认附件和照片能打开。换机、迁移、恢复之后都建议走一遍这个流程。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五个高频：401 是没登录或令牌过期，重新登录；403 是没权限，找管理员；422 是参数校验失败，按提示改字段；413 是文件太大，压缩或分批；500 是服务器错误，记录时间点和操作步骤联系管理员。报错文案就是线索，先读再动手。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三张清单。每天：录入当天数据、处理待办审批。每周：生成并上报数据包、检查异常预警。每月：完整备份一次、核对资金余额、导出月报。照这三张做，工作就不会积压到年底。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课程到这里。记不住没关系，02 用户手册里每一步都有，共十一篇，按模块分册。遇到问题先查手册，手册解决不了再联系系统管理员。谢谢大家。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rrs-training-op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rrs-training-op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7810500" y="1143000"/>
            <a:ext cx="3619500" cy="4191000"/>
          </a:xfrm>
          <a:prstGeom prst="roundRect">
            <a:avLst>
              <a:gd name="adj" fmla="val 1579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Rectangle 6"/>
          <p:cNvSpPr/>
          <p:nvPr/>
        </p:nvSpPr>
        <p:spPr>
          <a:xfrm>
            <a:off x="762000" y="1428750"/>
            <a:ext cx="11430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754380" y="1784350"/>
            <a:ext cx="2262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培训专用 · 上机跟做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950" y="2324100"/>
            <a:ext cx="4793552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spc="75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帮扶管理信息系统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" y="313690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功能使用操作培训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3778250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4B43"/>
                </a:solidFill>
                <a:latin typeface="+mn-lt"/>
                <a:ea typeface="+mn-ea"/>
                <a:cs typeface="+mn-cs"/>
              </a:rPr>
              <a:t>从登录到上报接收，一步一步跟着做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4305300"/>
            <a:ext cx="5334000" cy="9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6285" y="4584700"/>
            <a:ext cx="35244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适用对象：驻村工作队 / 县乡经办人 / 新入职操作员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285" y="4889500"/>
            <a:ext cx="32983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配套手册：docs/02-用户手册（11 篇操作说明）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69224" y="1377950"/>
            <a:ext cx="57147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4535" y="1631950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页课程</a:t>
            </a:r>
          </a:p>
        </p:txBody>
      </p:sp>
      <p:sp>
        <p:nvSpPr>
          <p:cNvPr id="16" name="Line 16"/>
          <p:cNvSpPr/>
          <p:nvPr/>
        </p:nvSpPr>
        <p:spPr>
          <a:xfrm>
            <a:off x="8286750" y="20764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chemeClr val="accent6">
                <a:alpha val="35000"/>
              </a:schemeClr>
            </a:solidFill>
          </a:ln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8269224" y="2254250"/>
            <a:ext cx="30326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14535" y="2508250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个板块</a:t>
            </a:r>
          </a:p>
        </p:txBody>
      </p:sp>
      <p:sp>
        <p:nvSpPr>
          <p:cNvPr id="19" name="Line 19"/>
          <p:cNvSpPr/>
          <p:nvPr/>
        </p:nvSpPr>
        <p:spPr>
          <a:xfrm>
            <a:off x="8286750" y="29527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chemeClr val="accent6">
                <a:alpha val="35000"/>
              </a:schemeClr>
            </a:solidFill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8269224" y="3130550"/>
            <a:ext cx="839693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14535" y="3384550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分钟</a:t>
            </a:r>
          </a:p>
        </p:txBody>
      </p:sp>
      <p:sp>
        <p:nvSpPr>
          <p:cNvPr id="22" name="Line 22"/>
          <p:cNvSpPr/>
          <p:nvPr/>
        </p:nvSpPr>
        <p:spPr>
          <a:xfrm>
            <a:off x="8286750" y="38290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chemeClr val="accent6">
                <a:alpha val="35000"/>
              </a:schemeClr>
            </a:solidFill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8269224" y="4006850"/>
            <a:ext cx="57147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14535" y="4260850"/>
            <a:ext cx="4637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篇手册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7047" y="6273800"/>
            <a:ext cx="380100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V1.18.26 | 2026-10-29 | FastAPI + Vue 3 + Electron + SQLite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44474" y="781050"/>
            <a:ext cx="1892808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课程目录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6285" y="1384300"/>
            <a:ext cx="2236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TRAINING AGENDA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752600"/>
            <a:ext cx="571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35" name="toc-list"/>
          <p:cNvGrpSpPr/>
          <p:nvPr/>
        </p:nvGrpSpPr>
        <p:grpSpPr>
          <a:xfrm>
            <a:off x="752094" y="2044700"/>
            <a:ext cx="10677906" cy="3679825"/>
            <a:chOff x="752094" y="2044700"/>
            <a:chExt cx="10677906" cy="3679825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20447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67637" y="20701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入门与界面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71035" y="21272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登录、改密、界面四区、通用操作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51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752094" y="25781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67637" y="26035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帮扶村与一户一档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71035" y="2660650"/>
              <a:ext cx="2398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建村、年度数据、Excel 导入、建档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048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52094" y="31115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7637" y="31369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项目与经费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1035" y="3194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立项、审批、里程碑、经费全流程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3581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52094" y="36449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7637" y="36703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数据上报与接收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1035" y="37274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打包、校验、入库、加密包、排查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114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752094" y="41783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7637" y="42037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分析与报表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42608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筛选下钻、成效与资金分析、导出、大屏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464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52094" y="47117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7637" y="47371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系统管理与备份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1035" y="479425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用户、组织、权限包、配置、备份恢复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62000" y="5181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752094" y="5245100"/>
              <a:ext cx="3118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7637" y="52705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收尾与自查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71035" y="53276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常见错误、日周月清单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2000" y="5715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36" name="TextBox 3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666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培训说明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这门课怎么上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1" name="howto"/>
          <p:cNvGrpSpPr/>
          <p:nvPr/>
        </p:nvGrpSpPr>
        <p:grpSpPr>
          <a:xfrm>
            <a:off x="762000" y="2800350"/>
            <a:ext cx="10668000" cy="2381250"/>
            <a:chOff x="762000" y="2800350"/>
            <a:chExt cx="1066800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33692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讲授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6798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讲师演示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981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902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每个动作先完整演示一遍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43053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42259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只讲必要步骤，不展开原理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43815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4582287" y="333692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跟做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5335" y="36798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学员同步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81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902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讲师演示完立刻跟做一遍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43053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42259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卡住举手，不跳步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2800350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8001000" y="2800350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201787" y="333692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4835" y="36798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独立完成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10550" y="39814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317992" y="39020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按清单独立走一遍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10550" y="43053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317992" y="42259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故意做错一次，学会看报错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666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培训说明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培训前准备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6" name="prepare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3972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管理员发放的初始账号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721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初始密码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71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1078992" y="40449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所属组织已确认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58228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397250"/>
              <a:ext cx="1810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Windows 或麒麟/统信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3721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能安装软件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910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4698492" y="4044950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屏幕分辨率 1280 以上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20178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210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317992" y="33972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练习用村名与项目名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10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8317992" y="3721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练习用金额数据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10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8317992" y="4044950"/>
              <a:ext cx="1324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建议备一个 U 盘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85647" y="56959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三样齐了就可以开始；缺哪一样，先找培训组织者补齐再动手。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27439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入门与界面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22539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GETTING STARTED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20" name="section-items"/>
          <p:cNvGrpSpPr/>
          <p:nvPr/>
        </p:nvGrpSpPr>
        <p:grpSpPr>
          <a:xfrm>
            <a:off x="5334000" y="1635125"/>
            <a:ext cx="5715000" cy="3498850"/>
            <a:chOff x="5334000" y="1635125"/>
            <a:chExt cx="5715000" cy="349885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登录与界面认识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修改密码与个人设置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界面通用操作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权限与角色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0" y="46863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5630418" y="4606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退出登录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0" y="5124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21" name="TextBox 21"/>
          <p:cNvSpPr txBox="1"/>
          <p:nvPr/>
        </p:nvSpPr>
        <p:spPr>
          <a:xfrm>
            <a:off x="757047" y="6286500"/>
            <a:ext cx="85424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登录与界面认识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7" name="login-ui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登录三步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输入账号（管理员发放）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输入密码（首次为初始密码）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点「登录」进入工作台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7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界面四个区域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2578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左侧菜单：按板块折叠，点板块展开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9591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顶部面包屑：显示你现在在哪一层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3340100"/>
              <a:ext cx="2826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中间工作台：待办、常用入口、KPI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3800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3721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右下角用户菜单：改密与退出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5647" y="5695950"/>
              <a:ext cx="34400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记住这四个区域，后面每一页的操作都能定位到具体位置。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修改密码与个人设置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4" name="password"/>
          <p:cNvGrpSpPr/>
          <p:nvPr/>
        </p:nvGrpSpPr>
        <p:grpSpPr>
          <a:xfrm>
            <a:off x="762000" y="1971675"/>
            <a:ext cx="10668000" cy="3213608"/>
            <a:chOff x="762000" y="1971675"/>
            <a:chExt cx="10668000" cy="32136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打开用户菜单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点右下角头像或用户名，展开菜单。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选择「修改密码」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填写旧密码、新密码、确认新密码三项。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提交并验证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保存成功后当前会话保持，其他设备上的旧登录会失效。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4552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591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454025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新密码需要满足长度与复杂度要求，太简单会被拒绝。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972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92125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个人资料里可以改姓名与联系方式，改完列表与审批记录里同步显示。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界面通用操作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5" name="common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搜索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3972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顶部关键词框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721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回车即查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71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1078992" y="40449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支持名称与编号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7662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347662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677412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3793617" y="3397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下拉条件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86175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3793617" y="3721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可组合多个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86175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3793617" y="4044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重置一键清空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9125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6" name="Rectangle 26"/>
            <p:cNvSpPr/>
            <p:nvPr/>
          </p:nvSpPr>
          <p:spPr>
            <a:xfrm>
              <a:off x="619125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39203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0080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508242" y="33972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底部页码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0080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508242" y="3721100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每页 20/50/100/200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0080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6508242" y="4044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跳转到指定页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0587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5" name="Rectangle 35"/>
            <p:cNvSpPr/>
            <p:nvPr/>
          </p:nvSpPr>
          <p:spPr>
            <a:xfrm>
              <a:off x="890587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106662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15425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9222867" y="33972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右上角导出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15425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9222867" y="3721100"/>
              <a:ext cx="1084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Excel 与 PDF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15425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9222867" y="4044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先筛选再导出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85647" y="56959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这四个动作在所有列表页都一样，学会一次到处能用。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权限与角色：你能做什么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41" name="roles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988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超级管理员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4417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6639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全部菜单与数据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987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组织与用户管理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7662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347662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3677412" y="30988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0460" y="3441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本组织及下级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3793617" y="3663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业务管理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86175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3793617" y="3987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数据包收发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9125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619125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392037" y="30988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普通用户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5085" y="3441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仅本人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0080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508242" y="36639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录入与流转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0080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508242" y="3987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不能接收数据包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0587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2" name="Rectangle 32"/>
            <p:cNvSpPr/>
            <p:nvPr/>
          </p:nvSpPr>
          <p:spPr>
            <a:xfrm>
              <a:off x="890587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9106662" y="30988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09710" y="34417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只读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15425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222867" y="3663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只能查看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15425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9222867" y="3987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写操作被拒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985647" y="5695950"/>
              <a:ext cx="46273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看不到某个菜单＝权限包没勾；看不到某个村＝数据域限制。都不是系统故障。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入门与界面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退出登录与安全习惯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2" name="logout"/>
          <p:cNvGrpSpPr/>
          <p:nvPr/>
        </p:nvGrpSpPr>
        <p:grpSpPr>
          <a:xfrm>
            <a:off x="762000" y="1971675"/>
            <a:ext cx="10668000" cy="2775458"/>
            <a:chOff x="762000" y="1971675"/>
            <a:chExt cx="10668000" cy="277545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打开用户菜单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点右下角用户名。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点「退出登录」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退出后令牌立即失效，需要重新登录。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733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7719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964692" y="37211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不要共用账号：所有操作都会记在账号名下。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1529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64692" y="41021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不要在他人电脑上保存密码。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5339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44831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重要操作前先做一次备份。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437959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帮扶村与一户一档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31588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VILLAGES &amp; HOUSEHOLDS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20" name="section-items"/>
          <p:cNvGrpSpPr/>
          <p:nvPr/>
        </p:nvGrpSpPr>
        <p:grpSpPr>
          <a:xfrm>
            <a:off x="5334000" y="1635125"/>
            <a:ext cx="5715000" cy="3498850"/>
            <a:chOff x="5334000" y="1635125"/>
            <a:chExt cx="5715000" cy="349885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建第一个村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年度数据维护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1534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Excel 批量导入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一户一档建档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0" y="46863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5630418" y="46069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恢复与导出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0" y="5124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21" name="TextBox 21"/>
          <p:cNvSpPr txBox="1"/>
          <p:nvPr/>
        </p:nvSpPr>
        <p:spPr>
          <a:xfrm>
            <a:off x="757047" y="6286500"/>
            <a:ext cx="125002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建第一个村：字段逐项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fields"/>
          <p:cNvGrpSpPr/>
          <p:nvPr/>
        </p:nvGrpSpPr>
        <p:grpSpPr>
          <a:xfrm>
            <a:off x="762000" y="1962150"/>
            <a:ext cx="10668000" cy="3333750"/>
            <a:chOff x="762000" y="1962150"/>
            <a:chExt cx="10668000" cy="3333750"/>
          </a:xfrm>
        </p:grpSpPr>
        <p:sp>
          <p:nvSpPr>
            <p:cNvPr id="7" name="Rectangle 7"/>
            <p:cNvSpPr/>
            <p:nvPr/>
          </p:nvSpPr>
          <p:spPr>
            <a:xfrm>
              <a:off x="762000" y="1962150"/>
              <a:ext cx="10668000" cy="438150"/>
            </a:xfrm>
            <a:prstGeom prst="rect">
              <a:avLst/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848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785" y="21082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是否必填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2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4003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83742" y="25304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帮扶村名称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3785" y="25558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285" y="2555875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100 字以内，同组织内不能重名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9686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各部门各单位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3785" y="29940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8285" y="2994025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帮扶的部门或单位名称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2766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83742" y="34067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具体帮扶单位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3785" y="3432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8285" y="343217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实际派驻或结对单位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3844925"/>
              <a:ext cx="1580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省 / 市 / 县 / 乡镇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3785" y="38703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8285" y="387032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用于地区筛选与统计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1529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3742" y="4283075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地区范围 / 三区三州等标签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3785" y="43084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8285" y="4308475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影响后续分类统计口径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5910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0" name="Rectangle 30"/>
            <p:cNvSpPr/>
            <p:nvPr/>
          </p:nvSpPr>
          <p:spPr>
            <a:xfrm>
              <a:off x="762000" y="48387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4885" y="4927600"/>
              <a:ext cx="6147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路径：左侧菜单「帮扶村管理」→ 右上角「新增」→ 填完保存。三项必填齐了就能先建起来。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编辑与年度数据维护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3" name="annual"/>
          <p:cNvGrpSpPr/>
          <p:nvPr/>
        </p:nvGrpSpPr>
        <p:grpSpPr>
          <a:xfrm>
            <a:off x="828675" y="1971675"/>
            <a:ext cx="7838313" cy="3080258"/>
            <a:chOff x="828675" y="1971675"/>
            <a:chExt cx="7838313" cy="308025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进入村详情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在列表点村名，进入该村档案。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切换年度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顶部年度选择器，切到要维护的年份。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维护八个板块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基本情况、人口变动、收入结构、产业帮扶、基础设施、组织建设、帮扶成效、年度对比。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保存并核对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保存后回到详情，确认数据已更新；改动会留字段级历史。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5829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Excel 批量导入帮扶村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6" name="import"/>
          <p:cNvGrpSpPr/>
          <p:nvPr/>
        </p:nvGrpSpPr>
        <p:grpSpPr>
          <a:xfrm>
            <a:off x="762000" y="2209800"/>
            <a:ext cx="9641764" cy="1870583"/>
            <a:chOff x="762000" y="2209800"/>
            <a:chExt cx="9641764" cy="1870583"/>
          </a:xfrm>
        </p:grpSpPr>
        <p:sp>
          <p:nvSpPr>
            <p:cNvPr id="7" name="Line 7"/>
            <p:cNvSpPr/>
            <p:nvPr/>
          </p:nvSpPr>
          <p:spPr>
            <a:xfrm>
              <a:off x="2095500" y="24003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220980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2320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88236" y="26987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下载模板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72000" y="220980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4675536" y="2320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5236" y="26987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填写数据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0" y="220980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342536" y="2320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22236" y="26987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上传文件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0" y="220980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09536" y="2320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9236" y="26987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查看结果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1337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3054350"/>
              <a:ext cx="4820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模板第 6 行是表头，第 7 行是示例，第 8 行起才开始填写。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35147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3435350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带 * 的列是必填，不要修改表头文字，也不要在表头前插行。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389572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3816350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单次最多导入 1000 条，超过请分批。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导入报错怎么处理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import-err"/>
          <p:cNvGrpSpPr/>
          <p:nvPr/>
        </p:nvGrpSpPr>
        <p:grpSpPr>
          <a:xfrm>
            <a:off x="762000" y="2057400"/>
            <a:ext cx="10668000" cy="4000500"/>
            <a:chOff x="762000" y="2057400"/>
            <a:chExt cx="106680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9108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帮扶村名称不能为空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32283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必填列没填，补上后重传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38462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938462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17309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帮扶村已存在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20484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同组织内重名，改名或删掉重复行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19525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819525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05320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日期格式错误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084955"/>
              <a:ext cx="1931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统一写成 YYYY-MM-DD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0588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700588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93522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文件格式不对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966970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只接受 .xlsx / .xls，不要传 csv 或改后缀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25165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导入结果会给出具体行号，按行号改最快。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一户一档：入口与建档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household"/>
          <p:cNvGrpSpPr/>
          <p:nvPr/>
        </p:nvGrpSpPr>
        <p:grpSpPr>
          <a:xfrm>
            <a:off x="762000" y="1971675"/>
            <a:ext cx="10668000" cy="4010025"/>
            <a:chOff x="762000" y="1971675"/>
            <a:chExt cx="10668000" cy="401002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进入帮扶村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左侧菜单「帮扶村管理」，选中目标村。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打开年度数据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切到对应年度，找到「一户一档」入口。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新增一户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先录户主信息，再录家庭成员。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指定帮扶责任人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每户必须有明确的责任人。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245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4885" y="5613400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注意：一户一档入口已并入帮扶村的年度数据页，不再单独占一个菜单。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家庭成员录入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fields"/>
          <p:cNvGrpSpPr/>
          <p:nvPr/>
        </p:nvGrpSpPr>
        <p:grpSpPr>
          <a:xfrm>
            <a:off x="762000" y="1962150"/>
            <a:ext cx="10668000" cy="3333750"/>
            <a:chOff x="762000" y="1962150"/>
            <a:chExt cx="10668000" cy="3333750"/>
          </a:xfrm>
        </p:grpSpPr>
        <p:sp>
          <p:nvSpPr>
            <p:cNvPr id="7" name="Rectangle 7"/>
            <p:cNvSpPr/>
            <p:nvPr/>
          </p:nvSpPr>
          <p:spPr>
            <a:xfrm>
              <a:off x="762000" y="1962150"/>
              <a:ext cx="10668000" cy="438150"/>
            </a:xfrm>
            <a:prstGeom prst="rect">
              <a:avLst/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848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785" y="21082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是否必填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2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4003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83742" y="2530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姓名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3785" y="25558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285" y="255587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与身份证一致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9686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与户主关系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3785" y="29940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8285" y="2994025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本人/配偶/子女/父母等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2766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83742" y="34067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身份证号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3785" y="3432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8285" y="3432175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加密存储，展示时按权限掩码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3844925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劳动能力 / 健康状况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3785" y="38703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8285" y="3870325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影响帮扶措施匹配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1529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3742" y="4283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是否在校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3785" y="43084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8285" y="4308475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教育帮扶统计口径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5910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0" name="Rectangle 30"/>
            <p:cNvSpPr/>
            <p:nvPr/>
          </p:nvSpPr>
          <p:spPr>
            <a:xfrm>
              <a:off x="762000" y="48387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4885" y="4927600"/>
              <a:ext cx="4097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成员变动请新增记录，不要直接删掉旧成员——历史要能追溯。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帮扶措施与收入登记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measures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帮扶措施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产业、就业、教育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医疗、住房、兜底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0416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收入登记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3972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生产经营性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7211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工资性 / 财产性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40449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转移性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201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成效核对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5591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系统自动算人均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317992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与措施逐项对应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5647" y="5695950"/>
              <a:ext cx="41260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措施写"做了什么"，收入写"结果如何"，两者对得上，成效才站得住。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变更历史与回收站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history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改错了看历史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详情页 → 变更历史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看字段级旧值与新值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看操作人与时间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737" y="21082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删错了进回收站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2578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列表筛选「已删除」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9591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选中后点「恢复」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33401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彻底删除仅管理员可做，且不可恢复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9941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建议：删之前先想一秒——回收站能救你一次，但救不了"彻底删除"。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6504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帮扶村与一户一档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村档案导出与打印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export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11690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 Excel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保留明细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便于二次统计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9815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导出 PDF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一村一册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适合报送盖章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559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先预览分页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8830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注意页边距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5647" y="5695950"/>
              <a:ext cx="38358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对外提供材料时，记得勾选脱敏，避免身份证号等敏感信息外泄。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27439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项目与经费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240477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PROJECTS &amp; FUNDS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18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项目立项与审批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里程碑与验收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经费申请与拨付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报销核销与预警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19" name="TextBox 19"/>
          <p:cNvSpPr txBox="1"/>
          <p:nvPr/>
        </p:nvSpPr>
        <p:spPr>
          <a:xfrm>
            <a:off x="757047" y="6286500"/>
            <a:ext cx="85424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项目立项：字段逐项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5" name="fields"/>
          <p:cNvGrpSpPr/>
          <p:nvPr/>
        </p:nvGrpSpPr>
        <p:grpSpPr>
          <a:xfrm>
            <a:off x="762000" y="1962150"/>
            <a:ext cx="10668000" cy="3771900"/>
            <a:chOff x="762000" y="1962150"/>
            <a:chExt cx="10668000" cy="3771900"/>
          </a:xfrm>
        </p:grpSpPr>
        <p:sp>
          <p:nvSpPr>
            <p:cNvPr id="7" name="Rectangle 7"/>
            <p:cNvSpPr/>
            <p:nvPr/>
          </p:nvSpPr>
          <p:spPr>
            <a:xfrm>
              <a:off x="762000" y="1962150"/>
              <a:ext cx="10668000" cy="438150"/>
            </a:xfrm>
            <a:prstGeom prst="rect">
              <a:avLst/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848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785" y="21082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是否必填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2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4003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83742" y="25304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项目名称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3785" y="25558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285" y="2555875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简明写清做什么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968625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负责单位 / 负责人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3785" y="29940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8285" y="2994025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决定数据归属与审批人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2766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83742" y="34067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帮扶村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3785" y="3432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8285" y="343217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关联到具体村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3844925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预算金额 / 资金来源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3785" y="38703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8285" y="38703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影响资金预警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1529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3742" y="4283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起止时间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3785" y="43084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8285" y="4308475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影响甘特图与进度判断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3742" y="47212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立项依据（附件）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3785" y="47466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8285" y="4746625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批复文件、会议纪要等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62000" y="5029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3" name="Rectangle 33"/>
            <p:cNvSpPr/>
            <p:nvPr/>
          </p:nvSpPr>
          <p:spPr>
            <a:xfrm>
              <a:off x="762000" y="52768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84885" y="53657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保存后状态为「待审批」，进入审批人待办池。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项目审批流转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1" name="approval"/>
          <p:cNvGrpSpPr/>
          <p:nvPr/>
        </p:nvGrpSpPr>
        <p:grpSpPr>
          <a:xfrm>
            <a:off x="762000" y="2914650"/>
            <a:ext cx="9791700" cy="2251583"/>
            <a:chOff x="762000" y="2914650"/>
            <a:chExt cx="9791700" cy="2251583"/>
          </a:xfrm>
        </p:grpSpPr>
        <p:sp>
          <p:nvSpPr>
            <p:cNvPr id="7" name="Line 7"/>
            <p:cNvSpPr/>
            <p:nvPr/>
          </p:nvSpPr>
          <p:spPr>
            <a:xfrm>
              <a:off x="1828800" y="3105150"/>
              <a:ext cx="8534400" cy="9525"/>
            </a:xfrm>
            <a:custGeom>
              <a:avLst/>
              <a:gdLst/>
              <a:ahLst/>
              <a:cxnLst/>
              <a:rect l="l" t="t" r="r" b="b"/>
              <a:pathLst>
                <a:path w="8534400" h="9525">
                  <a:moveTo>
                    <a:pt x="0" y="0"/>
                  </a:moveTo>
                  <a:lnTo>
                    <a:pt x="853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638300" y="29146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741836" y="3025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2311" y="34036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771900" y="29146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3875436" y="3025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30523" y="34036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待审批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905500" y="29146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6009036" y="3025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64123" y="34036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审批中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39100" y="29146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142636" y="3025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31306" y="3403600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通过 / 驳回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172700" y="29146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276236" y="3025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6711" y="34036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8385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64692" y="37592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通过：进入执行，可附审批意见。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2195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64692" y="414020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驳回：原因必填，退回申请人修改后可重新提交。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6005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64692" y="45212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转审：移交给其他审批人，链条完整记录，不丢件。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9815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64692" y="49022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每次状态变化都写日志，事后可查谁批的、什么时候批的。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里程碑与甘特图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4" name="milestone"/>
          <p:cNvGrpSpPr/>
          <p:nvPr/>
        </p:nvGrpSpPr>
        <p:grpSpPr>
          <a:xfrm>
            <a:off x="762000" y="1971675"/>
            <a:ext cx="10668000" cy="3213608"/>
            <a:chOff x="762000" y="1971675"/>
            <a:chExt cx="10668000" cy="32136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新增里程碑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填名称、计划开始与结束、负责人。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查看甘特图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系统按时间自动铺开，滞后节点会高亮。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标记完成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节点完成后标记，并上传现场照片。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4552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591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4540250"/>
              <a:ext cx="4638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建议按"启动—实施—验收"拆 3–5 个节点，不要拆得过细。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9720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92125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节点时间要留缓冲，避免一个节点延误拖垮整条链。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进度照片上传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photos"/>
          <p:cNvGrpSpPr/>
          <p:nvPr/>
        </p:nvGrpSpPr>
        <p:grpSpPr>
          <a:xfrm>
            <a:off x="762000" y="1971675"/>
            <a:ext cx="10668000" cy="4010025"/>
            <a:chOff x="762000" y="1971675"/>
            <a:chExt cx="10668000" cy="401002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进入照片墙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项目详情 → 照片墙。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批量上传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一次可选多张，单张大小有上限。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按项目与时间归类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系统自动归入当前项目与当前日期。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生成对比图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同一位置多期拍摄可生成前后对比。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245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4885" y="5613400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关键：固定角度、固定位置拍摄，对比图才有说服力。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项目验收与归档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6" name="accept"/>
          <p:cNvGrpSpPr/>
          <p:nvPr/>
        </p:nvGrpSpPr>
        <p:grpSpPr>
          <a:xfrm>
            <a:off x="762000" y="3105150"/>
            <a:ext cx="9525000" cy="1870583"/>
            <a:chOff x="762000" y="3105150"/>
            <a:chExt cx="9525000" cy="1870583"/>
          </a:xfrm>
        </p:grpSpPr>
        <p:sp>
          <p:nvSpPr>
            <p:cNvPr id="7" name="Line 7"/>
            <p:cNvSpPr/>
            <p:nvPr/>
          </p:nvSpPr>
          <p:spPr>
            <a:xfrm>
              <a:off x="2095500" y="329565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88236" y="3594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申请验收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72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4675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5236" y="3594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上传材料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342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22236" y="35941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验收通过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09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0011" y="3594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归档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029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39497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验收材料：验收报告、现场照片、财务凭证。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410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3307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验收通过后项目状态变为「已完成」。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791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7117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归档后进入历史项目库，只能查看，不能随意修改。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经费申请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fields"/>
          <p:cNvGrpSpPr/>
          <p:nvPr/>
        </p:nvGrpSpPr>
        <p:grpSpPr>
          <a:xfrm>
            <a:off x="762000" y="1962150"/>
            <a:ext cx="10668000" cy="3333750"/>
            <a:chOff x="762000" y="1962150"/>
            <a:chExt cx="10668000" cy="3333750"/>
          </a:xfrm>
        </p:grpSpPr>
        <p:sp>
          <p:nvSpPr>
            <p:cNvPr id="7" name="Rectangle 7"/>
            <p:cNvSpPr/>
            <p:nvPr/>
          </p:nvSpPr>
          <p:spPr>
            <a:xfrm>
              <a:off x="762000" y="1962150"/>
              <a:ext cx="10668000" cy="438150"/>
            </a:xfrm>
            <a:prstGeom prst="rect">
              <a:avLst/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848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785" y="21082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是否必填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285" y="2108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4003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83742" y="25304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申请事由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3785" y="25558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285" y="2555875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一句话说清用途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968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金额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3785" y="29940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8285" y="2994025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与预算对照，超预算会预警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2766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983742" y="34067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资金来源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3785" y="3432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必填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8285" y="3432175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财政、捐赠、单位自筹等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3844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关联项目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3785" y="387032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8285" y="387032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便于按项目归集支出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152900"/>
              <a:ext cx="10668000" cy="4381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83742" y="4283075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用款计划 / 附件依据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3785" y="43084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8285" y="4308475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分批用款请写清节点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5910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30" name="Rectangle 30"/>
            <p:cNvSpPr/>
            <p:nvPr/>
          </p:nvSpPr>
          <p:spPr>
            <a:xfrm>
              <a:off x="762000" y="48387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4885" y="4927600"/>
              <a:ext cx="4003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编号自动生成（ZJ 开头），不用手工编。保存后提交审批。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5684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审批：通过、驳回、转审、批量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actions"/>
          <p:cNvGrpSpPr/>
          <p:nvPr/>
        </p:nvGrpSpPr>
        <p:grpSpPr>
          <a:xfrm>
            <a:off x="762000" y="2057400"/>
            <a:ext cx="10668000" cy="4000500"/>
            <a:chOff x="762000" y="2057400"/>
            <a:chExt cx="106680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9108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32283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可附审批意见，流转到下一环节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38462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938462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17309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驳回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20484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原因必填，退回申请人；空原因提交不了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19525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819525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05320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转审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08495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必须选接收人，链条完整记录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0588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700588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93522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批量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96697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勾选多条统一处理，系统逐条记录结果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4400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待办池在「审批中心」，也可以从工作台待办直接点进去。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拨付与使用登记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9" name="disburse"/>
          <p:cNvGrpSpPr/>
          <p:nvPr/>
        </p:nvGrpSpPr>
        <p:grpSpPr>
          <a:xfrm>
            <a:off x="828675" y="1971675"/>
            <a:ext cx="4203573" cy="2261108"/>
            <a:chOff x="828675" y="1971675"/>
            <a:chExt cx="4203573" cy="22611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拨付登记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填拨付日期、金额、凭证号、收款方。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使用登记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按笔登记用途、金额、日期、经办人。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核对余额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系统自动累计已用金额与余额，异常会提示。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报销与核销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6" name="reimburse"/>
          <p:cNvGrpSpPr/>
          <p:nvPr/>
        </p:nvGrpSpPr>
        <p:grpSpPr>
          <a:xfrm>
            <a:off x="762000" y="3105150"/>
            <a:ext cx="9525000" cy="1870583"/>
            <a:chOff x="762000" y="3105150"/>
            <a:chExt cx="9525000" cy="1870583"/>
          </a:xfrm>
        </p:grpSpPr>
        <p:sp>
          <p:nvSpPr>
            <p:cNvPr id="7" name="Line 7"/>
            <p:cNvSpPr/>
            <p:nvPr/>
          </p:nvSpPr>
          <p:spPr>
            <a:xfrm>
              <a:off x="2095500" y="329565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905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2008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12849" y="35941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提交报销单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72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4675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6011" y="3594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342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73011" y="3594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核销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906000" y="3105150"/>
              <a:ext cx="381000" cy="381000"/>
            </a:xfrm>
            <a:prstGeom prst="ellipse">
              <a:avLst/>
            </a:prstGeom>
            <a:solidFill>
              <a:srgbClr val="1A2E24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09536" y="32162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40011" y="3594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归档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029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64692" y="39497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报销必须上传发票或收据，无票不能报。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4410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64692" y="433070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核销完成后，这笔资金状态变为「已核销」，闭环结束。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7910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64692" y="47117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缺票或缺凭证会被打回，补齐后重新提交。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凭证上传与识别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ocr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上传发票照片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拍照或扫描件均可，保证清晰、四角完整。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系统尝试识别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识别金额、日期、号码并回填到表单。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人工核对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务必核对识别结果，识别错一个数字，账就错了。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识别不可用时（如离线模型缺失）会降级为手工录入，不影响继续办事。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项目与经费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预算预警与异常监控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3" name="warning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98800"/>
              <a:ext cx="4673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4417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663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预算已用八成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9878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提醒后续支出节奏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4582287" y="3098800"/>
              <a:ext cx="4673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5335" y="34417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警告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663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剩余空间有限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3987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新增支出需说明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201787" y="3098800"/>
              <a:ext cx="60102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4835" y="34417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阻断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105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317992" y="3663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禁止继续支出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105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317992" y="39878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需追加预算或调整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85647" y="5695950"/>
              <a:ext cx="4904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异常监控还会列出：超支、进度偏差、资金闲置、重复支付、缺凭证——每周看一眼。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383438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数据上报与接收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30964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REPORTING &amp; RECEIVING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18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上报前检查清单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生成上报包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接收校验与入库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加密包与排查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19" name="TextBox 19"/>
          <p:cNvSpPr txBox="1"/>
          <p:nvPr/>
        </p:nvSpPr>
        <p:spPr>
          <a:xfrm>
            <a:off x="757047" y="6286500"/>
            <a:ext cx="111809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上报前检查清单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9" name="checklist"/>
          <p:cNvGrpSpPr/>
          <p:nvPr/>
        </p:nvGrpSpPr>
        <p:grpSpPr>
          <a:xfrm>
            <a:off x="762000" y="1949450"/>
            <a:ext cx="10668000" cy="3194050"/>
            <a:chOff x="762000" y="1949450"/>
            <a:chExt cx="10668000" cy="3194050"/>
          </a:xfrm>
        </p:grpSpPr>
        <p:sp>
          <p:nvSpPr>
            <p:cNvPr id="7" name="Rectangle 7"/>
            <p:cNvSpPr/>
            <p:nvPr/>
          </p:nvSpPr>
          <p:spPr>
            <a:xfrm>
              <a:off x="762000" y="19621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1155192" y="1949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本期数据是否已全部录入并保存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574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1155192" y="24447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必填字段是否完整（村名、单位、金额等）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527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155192" y="2940050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是否有明显异常值（金额为 0、日期超范围）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480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155192" y="34353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本期是否有删除或大幅修改，是否已说明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943350"/>
              <a:ext cx="209550" cy="20955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155192" y="39306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是否已做一次备份（出错可回退）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6863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984885" y="47752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五项都打勾再上报，能省掉大半返工。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生成上报包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pkg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选择数据范围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按年度、按组织选择要上报的数据。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选择类型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类型选「上报包」（report）。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生成并下载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生成 zip 后下载，包内含组织、记录数与校验和。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包生成后先自己解压看一眼清单，确认记录数对得上再发出去。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上级接收：校验与预览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receive"/>
          <p:cNvGrpSpPr/>
          <p:nvPr/>
        </p:nvGrpSpPr>
        <p:grpSpPr>
          <a:xfrm>
            <a:off x="762000" y="1971675"/>
            <a:ext cx="10668000" cy="4010025"/>
            <a:chOff x="762000" y="1971675"/>
            <a:chExt cx="10668000" cy="401002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上传上报包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976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数据包管理 → 接收 → 选择 zip 文件。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系统校验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校验包完整性、校验和与来源组织。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预览数据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展示将要导入的记录，先看清楚再确认。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确认入库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确认后才真正写入，不会直接覆盖现有数据。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245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4885" y="5613400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注意：只有管理员能看到接收入口，普通用户没有这个菜单。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字段级校验结果处理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3" name="validate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0988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835" y="34417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直接入库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715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1078992" y="3663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字段完整合规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715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1078992" y="3987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无需人工干预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4582287" y="309880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已纠正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85335" y="3441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需复核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6639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系统按规则修正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910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4698492" y="3987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如格式、去空格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201787" y="30988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被拒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4835" y="34417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需回退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10550" y="3743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317992" y="36639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必填缺失或类型错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210550" y="40671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317992" y="3987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让下级改后重报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85647" y="56959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看到「被拒」不要硬导，先让下级改原始数据，否则同样的错会一直带上去。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确认入库与查看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confirm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点确认入库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系统写入并记录本次导入历史。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到业务列表核对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到帮扶村、项目、资金对应列表查看。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查导入历史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可看本次导入条数、操作人与时间。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导入后抽查两三条数据，比事后发现问题再回滚省事得多。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加密数据包导出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9" name="enc-export"/>
          <p:cNvGrpSpPr/>
          <p:nvPr/>
        </p:nvGrpSpPr>
        <p:grpSpPr>
          <a:xfrm>
            <a:off x="828675" y="1971675"/>
            <a:ext cx="3294888" cy="2261108"/>
            <a:chOff x="828675" y="1971675"/>
            <a:chExt cx="3294888" cy="22611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选择加密导出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导出时勾选加密，设置口令。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牢记口令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口令丢失无法恢复，需重新导出。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通过其他渠道告知口令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415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不要和包放在同一个 U 盘里。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加密数据包导入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enc-import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上传加密包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数据包管理 → 导入加密包。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输入口令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口令正确才能解密预览。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预览后导入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确认记录无误再导入。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口令错误会明确提示「口令不正确」，不会静默失败。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介质摆渡注意事项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7" name="media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专用介质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1143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不用私人 U 盘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专盘专用并登记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7662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347662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3677412" y="3203575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先杀毒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686175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793617" y="35591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拷贝前后各扫一次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3793617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避免带毒进内网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619125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392037" y="3203575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核对校验和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508242" y="3559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对比文件大小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0080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508242" y="3883025"/>
              <a:ext cx="1431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必要时算 SHA256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0587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890587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106662" y="3203575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留交接记录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15425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222867" y="35591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记录人、时间、包名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15425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222867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谁给的、谁收的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85647" y="56959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介质摆渡是离线环境最容易被忽视的环节，四条做到就能避免绝大多数事故。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数据上报与接收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上报失败排查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trouble"/>
          <p:cNvGrpSpPr/>
          <p:nvPr/>
        </p:nvGrpSpPr>
        <p:grpSpPr>
          <a:xfrm>
            <a:off x="762000" y="2057400"/>
            <a:ext cx="10668000" cy="4000500"/>
            <a:chOff x="762000" y="2057400"/>
            <a:chExt cx="106680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9108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包损坏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32283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重新导出一次；传输过程可能中断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38462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938462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17309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权限不足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2048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需要管理员角色才能接收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19525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819525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053205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版本不一致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0849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两端升级到同一版本再上报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0588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700588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93522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磁盘空间不足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96697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清理备份或临时文件后重试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5719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报错文案会直接指出原因，先读文案再动手，不要盲目重装。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27439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分析与报表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2821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ANALYTICS &amp; REPORTS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18" name="section-items"/>
          <p:cNvGrpSpPr/>
          <p:nvPr/>
        </p:nvGrpSpPr>
        <p:grpSpPr>
          <a:xfrm>
            <a:off x="5334000" y="1635125"/>
            <a:ext cx="5715000" cy="2755900"/>
            <a:chOff x="5334000" y="1635125"/>
            <a:chExt cx="5715000" cy="275590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筛选与下钻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成效分析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资金分析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报表导出与大屏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334000" y="4381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19" name="TextBox 19"/>
          <p:cNvSpPr txBox="1"/>
          <p:nvPr/>
        </p:nvSpPr>
        <p:spPr>
          <a:xfrm>
            <a:off x="757047" y="6286500"/>
            <a:ext cx="85424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筛选与下钻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filter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先筛范围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顶部选年度、单位、帮扶村。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再点图表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点击图表元素下钻到明细。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用面包屑回退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面包屑可以逐层退回。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筛选条件可以保存为常用视图，下次一键调出。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成效分析怎么看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7" name="effect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覆盖村数、户数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累计投入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7662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347662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3677412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686175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793617" y="3559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年度趋势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3793617" y="38830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同比与环比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6191250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39203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0080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508242" y="3559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村与村对比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0080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50824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单位之间对比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05875" y="2562225"/>
              <a:ext cx="2524125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9" name="Rectangle 29"/>
            <p:cNvSpPr/>
            <p:nvPr/>
          </p:nvSpPr>
          <p:spPr>
            <a:xfrm>
              <a:off x="8905875" y="2562225"/>
              <a:ext cx="2524125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9106662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15425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9222867" y="35591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措施与收入变化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15425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222867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投入与成效对应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985647" y="5695950"/>
              <a:ext cx="29123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看到异常值先核对原始数据，别急着在会上解释。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资金分析怎么看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fund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各板块占比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来源构成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预算执行率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拨付与使用差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55917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超支 / 闲置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8830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缺凭证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5647" y="569595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单位排名只作横向参考，口径不同时先对齐口径再比较。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878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报表导出 Excel / PDF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export2"/>
          <p:cNvGrpSpPr/>
          <p:nvPr/>
        </p:nvGrpSpPr>
        <p:grpSpPr>
          <a:xfrm>
            <a:off x="753237" y="2108200"/>
            <a:ext cx="10676763" cy="3949700"/>
            <a:chOff x="753237" y="2108200"/>
            <a:chExt cx="10676763" cy="3949700"/>
          </a:xfrm>
        </p:grpSpPr>
        <p:sp>
          <p:nvSpPr>
            <p:cNvPr id="7" name="TextBox 7"/>
            <p:cNvSpPr txBox="1"/>
            <p:nvPr/>
          </p:nvSpPr>
          <p:spPr>
            <a:xfrm>
              <a:off x="753237" y="2108200"/>
              <a:ext cx="18637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Excel 用来继续算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Rectangle 9"/>
            <p:cNvSpPr/>
            <p:nvPr/>
          </p:nvSpPr>
          <p:spPr>
            <a:xfrm>
              <a:off x="7620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964692" y="2578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保留全部明细行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64692" y="2959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可在本地做二次统计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964692" y="33401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适合内部汇总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737" y="2108200"/>
              <a:ext cx="19077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PDF 用来报送存档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2438400"/>
              <a:ext cx="381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6286500" y="2657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489192" y="25781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版式固定不会跑版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038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2959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适合盖章与归档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419475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489192" y="33401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适合对外提供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大批量导出会转成后台任务，等提示完成后再点下载。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大屏模式操作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3" name="bigscreen"/>
          <p:cNvGrpSpPr/>
          <p:nvPr/>
        </p:nvGrpSpPr>
        <p:grpSpPr>
          <a:xfrm>
            <a:off x="828675" y="1971675"/>
            <a:ext cx="3569894" cy="3080258"/>
            <a:chOff x="828675" y="1971675"/>
            <a:chExt cx="3569894" cy="308025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进入大屏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工作台右上角进入，自动全屏。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选字号档位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按观看距离选 3m / 6m / 10m。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按需开轮播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014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15 秒在 KPI 与图表间切换，可暂停。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先退全屏，再回工作台。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分析与报表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6652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图表读法与常见误读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misread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口径变了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统计范围调整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同比不可直接比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基数太小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百分比波动大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绝对数可能很小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时间混用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5591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同比与环比混用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8830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结论会相反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5647" y="56959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汇报前先问三句：口径一致吗？基数够大吗？时间范围一样吗？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49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571500" y="1016000"/>
            <a:ext cx="2172056" cy="2733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0" b="1" dirty="0">
                <a:solidFill>
                  <a:schemeClr val="accent1">
                    <a:alphaMod val="12000"/>
                  </a:schemeClr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3251200"/>
            <a:ext cx="383438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spc="150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系统管理与备份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385" y="3898900"/>
            <a:ext cx="206808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spc="3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ADMIN &amp; BACKUP</a:t>
            </a:r>
          </a:p>
        </p:txBody>
      </p:sp>
      <p:sp>
        <p:nvSpPr>
          <p:cNvPr id="8" name="Rectangle 8"/>
          <p:cNvSpPr/>
          <p:nvPr/>
        </p:nvSpPr>
        <p:spPr>
          <a:xfrm>
            <a:off x="781050" y="4324350"/>
            <a:ext cx="13335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grpSp>
        <p:nvGrpSpPr>
          <p:cNvPr id="20" name="section-items"/>
          <p:cNvGrpSpPr/>
          <p:nvPr/>
        </p:nvGrpSpPr>
        <p:grpSpPr>
          <a:xfrm>
            <a:off x="5334000" y="1635125"/>
            <a:ext cx="5715000" cy="3498850"/>
            <a:chOff x="5334000" y="1635125"/>
            <a:chExt cx="5715000" cy="3498850"/>
          </a:xfrm>
        </p:grpSpPr>
        <p:sp>
          <p:nvSpPr>
            <p:cNvPr id="9" name="Rectangle 9"/>
            <p:cNvSpPr/>
            <p:nvPr/>
          </p:nvSpPr>
          <p:spPr>
            <a:xfrm>
              <a:off x="5334000" y="17145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5630418" y="16351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0" y="24574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5630418" y="23780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组织管理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2004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630418" y="31210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权限包配置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0" y="394335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5630418" y="38639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系统配置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0" y="4686300"/>
              <a:ext cx="66675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5630418" y="46069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备份与恢复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0" y="51244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</p:grpSp>
      <p:sp>
        <p:nvSpPr>
          <p:cNvPr id="21" name="TextBox 21"/>
          <p:cNvSpPr txBox="1"/>
          <p:nvPr/>
        </p:nvSpPr>
        <p:spPr>
          <a:xfrm>
            <a:off x="757047" y="6286500"/>
            <a:ext cx="111809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50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用户管理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users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新增用户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填用户名、姓名、初始密码、角色、所属组织。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停用而非删除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离职或调岗时停用账号，保留历史操作记录。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重置密码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管理员重置后，用户首次登录需再改一次。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新建账号必须指定角色和组织，否则登录后看不到任何数据。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组织管理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1" name="org"/>
          <p:cNvGrpSpPr/>
          <p:nvPr/>
        </p:nvGrpSpPr>
        <p:grpSpPr>
          <a:xfrm>
            <a:off x="762000" y="1971675"/>
            <a:ext cx="10668000" cy="3190875"/>
            <a:chOff x="762000" y="1971675"/>
            <a:chExt cx="10668000" cy="319087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新增组织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选择上级组织，层级由系统自动计算。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维护层级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调整层级会影响数据可见范围，需谨慎。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删除限制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组织下有用户或项目时不允许直接删除。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535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84885" y="479425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组织就是数据域的边界：层级建错，下级可能看不到本该看到的数据。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权限包配置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9" name="pack"/>
          <p:cNvGrpSpPr/>
          <p:nvPr/>
        </p:nvGrpSpPr>
        <p:grpSpPr>
          <a:xfrm>
            <a:off x="828675" y="1971675"/>
            <a:ext cx="3840099" cy="2261108"/>
            <a:chOff x="828675" y="1971675"/>
            <a:chExt cx="3840099" cy="22611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新建权限包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勾选这个包允许看到的菜单。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绑定用户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一个用户只能绑定一个权限包。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未绑定时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使用角色默认菜单；公共模块始终可见。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0497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系统配置项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config"/>
          <p:cNvGrpSpPr/>
          <p:nvPr/>
        </p:nvGrpSpPr>
        <p:grpSpPr>
          <a:xfrm>
            <a:off x="762000" y="2057400"/>
            <a:ext cx="10668000" cy="4000500"/>
            <a:chOff x="762000" y="2057400"/>
            <a:chExt cx="106680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9108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备份目录与计划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32283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决定备份存到哪、多久备一次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938462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938462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317309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上传大小限制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3204845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超过限制的文件会被拒绝（413）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819525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819525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4053205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列表条数上限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408495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影响分页可选的最大每页条数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700588"/>
              <a:ext cx="10668000" cy="747712"/>
            </a:xfrm>
            <a:prstGeom prst="roundRect">
              <a:avLst>
                <a:gd name="adj" fmla="val 509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700588"/>
              <a:ext cx="38100" cy="7477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93522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生效时机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96697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多数立即生效，少数需重启应用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5647" y="5695950"/>
              <a:ext cx="38358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配置改的是全组织行为，改前先确认影响范围，改后做一次验证。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备份：手动、自动、即时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0" name="backup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手动备份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随时可点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重大操作前必做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自动备份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按计划后台执行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无需人工干预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203575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即时备份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559175"/>
              <a:ext cx="1324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插入 U 盘一键备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适合带离现场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85647" y="5695950"/>
              <a:ext cx="40073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建议保留最近 7 天 + 每月一份；备份文件要放到另一块物理磁盘上。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恢复：步骤与风险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5" name="restore"/>
          <p:cNvGrpSpPr/>
          <p:nvPr/>
        </p:nvGrpSpPr>
        <p:grpSpPr>
          <a:xfrm>
            <a:off x="762000" y="1971675"/>
            <a:ext cx="10668000" cy="4010025"/>
            <a:chOff x="762000" y="1971675"/>
            <a:chExt cx="10668000" cy="4010025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选择备份文件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确认备份时间点，别选错日期。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系统自动再备一次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恢复前先备份当前库，留后悔药。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执行恢复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期间禁止他人操作，避免数据写坏。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8675" y="44291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941349" y="45085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887" y="4432300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重启并抽查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792" y="478790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重启应用后抽查村、项目、附件是否正常。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524500"/>
              <a:ext cx="10668000" cy="457200"/>
            </a:xfrm>
            <a:prstGeom prst="roundRect">
              <a:avLst>
                <a:gd name="adj" fmla="val 625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84885" y="5613400"/>
              <a:ext cx="4248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恢复会覆盖当前数据，务必确认时间点——这是最不可逆的操作。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478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系统管理与备份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数据包导入与系统自检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9" name="selfcheck"/>
          <p:cNvGrpSpPr/>
          <p:nvPr/>
        </p:nvGrpSpPr>
        <p:grpSpPr>
          <a:xfrm>
            <a:off x="828675" y="1971675"/>
            <a:ext cx="4385310" cy="2261108"/>
            <a:chOff x="828675" y="1971675"/>
            <a:chExt cx="4385310" cy="2261108"/>
          </a:xfrm>
        </p:grpSpPr>
        <p:sp>
          <p:nvSpPr>
            <p:cNvPr id="7" name="Ellipse 7"/>
            <p:cNvSpPr/>
            <p:nvPr/>
          </p:nvSpPr>
          <p:spPr>
            <a:xfrm>
              <a:off x="828675" y="19716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941349" y="20510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887" y="1974850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导入数据包或恢复备份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3792" y="23304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按前面章节的步骤操作。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28675" y="279082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41349" y="287020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1887" y="279400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运行系统自检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3792" y="31496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检查表结构与关键数据条数。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28675" y="3609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941349" y="36893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887" y="36131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A2E24"/>
                  </a:solidFill>
                  <a:latin typeface="+mn-lt"/>
                  <a:ea typeface="+mn-ea"/>
                  <a:cs typeface="+mn-cs"/>
                </a:rPr>
                <a:t>抽查验证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792" y="39687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抽三个村、两个项目，确认附件与照片能打开。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07 收尾与自查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常见错误与处理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29" name="errors"/>
          <p:cNvGrpSpPr/>
          <p:nvPr/>
        </p:nvGrpSpPr>
        <p:grpSpPr>
          <a:xfrm>
            <a:off x="762000" y="2057400"/>
            <a:ext cx="10668000" cy="4000500"/>
            <a:chOff x="762000" y="2057400"/>
            <a:chExt cx="10668000" cy="4000500"/>
          </a:xfrm>
        </p:grpSpPr>
        <p:sp>
          <p:nvSpPr>
            <p:cNvPr id="7" name="Rectangle 7"/>
            <p:cNvSpPr/>
            <p:nvPr/>
          </p:nvSpPr>
          <p:spPr>
            <a:xfrm>
              <a:off x="762000" y="205740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057400"/>
              <a:ext cx="381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1019937" y="2203450"/>
              <a:ext cx="11862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401 未登录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3142" y="22352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令牌过期或未登录，重新登录即可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76225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62000" y="2762250"/>
              <a:ext cx="381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19937" y="2908300"/>
              <a:ext cx="11862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403 无权限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142" y="29400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角色或权限包不足，找管理员开通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46710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3467100"/>
              <a:ext cx="381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1019937" y="3613150"/>
              <a:ext cx="18808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422 参数校验失败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3142" y="36449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按提示修改对应字段后重试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17195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762000" y="4171950"/>
              <a:ext cx="381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1019937" y="4318000"/>
              <a:ext cx="141780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413 文件过大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3142" y="43497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压缩文件或分批上传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487680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4" name="Rectangle 24"/>
            <p:cNvSpPr/>
            <p:nvPr/>
          </p:nvSpPr>
          <p:spPr>
            <a:xfrm>
              <a:off x="762000" y="4876800"/>
              <a:ext cx="381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1019937" y="5022850"/>
              <a:ext cx="164934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500 服务器错误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03142" y="50546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记录时间点与操作步骤，联系管理员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85647" y="5695950"/>
              <a:ext cx="35719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报错文案就是线索：先读文案，再动手，不要一上来就重装。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6666" y="635000"/>
            <a:ext cx="11355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07 收尾与自查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869950"/>
            <a:ext cx="423668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每日 / 每周 / 每月清单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6002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32" name="routine"/>
          <p:cNvGrpSpPr/>
          <p:nvPr/>
        </p:nvGrpSpPr>
        <p:grpSpPr>
          <a:xfrm>
            <a:off x="762000" y="2562225"/>
            <a:ext cx="10668000" cy="3495675"/>
            <a:chOff x="762000" y="2562225"/>
            <a:chExt cx="10668000" cy="3495675"/>
          </a:xfrm>
        </p:grpSpPr>
        <p:sp>
          <p:nvSpPr>
            <p:cNvPr id="7" name="Rectangle 7"/>
            <p:cNvSpPr/>
            <p:nvPr/>
          </p:nvSpPr>
          <p:spPr>
            <a:xfrm>
              <a:off x="762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8" name="Rectangle 8"/>
            <p:cNvSpPr/>
            <p:nvPr/>
          </p:nvSpPr>
          <p:spPr>
            <a:xfrm>
              <a:off x="762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9627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715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1078992" y="3559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录入当天数据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715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789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处理待办审批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815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43815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82287" y="3203575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91050" y="363855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4698492" y="355917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生成并上报数据包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91050" y="3962400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4698492" y="38830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检查异常预警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2562225"/>
              <a:ext cx="3429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8001000" y="2562225"/>
              <a:ext cx="342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8201787" y="304165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每月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10550" y="34766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317992" y="33972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完整备份一次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10550" y="380047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8317992" y="37211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核对资金余额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210550" y="4124325"/>
              <a:ext cx="47625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8317992" y="4044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导出月报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5581650"/>
              <a:ext cx="10668000" cy="476250"/>
            </a:xfrm>
            <a:prstGeom prst="roundRect">
              <a:avLst>
                <a:gd name="adj" fmla="val 6000"/>
              </a:avLst>
            </a:prstGeom>
            <a:solidFill>
              <a:srgbClr val="E8EFE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985647" y="5695950"/>
              <a:ext cx="25165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B43"/>
                  </a:solidFill>
                  <a:latin typeface="+mn-lt"/>
                  <a:ea typeface="+mn-ea"/>
                  <a:cs typeface="+mn-cs"/>
                </a:rPr>
                <a:t>照这三张清单做，工作就不会积压到年底。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7047" y="6286500"/>
            <a:ext cx="16128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帮扶管理信息系统 v1.18.26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8A9790"/>
                </a:solidFill>
                <a:latin typeface="+mn-lt"/>
                <a:ea typeface="+mn-ea"/>
                <a:cs typeface="+mn-cs"/>
              </a:rPr>
              <a:t>59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2E24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2286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762000" y="2381250"/>
            <a:ext cx="11430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742950" y="2660650"/>
            <a:ext cx="476326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A2E24"/>
                </a:solidFill>
                <a:latin typeface="+mn-lt"/>
                <a:ea typeface="+mn-ea"/>
                <a:cs typeface="+mn-cs"/>
              </a:rPr>
              <a:t>培训结束，随时可查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2094" y="3492500"/>
            <a:ext cx="421995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3D4B43"/>
                </a:solidFill>
                <a:latin typeface="+mn-lt"/>
                <a:ea typeface="+mn-ea"/>
                <a:cs typeface="+mn-cs"/>
              </a:rPr>
              <a:t>记不住没关系，手册里每一步都有。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4152900"/>
            <a:ext cx="9906000" cy="95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755142" y="4464050"/>
            <a:ext cx="46843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遇到问题先查 02 用户手册；解决不了再联系系统管理员。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285" y="5003800"/>
            <a:ext cx="62926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帮扶管理信息系统 v1.18.26 · 仓库：github.com/lzh745200/MRRS · 完整文档见 docs/ 目录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7047" y="6273800"/>
            <a:ext cx="143870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V1.18.26 | 2026-10-29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9927" y="62738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7E9488"/>
                </a:solidFill>
                <a:latin typeface="+mn-lt"/>
                <a:ea typeface="+mn-ea"/>
                <a:cs typeface="+mn-cs"/>
              </a:rPr>
              <a:t>60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rrs-training-ops">
  <a:themeElements>
    <a:clrScheme name="mrrs-training-ops">
      <a:dk1>
        <a:srgbClr val="1F2A24"/>
      </a:dk1>
      <a:lt1>
        <a:srgbClr val="F7F5EF"/>
      </a:lt1>
      <a:dk2>
        <a:srgbClr val="1F497D"/>
      </a:dk2>
      <a:lt2>
        <a:srgbClr val="FFFFFF"/>
      </a:lt2>
      <a:accent1>
        <a:srgbClr val="1F4A38"/>
      </a:accent1>
      <a:accent2>
        <a:srgbClr val="C9A227"/>
      </a:accent2>
      <a:accent3>
        <a:srgbClr val="2D6A4F"/>
      </a:accent3>
      <a:accent4>
        <a:srgbClr val="1F4A38"/>
      </a:accent4>
      <a:accent5>
        <a:srgbClr val="5F6F66"/>
      </a:accent5>
      <a:accent6>
        <a:srgbClr val="D7E2DB"/>
      </a:accent6>
      <a:hlink>
        <a:srgbClr val="C9A227"/>
      </a:hlink>
      <a:folHlink>
        <a:srgbClr val="2D6A4F"/>
      </a:folHlink>
    </a:clrScheme>
    <a:fontScheme name="mrrs-training-op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rs-training-o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rrs-training-ops">
  <a:themeElements>
    <a:clrScheme name="mrrs-training-ops">
      <a:dk1>
        <a:srgbClr val="1F2A24"/>
      </a:dk1>
      <a:lt1>
        <a:srgbClr val="F7F5EF"/>
      </a:lt1>
      <a:dk2>
        <a:srgbClr val="1F497D"/>
      </a:dk2>
      <a:lt2>
        <a:srgbClr val="FFFFFF"/>
      </a:lt2>
      <a:accent1>
        <a:srgbClr val="1F4A38"/>
      </a:accent1>
      <a:accent2>
        <a:srgbClr val="C9A227"/>
      </a:accent2>
      <a:accent3>
        <a:srgbClr val="2D6A4F"/>
      </a:accent3>
      <a:accent4>
        <a:srgbClr val="1F4A38"/>
      </a:accent4>
      <a:accent5>
        <a:srgbClr val="5F6F66"/>
      </a:accent5>
      <a:accent6>
        <a:srgbClr val="D7E2DB"/>
      </a:accent6>
      <a:hlink>
        <a:srgbClr val="C9A227"/>
      </a:hlink>
      <a:folHlink>
        <a:srgbClr val="2D6A4F"/>
      </a:folHlink>
    </a:clrScheme>
    <a:fontScheme name="mrrs-training-op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rrs-training-o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2026-10-26T07:29:22Z</dcterms:created>
  <dcterms:modified xsi:type="dcterms:W3CDTF">2026-10-26T07:29:22Z</dcterms:modified>
  <cp:category/>
  <cp:contentStatus/>
</cp:coreProperties>
</file>