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5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各位好。今天这套系统，我尽量不用术语讲。您只要记住一句话：它是一套装在电脑里、断网也能办完帮扶业务的系统。接下来半小时，我们从"它是什么"一路讲到"怎么开始用"。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全篇分六段。前两段讲它是什么、能干什么；第三段讲安不安全；第四段简单说技术；第五段教怎么上手；第六段是部署和文档。听完这六段，您就能自己判断这套系统适不适合您那儿。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打个比方：它就像把村委会的档案柜、财务账本、项目台账、上报公文，全部装进一台笔记本电脑。它不是网站，因为它不依赖互联网；它不是云服务，因为数据不上传；它也不是报表工具，因为它能办完整业务——从建档到审批到上报，一条链走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套系统是被三个现实问题逼出来的。第一，山区网络不稳，联网系统一断就办不了公；第二，村里填的表送到县里还得重录一遍，同一份数据录好几遍；第三，照片、台账、凭证散在个人手里，换个人就找不到了。所以它必须能离线跑、能打包上报、能一村一档全程留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看这一页就够了。它只有三层：上面办业务，中间存数据，下面保安全。三层各管一件事，换任何一层都不影响另外两层。您评估一套系统，其实就看这三层齐不齐。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套系统，不同人看到的菜单和数据范围不一样。超级管理员看全局；管理员看本组织及下级；普通用户只看自己录入的；查看者只能看不能改。这里要注意：前端隐藏按钮只是体验，真正的拦截在后端，查看者写操作一律被拒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跟着驻村队员小王过一天。早上八点半更新村里人口数据；十一点提交一个产业项目立项；下午三点给合作社申请一笔帮扶资金；晚上六点一键备份，顺手导出本周的上报包。这四件事本来就在他工作里，系统只是把它们从纸上挪到了电脑上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只录一次，然后逐级往上走：村录、县审核打包、市接收汇总、省做全局分析。每一级收到的是一个带校验和的压缩包，包坏了或被人改过，接收时就能发现。上级接收后还能逐字段校验，问题数据当场标出来，不用等年底对账才发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三种形态，用的都是同一套数据和同一套程序。单机模式最常见，一台电脑装完即用；多机协同是用加密数据包在机器之间交换数据，U 盘摆渡就行；大屏汇报是切到全屏展示，用于观摩和汇报。不需要分别部署。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这是大家最关心的问题。断网时，录入、审批、资金、上报打包、备份恢复、统计报表，全部照常。真正需要联网的只有一项——可以关掉的 AI 增强功能。所以断网不是"降级使用"，而是这套系统的正常工作状态。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下面进入第二部分，讲它能干什么。从村到户、从项目到资金、从审批到上报，一共八块能力。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个村一套档案，按年度记录，跨年趋势自动生成。八个板块——基本情况、人口、收入、产业、基础设施、组织建设、成效、年度对比。每次修改都留字段级历史：谁改的、改前是什么、改后是什么。删错了也不要紧，回收站能恢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村是账本，户是明细。以村为入口进入一户一档，记录家庭成员、帮扶措施、收入情况，每户都有明确的帮扶责任人。身份证号这类敏感字段是加密存放的，按角色掩码展示——没权限的人只看到星号。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个项目六个阶段：立项申请、审批通过、执行跟踪、里程碑、竣工验收、归档沉淀。每个项目都记预算和实际花费，超支会提示；里程碑支持甘特图和进度照片，验收时有据可查；任务能分解到人，谁负责、什么时候完成一目了然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一笔钱八个阶段：申请、审批、拨付、使用、报销、核销、决算、归档。每笔钱编号自动生成，不会重号；合同、支付凭证、划转凭证全链条挂接。花超了会提醒：预算三级预警 80%、90%、100%，还有超支、偏差、闲置、重复支付、缺凭证的异常监控。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审批是大家最容易扯皮的地方，所以这块做得比较死。申请人能看到自己的申请走到哪一步；审批人有一个待办池，可以批量处理；驳回必须写原因，前后端都会校验，空着提交不了；转审会移交出去，链条完整记录，不会丢件。所有动作都写日志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这是多级单位最实用的功能。下级录入完，生成一个上报包；上级接收后先验包，再逐字段校验，结果分三级：通过、已纠正、被拒；预览确认后才入库。只有管理员能接收，普通用户只能打包上报。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数据进来之后不用手工做表。成效分析能村与村比、年与年比；资金分析能看钱花在哪些板块、各单位投入排名；项目分析能看进度分布和滞后预警。所有图表都能按村、按年度、按单位筛选下钻，报表可以导出 Excel 或 PDF。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要汇报的时候，切到大屏模式就行。KPI 和图表一屏讲清，支持按村、按学校、按单位筛选下钻；字号可以按观看距离切换，三米、六米、十米；还能开十五秒自动轮播，随时暂停。退出时先退全屏再回工作台，不会卡在中间状态。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影像库按项目、村、时间自动归类，支持多期对比图，前后变化一目了然，照片可以作为验收和成效的佐证。消费帮扶台账逐笔登记购买方、金额、农产品，自动形成统计，是"以购代捐"成效的直接证据。两块都能导出，汇报时不用临时找照片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第三部分讲安全。这块大家最关心，我讲四件事：四道门、数据只给该看的人、敏感信息加密、备份恢复。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安全是四层叠加，不是四选一。第一道登录，账号密码，可选双因子；第二道角色，决定你能做什么；第三道数据域，决定你能看哪些数据；第四道审计，所有关键操作留痕。过了登录还要过角色，过了角色还要过数据域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范围只有三档：全局、本组织及下级、仅本人。这里有三条铁律：无组织的用户绝不升级为管理员，一律回退到"仅本人"；模型缺少过滤列时降级为"仅本人"，而不是放行；连归属列都缺时返回空集。一句话：宁可看不到，也绝不返回全量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分三层看。存储层，身份证号在数据库里就是密文，直接打开数据库文件也看不到明文；展示层，按角色掩码，没权限只看到星号；导出层，可以选择脱敏。这里要提醒一句：加密密钥一旦丢失，历史密文就解不开了，请随备份一起妥善保管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出事的时候不需要靠回忆，直接查记录。字段级变更历史告诉你改前改后；工作日志记录业务动作；审计日志单独记敏感操作，比如权限变更、配置修改、数据恢复；登录记录连失败尝试都会记。时间、人、动作、字段四个维度都能定位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备份有三种触发方式：手动点、按计划自动、插入 U 盘即时备份。备份包可以加密，放到 U 盘或异地。恢复会覆盖当前数据库，所以系统会先自动备份一次再恢复。建议的节奏是：每周一次定期备份，重大操作前再手动备一次。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离线不是妥协，反而是这套系统安全模型的基础。它只监听本机回环地址，外部网络连不进来；没有云端账号体系，也就没有云端泄露风险；跨机交换走的是加密数据包，U 盘丢了别人也打不开。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从源码到安装包是一条可验证的链。源码在 GitHub，构建由 GitHub Actions 自动完成，不经过个人电脑；每个安装包都附 SHA256 校验值，可以逐字节验证是否被篡改；依赖和运行时版本全部钉扎；发布前强制校验代码门禁全绿，测试不过不允许出包。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第四部分简单说技术。不讲代码，只讲三个问题：为什么这么选、系统有多大、怎么保证不出错。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四个选择，都服务三个目标：能离线、跑得稳、好维护。后端用 FastAPI，启动快、依赖少；前端用 Vue 3 加 TypeScript，界面快、类型约束能防低级错误；数据库用 SQLite，单文件、免安装、随备份整个带走；桌面壳用 Electron，把网页应用变成双击即用的桌面程序。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几个数字建立体量感：52 个接口模块、849 个接口、118 张数据表、63 个数据库版本、4 类角色、22,078 项自动化测试、44 页视觉回归、2 个平台安装包。这说明它不是一个小工具，而是一套完整系统。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怎么保证不出错？四道关卡：写代码、跑测试、过门禁、才允许合入。后端 14,722 个用例、前端 7,356 个用例，每次改动全部重跑；覆盖率硬门禁 100%，少测一行就合不进去；静态检查零告警；每次提交自动跑全部检查，结果直接贴在提交记录上。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一年时间从 1.13 走到 1.18。1.13 把菜单和权限统一到一个来源；1.14 补齐一户一档、影像对比、消费台账、凭证识别；1.15 统一界面语言；1.16 到 1.18 主要做收口——系统管理梳理、危险操作加固、录入效率和质量门禁。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安装很简单：Windows 和麒麟 ARM64 两种安装包，内置运行时，目标机器不需要预装 Python 或 Node。升级前会强制备份，升级期间还有写操作闸门挡住并发写入，避免数据写坏。真出问题，用升级前的备份恢复就行。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第五部分讲怎么开始用。三步：装、登、建第一个村。最后再回答几个常见问题。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按操作系统选安装包：Windows 选 exe，麒麟或统信选 deb。安装过程不需要预装任何东西，一路下一步。首次启动会自动建数据库和目录，并做一次完整性自检。如果提示文件完整性异常，通常是下载不完整，重新下载就行。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初始密码由管理员发放，首次登录必须改。新密码要满足长度和复杂度，太简单的会被拒绝。连续输错会临时锁定，稍后再试或找管理员重置。离开座位请退出登录，避免别人代操作留下你的名字。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路径是：左侧菜单进入帮扶村管理，点新增，填帮扶村名称，再填各部门各单位和具体帮扶单位，保存。最少就填这三项，省、市、县、乡镇建议补充，其余信息可以后面按年度补。不要卡在"资料不全不敢建"。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八个高频问题一次说清。断网能用；换机可以带走数据；误删能恢复；看不到某个村多半是数据域限制；忘记密码找管理员；多人协同靠数据包而不是同时连一个库；数据不会上传云端；升级不会丢数据。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六个词弄懂，后面的文档都能读。一户一档是逐户建档；数据包是跨机交换的加密压缩包；上报包是下级提交给上级的；权限包决定能看到哪些菜单；数据域决定能看到哪些数据；软删除是只做标记、可以恢复。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四份文档各管一段：01 快速开始管第一次装；02 用户手册有 11 篇操作说明，日常用；03 开发文档给要改代码的人；04 部署文档给运维和交付。遇到问题先看 02，装不上看 01，要改代码看 03，要交付看 04。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组对比。录入：以前同一份数据在村县市各录一遍，现在录一次逐级复用；留证：以前事后补照片补台账，现在过程自动留痕；监管：以前年底集中查账，现在实时看进度；汇报：以前临时做材料还对不上，现在一键出报表、口径统一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如果今天只带走一句话，就是这句：装得上、断网能用、数据不出门。装得上，是一台电脑双击就行；断网能用，是所有业务都在本机；数据不出门，是没有云端账号，跨机交换也是加密的。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我的介绍到这里。这套系统的仓库和文档都在页面下方，需要的时候随时可以查。谢谢大家，下面进入提问环节。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rrs-guide-beginn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rrs-guide-beginn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E3A2C"/>
            </a:gs>
            <a:gs pos="60000">
              <a:schemeClr val="lt1"/>
            </a:gs>
            <a:gs pos="100000">
              <a:srgbClr val="1220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6858000" y="-476250"/>
            <a:ext cx="5715000" cy="5715000"/>
          </a:xfrm>
          <a:prstGeom prst="ellipse">
            <a:avLst/>
          </a:prstGeom>
          <a:noFill/>
          <a:ln w="9525">
            <a:solidFill>
              <a:schemeClr val="accent2">
                <a:alpha val="10000"/>
              </a:schemeClr>
            </a:solidFill>
          </a:ln>
        </p:spPr>
        <p:txBody>
          <a:bodyPr/>
          <a:p/>
        </p:txBody>
      </p:sp>
      <p:sp>
        <p:nvSpPr>
          <p:cNvPr id="3" name="Ellipse 3"/>
          <p:cNvSpPr/>
          <p:nvPr/>
        </p:nvSpPr>
        <p:spPr>
          <a:xfrm>
            <a:off x="7620000" y="285750"/>
            <a:ext cx="4191000" cy="4191000"/>
          </a:xfrm>
          <a:prstGeom prst="ellipse">
            <a:avLst/>
          </a:prstGeom>
          <a:noFill/>
          <a:ln w="9525">
            <a:solidFill>
              <a:schemeClr val="accent2">
                <a:alpha val="7000"/>
              </a:schemeClr>
            </a:solidFill>
          </a:ln>
        </p:spPr>
        <p:txBody>
          <a:bodyPr/>
          <a:p/>
        </p:txBody>
      </p:sp>
      <p:sp>
        <p:nvSpPr>
          <p:cNvPr id="4" name="Ellipse 4"/>
          <p:cNvSpPr/>
          <p:nvPr/>
        </p:nvSpPr>
        <p:spPr>
          <a:xfrm>
            <a:off x="8382000" y="1047750"/>
            <a:ext cx="2667000" cy="2667000"/>
          </a:xfrm>
          <a:prstGeom prst="ellipse">
            <a:avLst/>
          </a:prstGeom>
          <a:noFill/>
          <a:ln w="9525">
            <a:solidFill>
              <a:schemeClr val="accent2">
                <a:alpha val="5000"/>
              </a:schemeClr>
            </a:solidFill>
          </a:ln>
        </p:spPr>
        <p:txBody>
          <a:bodyPr/>
          <a:p/>
        </p:txBody>
      </p:sp>
      <p:sp>
        <p:nvSpPr>
          <p:cNvPr id="5" name="Rectangle 5"/>
          <p:cNvSpPr/>
          <p:nvPr/>
        </p:nvSpPr>
        <p:spPr>
          <a:xfrm>
            <a:off x="762000" y="1428750"/>
            <a:ext cx="11430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6" name="TextBox 6"/>
          <p:cNvSpPr txBox="1"/>
          <p:nvPr/>
        </p:nvSpPr>
        <p:spPr>
          <a:xfrm>
            <a:off x="753618" y="1854200"/>
            <a:ext cx="21859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spc="3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零基础 · 全面介绍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2609850"/>
            <a:ext cx="9699661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spc="7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军民融合 · 乡村振兴帮扶数字化平台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4474" y="3486150"/>
            <a:ext cx="3962591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帮扶管理信息系统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285" y="4203700"/>
            <a:ext cx="421004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225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Assistance Management Information System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4762500"/>
            <a:ext cx="4953000" cy="9525"/>
          </a:xfrm>
          <a:prstGeom prst="rect">
            <a:avLst/>
          </a:prstGeom>
          <a:solidFill>
            <a:schemeClr val="accent6">
              <a:alpha val="3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11" name="TextBox 11"/>
          <p:cNvSpPr txBox="1"/>
          <p:nvPr/>
        </p:nvSpPr>
        <p:spPr>
          <a:xfrm>
            <a:off x="755142" y="5035550"/>
            <a:ext cx="49206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一套完全离线、多机协同、军工级安全的帮扶业务全流程系统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7047" y="6273800"/>
            <a:ext cx="380100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V1.18.18 | 2026-10-27 | FastAPI + Vue 3 + Electron + SQLite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44474" y="914400"/>
            <a:ext cx="963930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目录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6285" y="1536700"/>
            <a:ext cx="12610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375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CONTENTS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905000"/>
            <a:ext cx="5715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grpSp>
        <p:nvGrpSpPr>
          <p:cNvPr id="30" name="toc-list"/>
          <p:cNvGrpSpPr/>
          <p:nvPr/>
        </p:nvGrpSpPr>
        <p:grpSpPr>
          <a:xfrm>
            <a:off x="752094" y="2235200"/>
            <a:ext cx="10677906" cy="3334131"/>
            <a:chOff x="752094" y="2235200"/>
            <a:chExt cx="10677906" cy="3334131"/>
          </a:xfrm>
        </p:grpSpPr>
        <p:sp>
          <p:nvSpPr>
            <p:cNvPr id="7" name="TextBox 7"/>
            <p:cNvSpPr txBox="1"/>
            <p:nvPr/>
          </p:nvSpPr>
          <p:spPr>
            <a:xfrm>
              <a:off x="752094" y="22352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5737" y="22606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系统概述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85285" y="231775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它是什么、为什么会有它、装在哪儿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27241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752094" y="282575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5737" y="28511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核心能力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85285" y="29083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从村到户、从项目到资金、从审批到上报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33147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752094" y="34163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5737" y="34417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安全可信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85285" y="34988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四道门、数据隔离、加密脱敏、备份恢复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62000" y="39052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752094" y="400685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5737" y="40322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技术底座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5285" y="408940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技术选型、系统规模、质量保障、版本演进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44958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752094" y="45974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5737" y="46228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上手路径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85285" y="467995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安装、登录、建第一个村、常见问题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62000" y="50863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752094" y="518795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5737" y="52133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部署运行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5285" y="52705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安装包、升级、回滚与文档地图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系统概述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8768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一句话说清：它到底是什么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15" name="what-is-it"/>
          <p:cNvGrpSpPr/>
          <p:nvPr/>
        </p:nvGrpSpPr>
        <p:grpSpPr>
          <a:xfrm>
            <a:off x="762000" y="3178175"/>
            <a:ext cx="6940677" cy="1407033"/>
            <a:chOff x="762000" y="3178175"/>
            <a:chExt cx="6940677" cy="1407033"/>
          </a:xfrm>
        </p:grpSpPr>
        <p:sp>
          <p:nvSpPr>
            <p:cNvPr id="7" name="Rectangle 7"/>
            <p:cNvSpPr/>
            <p:nvPr/>
          </p:nvSpPr>
          <p:spPr>
            <a:xfrm>
              <a:off x="762000" y="32575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64692" y="3178175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像把村委会的档案柜、财务账本、项目台账、上报公文，全部装进一台笔记本电脑。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36385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64692" y="3559175"/>
              <a:ext cx="3848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它不是网站——不依赖互联网，断网照样办业务。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40195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64692" y="3940175"/>
              <a:ext cx="3666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它不是云服务——数据不上传，全部留在本机。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44005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964692" y="4321175"/>
              <a:ext cx="6029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它不是报表工具——能办完整业务：建档、立项、审批、拨付、上报、分析。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系统概述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为什么会有这套系统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285" y="1441450"/>
            <a:ext cx="31776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三个现实难题，逼出了这套系统的三个设计底线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18288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5" name="why"/>
          <p:cNvGrpSpPr/>
          <p:nvPr/>
        </p:nvGrpSpPr>
        <p:grpSpPr>
          <a:xfrm>
            <a:off x="762000" y="2800350"/>
            <a:ext cx="10668000" cy="2381250"/>
            <a:chOff x="762000" y="2800350"/>
            <a:chExt cx="10668000" cy="2381250"/>
          </a:xfrm>
        </p:grpSpPr>
        <p:sp>
          <p:nvSpPr>
            <p:cNvPr id="8" name="Rectangle 8"/>
            <p:cNvSpPr/>
            <p:nvPr/>
          </p:nvSpPr>
          <p:spPr>
            <a:xfrm>
              <a:off x="762000" y="2800350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9" name="Rectangle 9"/>
            <p:cNvSpPr/>
            <p:nvPr/>
          </p:nvSpPr>
          <p:spPr>
            <a:xfrm>
              <a:off x="762000" y="2800350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62787" y="3279775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山区网络不稳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71550" y="37147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1078992" y="36353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村里网络时断时续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71550" y="40386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1078992" y="395922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联网系统一断就办不了公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71550" y="43624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078992" y="42830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系统必须能离线跑完整流程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81500" y="2800350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8" name="Rectangle 18"/>
            <p:cNvSpPr/>
            <p:nvPr/>
          </p:nvSpPr>
          <p:spPr>
            <a:xfrm>
              <a:off x="4381500" y="2800350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4582287" y="3279775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多级数据不通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591050" y="37147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4698492" y="36353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村里填的表要送到县里重录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91050" y="40386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4698492" y="395922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同一份数据反复录多遍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91050" y="43624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4698492" y="428307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必须能打包上报、上级直接接收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01000" y="2800350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7" name="Rectangle 27"/>
            <p:cNvSpPr/>
            <p:nvPr/>
          </p:nvSpPr>
          <p:spPr>
            <a:xfrm>
              <a:off x="8001000" y="2800350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8201787" y="3279775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资料分散易丢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210550" y="37147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8317992" y="363537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照片、台账、凭证散在个人手里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10550" y="40386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8317992" y="395922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换人换机就找不到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210550" y="43624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8317992" y="42830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必须一村一档、全程留痕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系统概述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60883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系统全貌：三层看懂了就懂了一半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1" name="three-layers"/>
          <p:cNvGrpSpPr/>
          <p:nvPr/>
        </p:nvGrpSpPr>
        <p:grpSpPr>
          <a:xfrm>
            <a:off x="762000" y="2057400"/>
            <a:ext cx="10668000" cy="3752850"/>
            <a:chOff x="762000" y="2057400"/>
            <a:chExt cx="10668000" cy="3752850"/>
          </a:xfrm>
        </p:grpSpPr>
        <p:sp>
          <p:nvSpPr>
            <p:cNvPr id="7" name="Rectangle 7"/>
            <p:cNvSpPr/>
            <p:nvPr/>
          </p:nvSpPr>
          <p:spPr>
            <a:xfrm>
              <a:off x="762000" y="2057400"/>
              <a:ext cx="10668000" cy="959168"/>
            </a:xfrm>
            <a:prstGeom prst="roundRect">
              <a:avLst>
                <a:gd name="adj" fmla="val 3972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057400"/>
              <a:ext cx="38100" cy="9591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019937" y="2396808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3142" y="2428558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帮扶村与一户一档、项目、资金、审批、数据上报、分析报表、影像与消费帮扶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149918"/>
              <a:ext cx="10668000" cy="959168"/>
            </a:xfrm>
            <a:prstGeom prst="roundRect">
              <a:avLst>
                <a:gd name="adj" fmla="val 3972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762000" y="3149918"/>
              <a:ext cx="38100" cy="9591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19937" y="3489325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142" y="3521075"/>
              <a:ext cx="6038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本机数据库（单文件，可随备份带走）+ 附件与照片 + 备份包 + 加密数据包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4241482"/>
              <a:ext cx="10668000" cy="959168"/>
            </a:xfrm>
            <a:prstGeom prst="roundRect">
              <a:avLst>
                <a:gd name="adj" fmla="val 3972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762000" y="4241482"/>
              <a:ext cx="38100" cy="9591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1019937" y="4581842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安全层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3142" y="4613592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登录与双因子、四种角色、数据域过滤、敏感字段加密、全量操作留痕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533400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85647" y="5448300"/>
              <a:ext cx="52870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三层各管一件事：上层办业务、中层存数据、下层保安全；换任何一层都不影响另外两层。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系统概述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谁在用：四种角色，各看各的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285" y="1441450"/>
            <a:ext cx="33284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同一套系统，不同角色看到的菜单和数据范围不同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18288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44" name="roles"/>
          <p:cNvGrpSpPr/>
          <p:nvPr/>
        </p:nvGrpSpPr>
        <p:grpSpPr>
          <a:xfrm>
            <a:off x="762000" y="2724150"/>
            <a:ext cx="10668000" cy="2533650"/>
            <a:chOff x="762000" y="2724150"/>
            <a:chExt cx="10668000" cy="2533650"/>
          </a:xfrm>
        </p:grpSpPr>
        <p:sp>
          <p:nvSpPr>
            <p:cNvPr id="8" name="Rectangle 8"/>
            <p:cNvSpPr/>
            <p:nvPr/>
          </p:nvSpPr>
          <p:spPr>
            <a:xfrm>
              <a:off x="762000" y="2724150"/>
              <a:ext cx="2524125" cy="253365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9" name="Rectangle 9"/>
            <p:cNvSpPr/>
            <p:nvPr/>
          </p:nvSpPr>
          <p:spPr>
            <a:xfrm>
              <a:off x="762000" y="2724150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62787" y="317500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超级管理员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5835" y="35179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8195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7401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看全部数据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71550" y="41433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1078992" y="40640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管组织与用户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71550" y="44672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1078992" y="43878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改系统配置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76625" y="2724150"/>
              <a:ext cx="2524125" cy="253365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9" name="Rectangle 19"/>
            <p:cNvSpPr/>
            <p:nvPr/>
          </p:nvSpPr>
          <p:spPr>
            <a:xfrm>
              <a:off x="3476625" y="2724150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3677412" y="317500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80460" y="35179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本组织及下级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86175" y="38195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3793617" y="37401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管本组织业务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86175" y="41433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3793617" y="40640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收发数据包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686175" y="44672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3793617" y="43878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备份与恢复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191250" y="2724150"/>
              <a:ext cx="2524125" cy="253365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9" name="Rectangle 29"/>
            <p:cNvSpPr/>
            <p:nvPr/>
          </p:nvSpPr>
          <p:spPr>
            <a:xfrm>
              <a:off x="6191250" y="2724150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6392037" y="333692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普通用户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95085" y="36798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仅本人录入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00800" y="39814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6508242" y="39020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录入本人数据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00800" y="43053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6508242" y="42259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走完整业务流程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905875" y="2724150"/>
              <a:ext cx="2524125" cy="253365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7" name="Rectangle 37"/>
            <p:cNvSpPr/>
            <p:nvPr/>
          </p:nvSpPr>
          <p:spPr>
            <a:xfrm>
              <a:off x="8905875" y="2724150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9106662" y="3336925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查看者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09710" y="3679825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授权范围只读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115425" y="39814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9222867" y="39020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只能看不能改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15425" y="43053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3" name="TextBox 43"/>
            <p:cNvSpPr txBox="1"/>
            <p:nvPr/>
          </p:nvSpPr>
          <p:spPr>
            <a:xfrm>
              <a:off x="9222867" y="42259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写操作一律拒绝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系统概述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60883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一天怎么过：驻村队员小王的一天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0" name="a-day"/>
          <p:cNvGrpSpPr/>
          <p:nvPr/>
        </p:nvGrpSpPr>
        <p:grpSpPr>
          <a:xfrm>
            <a:off x="762000" y="3033712"/>
            <a:ext cx="9867164" cy="2108709"/>
            <a:chOff x="762000" y="3033712"/>
            <a:chExt cx="9867164" cy="2108709"/>
          </a:xfrm>
        </p:grpSpPr>
        <p:sp>
          <p:nvSpPr>
            <p:cNvPr id="7" name="Line 7"/>
            <p:cNvSpPr/>
            <p:nvPr/>
          </p:nvSpPr>
          <p:spPr>
            <a:xfrm>
              <a:off x="2095500" y="3224212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905000" y="3033712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2008536" y="31448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72104" y="3522662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08:30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28800" y="3786188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更新村人口数据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572000" y="3033712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4675536" y="31448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39104" y="3522662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11:00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61764" y="3786188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提交项目立项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0" y="3033712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7342536" y="31448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06104" y="3522662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15:00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28764" y="3786188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申请帮扶资金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9906000" y="3033712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009536" y="31448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73104" y="3522662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18:00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63837" y="3786188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备份并导出上报包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2005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964692" y="4116388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这四件事本来就在小王的日常工作里，系统只是把它们从纸上挪到了电脑上。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45815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964692" y="449738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每件事做完都会留下记录：谁做的、什么时候做的、改了什么。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49625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64692" y="4878388"/>
              <a:ext cx="5868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晚上那次备份，是把当天所有工作打包成一个文件，可以拷到 U 盘带走。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系统概述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数据从哪来、到哪去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0" name="data-flow"/>
          <p:cNvGrpSpPr/>
          <p:nvPr/>
        </p:nvGrpSpPr>
        <p:grpSpPr>
          <a:xfrm>
            <a:off x="762000" y="3033712"/>
            <a:ext cx="9603308" cy="2108709"/>
            <a:chOff x="762000" y="3033712"/>
            <a:chExt cx="9603308" cy="2108709"/>
          </a:xfrm>
        </p:grpSpPr>
        <p:sp>
          <p:nvSpPr>
            <p:cNvPr id="7" name="Line 7"/>
            <p:cNvSpPr/>
            <p:nvPr/>
          </p:nvSpPr>
          <p:spPr>
            <a:xfrm>
              <a:off x="2095500" y="3224212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905000" y="3033712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2008536" y="31448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14398" y="3522662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94764" y="3786188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录入原始数据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572000" y="3033712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4675536" y="31448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81398" y="3522662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27728" y="3786188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审核并打包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0" y="3033712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7342536" y="31448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48398" y="3522662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94728" y="3786188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接收并汇总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9906000" y="3033712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009536" y="31448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15398" y="3522662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27692" y="3786188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全局分析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2005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964692" y="411638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数据只录一次，逐级往上走，上级不需要重新录入。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45815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964692" y="4497388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每一级收到的都是一个带校验和的压缩包，包坏了或被人改过，接收时能发现。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49625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64692" y="4878388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上级接收后可以逐字段校验，问题数据当场标出来，不用等年底对账才发现。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系统概述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装在哪儿：三种部署形态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9" name="deploy-forms"/>
          <p:cNvGrpSpPr/>
          <p:nvPr/>
        </p:nvGrpSpPr>
        <p:grpSpPr>
          <a:xfrm>
            <a:off x="762000" y="2486025"/>
            <a:ext cx="10668000" cy="3571875"/>
            <a:chOff x="762000" y="2486025"/>
            <a:chExt cx="10668000" cy="3571875"/>
          </a:xfrm>
        </p:grpSpPr>
        <p:sp>
          <p:nvSpPr>
            <p:cNvPr id="7" name="Rectangle 7"/>
            <p:cNvSpPr/>
            <p:nvPr/>
          </p:nvSpPr>
          <p:spPr>
            <a:xfrm>
              <a:off x="762000" y="2486025"/>
              <a:ext cx="3429000" cy="2533650"/>
            </a:xfrm>
            <a:prstGeom prst="roundRect">
              <a:avLst>
                <a:gd name="adj" fmla="val 1504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4860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29368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单机模式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5835" y="32797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最常见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71550" y="3581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1078992" y="350202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一台电脑装完即用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71550" y="39052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1078992" y="38258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数据全在本机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71550" y="42291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078992" y="414972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适合乡镇、驻村工作队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81500" y="2486025"/>
              <a:ext cx="3429000" cy="2533650"/>
            </a:xfrm>
            <a:prstGeom prst="roundRect">
              <a:avLst>
                <a:gd name="adj" fmla="val 1504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8" name="Rectangle 18"/>
            <p:cNvSpPr/>
            <p:nvPr/>
          </p:nvSpPr>
          <p:spPr>
            <a:xfrm>
              <a:off x="4381500" y="24860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4582287" y="29368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多机协同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85335" y="32797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多台机器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91050" y="3581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4698492" y="350202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用加密数据包交换数据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91050" y="39052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4698492" y="3825875"/>
              <a:ext cx="1630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U 盘、移动硬盘摆渡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91050" y="42291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4698492" y="414972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适合县乡两级分头办公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001000" y="2486025"/>
              <a:ext cx="3429000" cy="2533650"/>
            </a:xfrm>
            <a:prstGeom prst="roundRect">
              <a:avLst>
                <a:gd name="adj" fmla="val 1504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8" name="Rectangle 28"/>
            <p:cNvSpPr/>
            <p:nvPr/>
          </p:nvSpPr>
          <p:spPr>
            <a:xfrm>
              <a:off x="8001000" y="24860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8201787" y="29368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大屏汇报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04835" y="327977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同一套数据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10550" y="3581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8317992" y="35020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切换全屏展示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210550" y="39052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8317992" y="3825875"/>
              <a:ext cx="15937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KPI + 图表一屏讲清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210550" y="42291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8317992" y="41497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适合汇报与观摩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985647" y="5695950"/>
              <a:ext cx="47593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三种形态用的是同一套数据和同一套程序，只是使用方式不同，不需要分别部署。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系统概述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断网了怎么办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7" name="offline"/>
          <p:cNvGrpSpPr/>
          <p:nvPr/>
        </p:nvGrpSpPr>
        <p:grpSpPr>
          <a:xfrm>
            <a:off x="753237" y="2108200"/>
            <a:ext cx="10676763" cy="3949700"/>
            <a:chOff x="753237" y="2108200"/>
            <a:chExt cx="10676763" cy="3949700"/>
          </a:xfrm>
        </p:grpSpPr>
        <p:sp>
          <p:nvSpPr>
            <p:cNvPr id="7" name="TextBox 7"/>
            <p:cNvSpPr txBox="1"/>
            <p:nvPr/>
          </p:nvSpPr>
          <p:spPr>
            <a:xfrm>
              <a:off x="753237" y="210820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断网仍然可用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Rectangle 9"/>
            <p:cNvSpPr/>
            <p:nvPr/>
          </p:nvSpPr>
          <p:spPr>
            <a:xfrm>
              <a:off x="7620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64692" y="25781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录入、修改、查询全部照常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64692" y="29591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审批、资金拨付、项目流转照常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964692" y="33401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上报打包、备份恢复照常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800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64692" y="37211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统计报表照常生成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7737" y="2108200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需要联网的只有一项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865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Rectangle 19"/>
            <p:cNvSpPr/>
            <p:nvPr/>
          </p:nvSpPr>
          <p:spPr>
            <a:xfrm>
              <a:off x="62865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6489192" y="2578100"/>
              <a:ext cx="30182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可关闭的 AI 增强功能（如智能建议）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6489192" y="29591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关闭后系统功能不受影响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865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489192" y="33401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跨机同步不靠网络，靠介质摆渡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85647" y="5695950"/>
              <a:ext cx="35851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结论：断网不是"降级使用"，而是这套系统的正常工作状态。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251B"/>
            </a:gs>
            <a:gs pos="55000">
              <a:schemeClr val="lt1"/>
            </a:gs>
            <a:gs pos="100000">
              <a:srgbClr val="1E3A2C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1377950"/>
            <a:ext cx="2172056" cy="2733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0" b="1" dirty="0">
                <a:solidFill>
                  <a:schemeClr val="accent2">
                    <a:alphaMod val="14000"/>
                  </a:schemeClr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3117850"/>
            <a:ext cx="219875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spc="1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核心能力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4385" y="3765550"/>
            <a:ext cx="24406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3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CORE CAPABILITIES</a:t>
            </a:r>
          </a:p>
        </p:txBody>
      </p:sp>
      <p:sp>
        <p:nvSpPr>
          <p:cNvPr id="5" name="Rectangle 5"/>
          <p:cNvSpPr/>
          <p:nvPr/>
        </p:nvSpPr>
        <p:spPr>
          <a:xfrm>
            <a:off x="781050" y="4191000"/>
            <a:ext cx="1333500" cy="19050"/>
          </a:xfrm>
          <a:prstGeom prst="rect">
            <a:avLst/>
          </a:prstGeom>
          <a:gradFill>
            <a:gsLst>
              <a:gs pos="0">
                <a:schemeClr val="accent2">
                  <a:alpha val="90000"/>
                </a:schemeClr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5" name="section-items"/>
          <p:cNvGrpSpPr/>
          <p:nvPr/>
        </p:nvGrpSpPr>
        <p:grpSpPr>
          <a:xfrm>
            <a:off x="5334000" y="1635125"/>
            <a:ext cx="5715000" cy="2755900"/>
            <a:chOff x="5334000" y="1635125"/>
            <a:chExt cx="5715000" cy="2755900"/>
          </a:xfrm>
        </p:grpSpPr>
        <p:sp>
          <p:nvSpPr>
            <p:cNvPr id="6" name="Rectangle 6"/>
            <p:cNvSpPr/>
            <p:nvPr/>
          </p:nvSpPr>
          <p:spPr>
            <a:xfrm>
              <a:off x="5334000" y="17145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5630418" y="163512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帮扶村与一户一档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0" y="24574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5630418" y="237807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项目与资金全流程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0" y="32004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5630418" y="31210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审批与数据上报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0" y="39433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5630418" y="38639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分析与大屏展示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334000" y="43815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2E463B"/>
              </a:solidFill>
            </a:ln>
          </p:spPr>
          <p:txBody>
            <a:bodyPr/>
            <a:p/>
          </p:txBody>
        </p:sp>
      </p:grpSp>
      <p:sp>
        <p:nvSpPr>
          <p:cNvPr id="16" name="TextBox 16"/>
          <p:cNvSpPr txBox="1"/>
          <p:nvPr/>
        </p:nvSpPr>
        <p:spPr>
          <a:xfrm>
            <a:off x="757047" y="6286500"/>
            <a:ext cx="72231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02 核心能力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核心能力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帮扶村：一村一档，一年一账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1" name="village"/>
          <p:cNvGrpSpPr/>
          <p:nvPr/>
        </p:nvGrpSpPr>
        <p:grpSpPr>
          <a:xfrm>
            <a:off x="762000" y="2057400"/>
            <a:ext cx="10668000" cy="2118233"/>
            <a:chOff x="762000" y="2057400"/>
            <a:chExt cx="10668000" cy="2118233"/>
          </a:xfrm>
        </p:grpSpPr>
        <p:sp>
          <p:nvSpPr>
            <p:cNvPr id="7" name="Rectangle 7"/>
            <p:cNvSpPr/>
            <p:nvPr/>
          </p:nvSpPr>
          <p:spPr>
            <a:xfrm>
              <a:off x="762000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1079576" y="22129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基本情况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106930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2425459" y="22129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人口变动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52812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3770389" y="22129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收入结构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798695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116271" y="22129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产业帮扶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43625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6461201" y="22129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基础设施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488555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7807084" y="22129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组织建设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834438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152014" y="22129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帮扶成效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180320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10497896" y="22129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年度对比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28479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64692" y="276860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一个村一套档案，按年度记录，跨年趋势自动生成。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32289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64692" y="314960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每次修改都留字段级历史：谁改的、改前是什么、改后是什么。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6099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964692" y="3530600"/>
              <a:ext cx="4581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支持 Excel 模板按板块导入，整村档案可导出用于汇报。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9909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964692" y="39116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删错了不要紧，进回收站可以恢复。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核心能力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一户一档：把帮扶落到人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household"/>
          <p:cNvGrpSpPr/>
          <p:nvPr/>
        </p:nvGrpSpPr>
        <p:grpSpPr>
          <a:xfrm>
            <a:off x="753237" y="2108200"/>
            <a:ext cx="10676763" cy="3949700"/>
            <a:chOff x="753237" y="2108200"/>
            <a:chExt cx="10676763" cy="3949700"/>
          </a:xfrm>
        </p:grpSpPr>
        <p:sp>
          <p:nvSpPr>
            <p:cNvPr id="7" name="TextBox 7"/>
            <p:cNvSpPr txBox="1"/>
            <p:nvPr/>
          </p:nvSpPr>
          <p:spPr>
            <a:xfrm>
              <a:off x="753237" y="210820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从村到户到人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Rectangle 9"/>
            <p:cNvSpPr/>
            <p:nvPr/>
          </p:nvSpPr>
          <p:spPr>
            <a:xfrm>
              <a:off x="7620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64692" y="25781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以帮扶村为入口进入一户一档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64692" y="29591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记录家庭成员、帮扶措施、收入情况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964692" y="33401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每户有明确的帮扶责任人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7737" y="210820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敏感信息有保护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865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62865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489192" y="25781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身份证号等字段加密存放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6489192" y="29591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按角色掩码展示，越权只看到星号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6489192" y="33401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变更留痕，可追溯到具体操作人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5647" y="5695950"/>
              <a:ext cx="37038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一句话：村是账本，户是明细；账本能看趋势，明细能看落实。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核心能力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项目管理：从立项到验收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4" name="project"/>
          <p:cNvGrpSpPr/>
          <p:nvPr/>
        </p:nvGrpSpPr>
        <p:grpSpPr>
          <a:xfrm>
            <a:off x="762000" y="2990850"/>
            <a:ext cx="10086582" cy="2223008"/>
            <a:chOff x="762000" y="2990850"/>
            <a:chExt cx="10086582" cy="2223008"/>
          </a:xfrm>
        </p:grpSpPr>
        <p:sp>
          <p:nvSpPr>
            <p:cNvPr id="7" name="Line 7"/>
            <p:cNvSpPr/>
            <p:nvPr/>
          </p:nvSpPr>
          <p:spPr>
            <a:xfrm>
              <a:off x="1650682" y="3152775"/>
              <a:ext cx="8890635" cy="9525"/>
            </a:xfrm>
            <a:custGeom>
              <a:avLst/>
              <a:gdLst/>
              <a:ahLst/>
              <a:cxnLst/>
              <a:rect l="l" t="t" r="r" b="b"/>
              <a:pathLst>
                <a:path w="8890635" h="9525">
                  <a:moveTo>
                    <a:pt x="0" y="0"/>
                  </a:moveTo>
                  <a:lnTo>
                    <a:pt x="889063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488758" y="2990850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563718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3419" y="34512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立项申请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267075" y="2990850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33420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21736" y="34512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审批通过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045392" y="2990850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5120353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00054" y="34512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执行跟踪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822758" y="2990850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897718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52806" y="345122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里程碑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601075" y="2990850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86760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55736" y="34512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竣工验收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0379392" y="2990850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10454353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34054" y="34512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归档沉淀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3886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964692" y="380682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每个项目都记预算与实际花费，超支会提示。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4267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64692" y="418782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里程碑支持甘特图与进度照片，验收时有据可查。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4648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964692" y="4568825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任务可以分解到人，谁负责、什么时候完成一目了然。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5029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964692" y="494982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删除是软删除，误删可从回收站恢复。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核心能力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资金管理：一笔钱的八个阶段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43" name="fund"/>
          <p:cNvGrpSpPr/>
          <p:nvPr/>
        </p:nvGrpSpPr>
        <p:grpSpPr>
          <a:xfrm>
            <a:off x="753237" y="2057400"/>
            <a:ext cx="10676763" cy="1908683"/>
            <a:chOff x="753237" y="2057400"/>
            <a:chExt cx="10676763" cy="1908683"/>
          </a:xfrm>
        </p:grpSpPr>
        <p:sp>
          <p:nvSpPr>
            <p:cNvPr id="7" name="Rectangle 7"/>
            <p:cNvSpPr/>
            <p:nvPr/>
          </p:nvSpPr>
          <p:spPr>
            <a:xfrm>
              <a:off x="762000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852297" y="2101850"/>
              <a:ext cx="860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0351" y="2279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申请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06930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2197227" y="2101850"/>
              <a:ext cx="860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76233" y="2279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审批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52812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3543110" y="2101850"/>
              <a:ext cx="860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21163" y="2279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拨付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798695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4888992" y="2101850"/>
              <a:ext cx="860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67046" y="2279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使用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43625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6233922" y="2101850"/>
              <a:ext cx="860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11976" y="2279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报销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88555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7578852" y="2101850"/>
              <a:ext cx="860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57858" y="2279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核销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834438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8924734" y="2101850"/>
              <a:ext cx="860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02788" y="2279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决算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180320" y="2057400"/>
              <a:ext cx="124968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10270617" y="2101850"/>
              <a:ext cx="860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48671" y="2279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归档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3237" y="285115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每笔钱都有身份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318135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Rectangle 33"/>
            <p:cNvSpPr/>
            <p:nvPr/>
          </p:nvSpPr>
          <p:spPr>
            <a:xfrm>
              <a:off x="762000" y="34004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964692" y="33210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编号自动生成，不会重号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7814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964692" y="37020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合同、支付凭证、划转凭证全链条挂接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7737" y="28511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花超了会提醒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86500" y="318135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9" name="Rectangle 39"/>
            <p:cNvSpPr/>
            <p:nvPr/>
          </p:nvSpPr>
          <p:spPr>
            <a:xfrm>
              <a:off x="6286500" y="34004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6489192" y="3321050"/>
              <a:ext cx="2812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预算三级预警：80% / 90% / 100%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86500" y="37814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6489192" y="370205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异常监控：超支、偏差、闲置、重复支付、缺凭证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核心能力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60883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审批中心：谁批的、什么时候批的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3" name="approval"/>
          <p:cNvGrpSpPr/>
          <p:nvPr/>
        </p:nvGrpSpPr>
        <p:grpSpPr>
          <a:xfrm>
            <a:off x="762000" y="2771775"/>
            <a:ext cx="9791700" cy="2632583"/>
            <a:chOff x="762000" y="2771775"/>
            <a:chExt cx="9791700" cy="2632583"/>
          </a:xfrm>
        </p:grpSpPr>
        <p:sp>
          <p:nvSpPr>
            <p:cNvPr id="7" name="Line 7"/>
            <p:cNvSpPr/>
            <p:nvPr/>
          </p:nvSpPr>
          <p:spPr>
            <a:xfrm>
              <a:off x="1828800" y="2962275"/>
              <a:ext cx="8534400" cy="9525"/>
            </a:xfrm>
            <a:custGeom>
              <a:avLst/>
              <a:gdLst/>
              <a:ahLst/>
              <a:cxnLst/>
              <a:rect l="l" t="t" r="r" b="b"/>
              <a:pathLst>
                <a:path w="8534400" h="9525">
                  <a:moveTo>
                    <a:pt x="0" y="0"/>
                  </a:moveTo>
                  <a:lnTo>
                    <a:pt x="853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638300" y="27717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741836" y="2882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1536" y="32607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提交申请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771900" y="27717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3875436" y="2882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30523" y="326072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待审批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905500" y="27717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6009036" y="2882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64123" y="326072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审批中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039100" y="27717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8142636" y="2882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31306" y="3260725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通过 / 驳回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0172700" y="27717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276236" y="2882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06711" y="326072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归档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6957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64692" y="361632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申请人能看到自己的申请走到哪一步。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0767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64692" y="399732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审批人有一个待办池，可以批量处理。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44577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964692" y="437832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驳回必须写原因，前后端都会校验，不能空着提交。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48387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964692" y="475932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转审会把任务移交出去，链条完整记录，不会丢件。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52197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964692" y="514032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所有审批动作都写日志，事后能查清谁批的、什么时候批的。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核心能力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数据上报：下级打包，上级接收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2" name="report"/>
          <p:cNvGrpSpPr/>
          <p:nvPr/>
        </p:nvGrpSpPr>
        <p:grpSpPr>
          <a:xfrm>
            <a:off x="762000" y="3181350"/>
            <a:ext cx="10086582" cy="1842008"/>
            <a:chOff x="762000" y="3181350"/>
            <a:chExt cx="10086582" cy="1842008"/>
          </a:xfrm>
        </p:grpSpPr>
        <p:sp>
          <p:nvSpPr>
            <p:cNvPr id="7" name="Line 7"/>
            <p:cNvSpPr/>
            <p:nvPr/>
          </p:nvSpPr>
          <p:spPr>
            <a:xfrm>
              <a:off x="1650682" y="3343275"/>
              <a:ext cx="8890635" cy="9525"/>
            </a:xfrm>
            <a:custGeom>
              <a:avLst/>
              <a:gdLst/>
              <a:ahLst/>
              <a:cxnLst/>
              <a:rect l="l" t="t" r="r" b="b"/>
              <a:pathLst>
                <a:path w="8890635" h="9525">
                  <a:moveTo>
                    <a:pt x="0" y="0"/>
                  </a:moveTo>
                  <a:lnTo>
                    <a:pt x="889063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488758" y="3181350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563718" y="3263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3419" y="36417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下级录入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267075" y="3181350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3342036" y="3263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46349" y="36417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生成上报包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045392" y="3181350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5120353" y="3263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00054" y="36417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上级接收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822758" y="3181350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897718" y="3263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02031" y="36417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字段级校验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601075" y="3181350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8676036" y="3263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55736" y="36417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预览确认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0379392" y="3181350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10454353" y="3263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34054" y="36417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数据可见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40767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964692" y="399732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上报包里带着组织、记录数、校验和，接收端先验包再入库。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44577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64692" y="437832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校验结果分三级：通过、已纠正、被拒，问题数据会标出来。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48387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964692" y="475932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只有管理员能接收，普通用户只能打包上报。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核心能力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数据分析：从数字到结论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6" name="analysis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0416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成效分析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34766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078992" y="33972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村与村对比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8004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7211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年与年对比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71550" y="4124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1078992" y="40449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帮扶措施与结果关联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815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43815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582287" y="30416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资金分析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1050" y="34766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98492" y="33972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钱花在哪些板块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91050" y="38004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4698492" y="37211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各单位投入排名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91050" y="4124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4698492" y="40449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预算执行进度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01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6" name="Rectangle 26"/>
            <p:cNvSpPr/>
            <p:nvPr/>
          </p:nvSpPr>
          <p:spPr>
            <a:xfrm>
              <a:off x="8001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8201787" y="30416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项目分析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210550" y="34766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8317992" y="33972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项目进度分布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210550" y="38004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8317992" y="37211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滞后项目预警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210550" y="4124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8317992" y="40449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验收完成率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985647" y="5695950"/>
              <a:ext cx="43893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所有图表都能按村、按年度、按单位筛选下钻；报表可导出 Excel 或 PDF。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核心能力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大屏汇报：一屏讲清成效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17" name="bigscreen"/>
          <p:cNvGrpSpPr/>
          <p:nvPr/>
        </p:nvGrpSpPr>
        <p:grpSpPr>
          <a:xfrm>
            <a:off x="762000" y="2987675"/>
            <a:ext cx="4359326" cy="1788033"/>
            <a:chOff x="762000" y="2987675"/>
            <a:chExt cx="4359326" cy="1788033"/>
          </a:xfrm>
        </p:grpSpPr>
        <p:sp>
          <p:nvSpPr>
            <p:cNvPr id="7" name="Rectangle 7"/>
            <p:cNvSpPr/>
            <p:nvPr/>
          </p:nvSpPr>
          <p:spPr>
            <a:xfrm>
              <a:off x="762000" y="30670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64692" y="2987675"/>
              <a:ext cx="41566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进入大屏模式即可全屏汇报，KPI 与图表一屏讲清。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34480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64692" y="336867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支持按帮扶村、学校、单位筛选下钻。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8290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64692" y="3749675"/>
              <a:ext cx="3666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字号可按观看距离切换：3 米、6 米、10 米。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42100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964692" y="4130675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可开启 15 秒自动轮播，随时暂停或继续。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45910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64692" y="451167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退出时先退全屏再回工作台，不会卡在中间状态。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核心能力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68961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影像与消费帮扶：照片留证、以购代捐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media"/>
          <p:cNvGrpSpPr/>
          <p:nvPr/>
        </p:nvGrpSpPr>
        <p:grpSpPr>
          <a:xfrm>
            <a:off x="753237" y="2108200"/>
            <a:ext cx="10676763" cy="3949700"/>
            <a:chOff x="753237" y="2108200"/>
            <a:chExt cx="10676763" cy="3949700"/>
          </a:xfrm>
        </p:grpSpPr>
        <p:sp>
          <p:nvSpPr>
            <p:cNvPr id="7" name="TextBox 7"/>
            <p:cNvSpPr txBox="1"/>
            <p:nvPr/>
          </p:nvSpPr>
          <p:spPr>
            <a:xfrm>
              <a:off x="753237" y="210820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影像库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Rectangle 9"/>
            <p:cNvSpPr/>
            <p:nvPr/>
          </p:nvSpPr>
          <p:spPr>
            <a:xfrm>
              <a:off x="7620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64692" y="25781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按项目、村、时间自动归类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64692" y="29591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支持多期对比图，前后变化一目了然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964692" y="33401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照片可作为验收与成效的佐证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7737" y="210820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消费帮扶台账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865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62865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489192" y="25781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逐笔登记购买方、金额、农产品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6489192" y="29591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自动形成统计，可导出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6489192" y="3340100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是"以购代捐"成效的直接证据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5647" y="5695950"/>
              <a:ext cx="37038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两块内容都能导出成材料，汇报时不用再临时找照片、翻台账。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251B"/>
            </a:gs>
            <a:gs pos="55000">
              <a:schemeClr val="lt1"/>
            </a:gs>
            <a:gs pos="100000">
              <a:srgbClr val="1E3A2C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1377950"/>
            <a:ext cx="2172056" cy="2733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0" b="1" dirty="0">
                <a:solidFill>
                  <a:schemeClr val="accent2">
                    <a:alphaMod val="14000"/>
                  </a:schemeClr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3117850"/>
            <a:ext cx="219875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spc="1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安全可信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4385" y="3765550"/>
            <a:ext cx="23427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3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SECURITY &amp; TRUST</a:t>
            </a:r>
          </a:p>
        </p:txBody>
      </p:sp>
      <p:sp>
        <p:nvSpPr>
          <p:cNvPr id="5" name="Rectangle 5"/>
          <p:cNvSpPr/>
          <p:nvPr/>
        </p:nvSpPr>
        <p:spPr>
          <a:xfrm>
            <a:off x="781050" y="4191000"/>
            <a:ext cx="1333500" cy="19050"/>
          </a:xfrm>
          <a:prstGeom prst="rect">
            <a:avLst/>
          </a:prstGeom>
          <a:gradFill>
            <a:gsLst>
              <a:gs pos="0">
                <a:schemeClr val="accent2">
                  <a:alpha val="90000"/>
                </a:schemeClr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5" name="section-items"/>
          <p:cNvGrpSpPr/>
          <p:nvPr/>
        </p:nvGrpSpPr>
        <p:grpSpPr>
          <a:xfrm>
            <a:off x="5334000" y="1635125"/>
            <a:ext cx="5715000" cy="2755900"/>
            <a:chOff x="5334000" y="1635125"/>
            <a:chExt cx="5715000" cy="2755900"/>
          </a:xfrm>
        </p:grpSpPr>
        <p:sp>
          <p:nvSpPr>
            <p:cNvPr id="6" name="Rectangle 6"/>
            <p:cNvSpPr/>
            <p:nvPr/>
          </p:nvSpPr>
          <p:spPr>
            <a:xfrm>
              <a:off x="5334000" y="17145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5630418" y="163512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四道门：登录、角色、数据域、审计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0" y="24574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5630418" y="237807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数据只给该看的人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0" y="32004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5630418" y="312102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敏感信息加密与脱敏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0" y="39433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5630418" y="386397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备份恢复与安装包可信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334000" y="43815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2E463B"/>
              </a:solidFill>
            </a:ln>
          </p:spPr>
          <p:txBody>
            <a:bodyPr/>
            <a:p/>
          </p:txBody>
        </p:sp>
      </p:grpSp>
      <p:sp>
        <p:nvSpPr>
          <p:cNvPr id="16" name="TextBox 16"/>
          <p:cNvSpPr txBox="1"/>
          <p:nvPr/>
        </p:nvSpPr>
        <p:spPr>
          <a:xfrm>
            <a:off x="757047" y="6286500"/>
            <a:ext cx="72231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03 安全可信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安全可信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64922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四道门：登录、角色、数据域、审计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four-gates"/>
          <p:cNvGrpSpPr/>
          <p:nvPr/>
        </p:nvGrpSpPr>
        <p:grpSpPr>
          <a:xfrm>
            <a:off x="762000" y="2057400"/>
            <a:ext cx="10668000" cy="3752850"/>
            <a:chOff x="762000" y="2057400"/>
            <a:chExt cx="10668000" cy="3752850"/>
          </a:xfrm>
        </p:grpSpPr>
        <p:sp>
          <p:nvSpPr>
            <p:cNvPr id="7" name="Rectangle 7"/>
            <p:cNvSpPr/>
            <p:nvPr/>
          </p:nvSpPr>
          <p:spPr>
            <a:xfrm>
              <a:off x="762000" y="2057400"/>
              <a:ext cx="10668000" cy="6858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05740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019937" y="2260600"/>
              <a:ext cx="124819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第一道 登录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3142" y="229235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账号密码进入，可选双因子；连续输错会临时锁定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876550"/>
              <a:ext cx="10668000" cy="6858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762000" y="287655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19937" y="3079750"/>
              <a:ext cx="124819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第二道 角色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142" y="3111500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四种角色决定"能做什么"：能不能新增、能不能审批、能不能改配置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695700"/>
              <a:ext cx="10668000" cy="6858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762000" y="369570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1019937" y="3898900"/>
              <a:ext cx="147974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第三道 数据域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3142" y="3930650"/>
              <a:ext cx="457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决定"能看哪些数据"：全局、本组织及下级、仅本人三档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514850"/>
              <a:ext cx="10668000" cy="6858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762000" y="451485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19937" y="4718050"/>
              <a:ext cx="124819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第四道 审计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03142" y="474980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所有关键操作留痕，事后可追溯到人、到时间、到字段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33400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5647" y="5448300"/>
              <a:ext cx="46273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四层是叠加关系，不是四选一：过了登录还要过角色，过了角色还要过数据域。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安全可信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数据只给该看的人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1" name="isolation"/>
          <p:cNvGrpSpPr/>
          <p:nvPr/>
        </p:nvGrpSpPr>
        <p:grpSpPr>
          <a:xfrm>
            <a:off x="762000" y="2152650"/>
            <a:ext cx="10668000" cy="2765933"/>
            <a:chOff x="762000" y="2152650"/>
            <a:chExt cx="10668000" cy="2765933"/>
          </a:xfrm>
        </p:grpSpPr>
        <p:sp>
          <p:nvSpPr>
            <p:cNvPr id="7" name="Rectangle 7"/>
            <p:cNvSpPr/>
            <p:nvPr/>
          </p:nvSpPr>
          <p:spPr>
            <a:xfrm>
              <a:off x="762000" y="2152650"/>
              <a:ext cx="3429000" cy="161925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152650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24701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5835" y="28130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超级管理员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71550" y="31146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1078992" y="30353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不过滤，全部可见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2152650"/>
              <a:ext cx="3429000" cy="161925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4" name="Rectangle 14"/>
            <p:cNvSpPr/>
            <p:nvPr/>
          </p:nvSpPr>
          <p:spPr>
            <a:xfrm>
              <a:off x="4381500" y="2152650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4582287" y="24701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本组织及下级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85335" y="281305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管理员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91050" y="31146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698492" y="3035300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本组织 + 下级组织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01000" y="2152650"/>
              <a:ext cx="3429000" cy="161925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8001000" y="2152650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8201787" y="247015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仅本人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04835" y="28130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普通用户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210550" y="31146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8317992" y="30353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只看自己录入的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39719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64692" y="3892550"/>
              <a:ext cx="457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无组织的用户绝不升级为管理员，一律回退到"仅本人"。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43529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964692" y="4273550"/>
              <a:ext cx="40301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模型缺少过滤列时降级为"仅本人"，而不是放行。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47339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964692" y="4654550"/>
              <a:ext cx="4757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连归属列都缺时返回空集——宁可看不到，也绝不返回全量。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安全可信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敏感信息加密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1" name="encrypt"/>
          <p:cNvGrpSpPr/>
          <p:nvPr/>
        </p:nvGrpSpPr>
        <p:grpSpPr>
          <a:xfrm>
            <a:off x="762000" y="2057400"/>
            <a:ext cx="10668000" cy="3562350"/>
            <a:chOff x="762000" y="2057400"/>
            <a:chExt cx="10668000" cy="3562350"/>
          </a:xfrm>
        </p:grpSpPr>
        <p:sp>
          <p:nvSpPr>
            <p:cNvPr id="7" name="Rectangle 7"/>
            <p:cNvSpPr/>
            <p:nvPr/>
          </p:nvSpPr>
          <p:spPr>
            <a:xfrm>
              <a:off x="762000" y="2057400"/>
              <a:ext cx="10668000" cy="8953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057400"/>
              <a:ext cx="38100" cy="895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019937" y="23653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存储加密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3142" y="2397125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身份证号等敏感字段在数据库里就是密文，直接打开数据库文件也看不到明文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086100"/>
              <a:ext cx="10668000" cy="8953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762000" y="3086100"/>
              <a:ext cx="38100" cy="895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19937" y="33940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展示脱敏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142" y="342582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按角色掩码：有权限看全，没权限只看到星号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4114800"/>
              <a:ext cx="10668000" cy="8953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762000" y="4114800"/>
              <a:ext cx="38100" cy="895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1019937" y="44227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导出可控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3142" y="445452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导出时可选择脱敏，避免材料外传造成泄露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514350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85647" y="5257800"/>
              <a:ext cx="46273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重要提醒：加密密钥一旦丢失，历史密文将无法解开，请随备份一起妥善保管。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安全可信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操作留痕：谁改了什么都查得到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audit"/>
          <p:cNvGrpSpPr/>
          <p:nvPr/>
        </p:nvGrpSpPr>
        <p:grpSpPr>
          <a:xfrm>
            <a:off x="762000" y="2057400"/>
            <a:ext cx="10668000" cy="3752850"/>
            <a:chOff x="762000" y="2057400"/>
            <a:chExt cx="10668000" cy="3752850"/>
          </a:xfrm>
        </p:grpSpPr>
        <p:sp>
          <p:nvSpPr>
            <p:cNvPr id="7" name="Rectangle 7"/>
            <p:cNvSpPr/>
            <p:nvPr/>
          </p:nvSpPr>
          <p:spPr>
            <a:xfrm>
              <a:off x="762000" y="2057400"/>
              <a:ext cx="10668000" cy="6858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05740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019937" y="226060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字段级变更历史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3142" y="229235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某条记录的某个字段，改前是什么、改后是什么、谁改的、何时改的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876550"/>
              <a:ext cx="10668000" cy="6858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762000" y="287655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19937" y="30797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工作日志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142" y="311150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业务动作流水：新增、审批、上报、导出、恢复等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695700"/>
              <a:ext cx="10668000" cy="6858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762000" y="369570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1019937" y="38989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审计日志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3142" y="393065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敏感操作单独记录：权限变更、配置修改、数据恢复、批量删除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514850"/>
              <a:ext cx="10668000" cy="6858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762000" y="451485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19937" y="47180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登录记录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03142" y="474980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谁在什么时间、从哪台机器登录，失败尝试也记录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33400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5647" y="5448300"/>
              <a:ext cx="46273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出问题时不需要回忆，直接查记录：时间、人、动作、字段四个维度都能定位。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安全可信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备份与恢复：数据丢了怎么办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backup"/>
          <p:cNvGrpSpPr/>
          <p:nvPr/>
        </p:nvGrpSpPr>
        <p:grpSpPr>
          <a:xfrm>
            <a:off x="762000" y="2962275"/>
            <a:ext cx="9272333" cy="2251583"/>
            <a:chOff x="762000" y="2962275"/>
            <a:chExt cx="9272333" cy="2251583"/>
          </a:xfrm>
        </p:grpSpPr>
        <p:sp>
          <p:nvSpPr>
            <p:cNvPr id="7" name="Line 7"/>
            <p:cNvSpPr/>
            <p:nvPr/>
          </p:nvSpPr>
          <p:spPr>
            <a:xfrm>
              <a:off x="2540318" y="3152775"/>
              <a:ext cx="7111365" cy="9525"/>
            </a:xfrm>
            <a:custGeom>
              <a:avLst/>
              <a:gdLst/>
              <a:ahLst/>
              <a:cxnLst/>
              <a:rect l="l" t="t" r="r" b="b"/>
              <a:pathLst>
                <a:path w="7111365" h="9525">
                  <a:moveTo>
                    <a:pt x="0" y="0"/>
                  </a:moveTo>
                  <a:lnTo>
                    <a:pt x="711136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2349818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2453353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33054" y="34512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创建备份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9055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60090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88736" y="34512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存放介质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9461182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9564718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69031" y="34512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需要时恢复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886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964692" y="3806825"/>
              <a:ext cx="47779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三种触发方式：手动点、按计划自动、插入 U 盘即时备份。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267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64692" y="4187825"/>
              <a:ext cx="33240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备份包可以加密，放到 U 盘或异地保存。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4648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964692" y="456882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恢复会覆盖当前数据库，所以恢复前系统会先自动备份一次。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029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64692" y="4949825"/>
              <a:ext cx="47661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建议节奏：每周一次定期备份 + 重大操作前手动备份一次。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安全可信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离线也能安全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0" name="offline-sec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203575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只监听本机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078992" y="35591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服务只绑定本机回环地址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88302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外部网络无法直接连进来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5" name="Rectangle 15"/>
            <p:cNvSpPr/>
            <p:nvPr/>
          </p:nvSpPr>
          <p:spPr>
            <a:xfrm>
              <a:off x="43815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4582287" y="3203575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没有云端账号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910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698492" y="35591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不存在云端账号体系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10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98492" y="388302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也就没有云端泄露风险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2" name="Rectangle 22"/>
            <p:cNvSpPr/>
            <p:nvPr/>
          </p:nvSpPr>
          <p:spPr>
            <a:xfrm>
              <a:off x="8001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8201787" y="3203575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介质也打不开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210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317992" y="355917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跨机交换走加密数据包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210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8317992" y="3883025"/>
              <a:ext cx="1812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U 盘丢了别人也解不开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85647" y="5695950"/>
              <a:ext cx="43635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离线不是妥协，而是这套系统安全模型的基础：数据不流动，攻击面就小。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安全可信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0497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安装包可信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1" name="supply"/>
          <p:cNvGrpSpPr/>
          <p:nvPr/>
        </p:nvGrpSpPr>
        <p:grpSpPr>
          <a:xfrm>
            <a:off x="762000" y="2962275"/>
            <a:ext cx="9908464" cy="2251583"/>
            <a:chOff x="762000" y="2962275"/>
            <a:chExt cx="9908464" cy="2251583"/>
          </a:xfrm>
        </p:grpSpPr>
        <p:sp>
          <p:nvSpPr>
            <p:cNvPr id="7" name="Line 7"/>
            <p:cNvSpPr/>
            <p:nvPr/>
          </p:nvSpPr>
          <p:spPr>
            <a:xfrm>
              <a:off x="1828800" y="3152775"/>
              <a:ext cx="8534400" cy="9525"/>
            </a:xfrm>
            <a:custGeom>
              <a:avLst/>
              <a:gdLst/>
              <a:ahLst/>
              <a:cxnLst/>
              <a:rect l="l" t="t" r="r" b="b"/>
              <a:pathLst>
                <a:path w="8534400" h="9525">
                  <a:moveTo>
                    <a:pt x="0" y="0"/>
                  </a:moveTo>
                  <a:lnTo>
                    <a:pt x="853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6383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7418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1536" y="34512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源码仓库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7719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38754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55136" y="34512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自动构建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9055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60090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13349" y="34512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生成校验值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0391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81426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22336" y="34512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发布分发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01727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2762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55936" y="34512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安装校验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886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64692" y="3806825"/>
              <a:ext cx="6022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源码托管在 GitHub，构建由 GitHub Actions 自动完成，不经过个人电脑。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267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64692" y="4187825"/>
              <a:ext cx="5124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每个安装包都附 SHA256 校验值，可以逐字节验证是否被篡改。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4648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964692" y="4568825"/>
              <a:ext cx="4938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依赖与运行时版本全部钉扎，避免"今天能装、明天装不上"。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5029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964692" y="4949825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发布前强制校验代码门禁全绿，测试不过不允许出包。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251B"/>
            </a:gs>
            <a:gs pos="55000">
              <a:schemeClr val="lt1"/>
            </a:gs>
            <a:gs pos="100000">
              <a:srgbClr val="1E3A2C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1377950"/>
            <a:ext cx="2172056" cy="2733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0" b="1" dirty="0">
                <a:solidFill>
                  <a:schemeClr val="accent2">
                    <a:alphaMod val="14000"/>
                  </a:schemeClr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3117850"/>
            <a:ext cx="219875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spc="1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技术底座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4385" y="3765550"/>
            <a:ext cx="16068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3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TECHNOLOGY</a:t>
            </a:r>
          </a:p>
        </p:txBody>
      </p:sp>
      <p:sp>
        <p:nvSpPr>
          <p:cNvPr id="5" name="Rectangle 5"/>
          <p:cNvSpPr/>
          <p:nvPr/>
        </p:nvSpPr>
        <p:spPr>
          <a:xfrm>
            <a:off x="781050" y="4191000"/>
            <a:ext cx="1333500" cy="19050"/>
          </a:xfrm>
          <a:prstGeom prst="rect">
            <a:avLst/>
          </a:prstGeom>
          <a:gradFill>
            <a:gsLst>
              <a:gs pos="0">
                <a:schemeClr val="accent2">
                  <a:alpha val="90000"/>
                </a:schemeClr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3" name="section-items"/>
          <p:cNvGrpSpPr/>
          <p:nvPr/>
        </p:nvGrpSpPr>
        <p:grpSpPr>
          <a:xfrm>
            <a:off x="5334000" y="1635125"/>
            <a:ext cx="5715000" cy="2012950"/>
            <a:chOff x="5334000" y="1635125"/>
            <a:chExt cx="5715000" cy="2012950"/>
          </a:xfrm>
        </p:grpSpPr>
        <p:sp>
          <p:nvSpPr>
            <p:cNvPr id="6" name="Rectangle 6"/>
            <p:cNvSpPr/>
            <p:nvPr/>
          </p:nvSpPr>
          <p:spPr>
            <a:xfrm>
              <a:off x="5334000" y="17145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5630418" y="163512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技术选型：为什么是这三样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0" y="24574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5630418" y="23780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系统规模：几个数字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0" y="32004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5630418" y="312102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质量保障：怎么保证不出错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334000" y="36385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2E463B"/>
              </a:solidFill>
            </a:ln>
          </p:spPr>
          <p:txBody>
            <a:bodyPr/>
            <a:p/>
          </p:txBody>
        </p:sp>
      </p:grpSp>
      <p:sp>
        <p:nvSpPr>
          <p:cNvPr id="14" name="TextBox 14"/>
          <p:cNvSpPr txBox="1"/>
          <p:nvPr/>
        </p:nvSpPr>
        <p:spPr>
          <a:xfrm>
            <a:off x="757047" y="6286500"/>
            <a:ext cx="72231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04 技术底座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技术底座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8768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技术选型：为什么是这三样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47" name="tech"/>
          <p:cNvGrpSpPr/>
          <p:nvPr/>
        </p:nvGrpSpPr>
        <p:grpSpPr>
          <a:xfrm>
            <a:off x="762000" y="2486025"/>
            <a:ext cx="10668000" cy="3571875"/>
            <a:chOff x="762000" y="2486025"/>
            <a:chExt cx="10668000" cy="3571875"/>
          </a:xfrm>
        </p:grpSpPr>
        <p:sp>
          <p:nvSpPr>
            <p:cNvPr id="7" name="Rectangle 7"/>
            <p:cNvSpPr/>
            <p:nvPr/>
          </p:nvSpPr>
          <p:spPr>
            <a:xfrm>
              <a:off x="762000" y="2486025"/>
              <a:ext cx="2524125" cy="253365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4860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2936875"/>
              <a:ext cx="145947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后端 FastAPI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5835" y="3279775"/>
              <a:ext cx="5136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Python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71550" y="3581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1078992" y="35020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启动快、依赖少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71550" y="39052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1078992" y="38258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接口文档自动生成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71550" y="42291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078992" y="41497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便于长期维护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76625" y="2486025"/>
              <a:ext cx="2524125" cy="253365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8" name="Rectangle 18"/>
            <p:cNvSpPr/>
            <p:nvPr/>
          </p:nvSpPr>
          <p:spPr>
            <a:xfrm>
              <a:off x="3476625" y="24860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677412" y="2936875"/>
              <a:ext cx="117420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前端 Vue 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80460" y="3279775"/>
              <a:ext cx="811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TypeScript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686175" y="3581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3793617" y="35020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界面响应快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686175" y="39052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3793617" y="38258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类型约束防低级错误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86175" y="42291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3793617" y="41497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组件化易扩展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91250" y="2486025"/>
              <a:ext cx="2524125" cy="253365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8" name="Rectangle 28"/>
            <p:cNvSpPr/>
            <p:nvPr/>
          </p:nvSpPr>
          <p:spPr>
            <a:xfrm>
              <a:off x="6191250" y="24860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6392037" y="2936875"/>
              <a:ext cx="159968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数据库 SQLite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95085" y="32797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00800" y="3581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6508242" y="35020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免安装、零运维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00800" y="39052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6508242" y="38258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随备份整个带走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00800" y="42291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6508242" y="41497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支持事务与外键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905875" y="2486025"/>
              <a:ext cx="2524125" cy="253365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8" name="Rectangle 38"/>
            <p:cNvSpPr/>
            <p:nvPr/>
          </p:nvSpPr>
          <p:spPr>
            <a:xfrm>
              <a:off x="8905875" y="24860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9" name="TextBox 39"/>
            <p:cNvSpPr txBox="1"/>
            <p:nvPr/>
          </p:nvSpPr>
          <p:spPr>
            <a:xfrm>
              <a:off x="9106662" y="3098800"/>
              <a:ext cx="18017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桌面壳 Electron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09710" y="34417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双击即用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115425" y="3743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9222867" y="36639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网页应用变桌面程序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115425" y="40671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9222867" y="39878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内置运行时无需预装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6" name="TextBox 46"/>
            <p:cNvSpPr txBox="1"/>
            <p:nvPr/>
          </p:nvSpPr>
          <p:spPr>
            <a:xfrm>
              <a:off x="985647" y="5695950"/>
              <a:ext cx="44954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选型只服务三个目标：能离线、跑得稳、好维护。没有为了新技术而新技术。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技术底座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系统规模：几个数字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285" y="1441450"/>
            <a:ext cx="1820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数字说明它不是一个小工具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18288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42" name="kpi-grid"/>
          <p:cNvGrpSpPr/>
          <p:nvPr/>
        </p:nvGrpSpPr>
        <p:grpSpPr>
          <a:xfrm>
            <a:off x="762000" y="2209800"/>
            <a:ext cx="10668000" cy="3409950"/>
            <a:chOff x="762000" y="2209800"/>
            <a:chExt cx="10668000" cy="3409950"/>
          </a:xfrm>
        </p:grpSpPr>
        <p:sp>
          <p:nvSpPr>
            <p:cNvPr id="8" name="Rectangle 8"/>
            <p:cNvSpPr/>
            <p:nvPr/>
          </p:nvSpPr>
          <p:spPr>
            <a:xfrm>
              <a:off x="762000" y="2209800"/>
              <a:ext cx="2495550" cy="125730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9" name="Rectangle 9"/>
            <p:cNvSpPr/>
            <p:nvPr/>
          </p:nvSpPr>
          <p:spPr>
            <a:xfrm>
              <a:off x="990600" y="2419350"/>
              <a:ext cx="3429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73074" y="2559050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885" y="31369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接口模块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86150" y="2209800"/>
              <a:ext cx="2495550" cy="125730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3" name="Rectangle 13"/>
            <p:cNvSpPr/>
            <p:nvPr/>
          </p:nvSpPr>
          <p:spPr>
            <a:xfrm>
              <a:off x="3714750" y="2419350"/>
              <a:ext cx="3429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3697224" y="2559050"/>
              <a:ext cx="83969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849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9035" y="31369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接口端点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10300" y="2209800"/>
              <a:ext cx="2495550" cy="125730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6438900" y="2419350"/>
              <a:ext cx="3429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421374" y="2559050"/>
              <a:ext cx="83969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33185" y="3136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934450" y="2209800"/>
              <a:ext cx="2495550" cy="125730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1" name="Rectangle 21"/>
            <p:cNvSpPr/>
            <p:nvPr/>
          </p:nvSpPr>
          <p:spPr>
            <a:xfrm>
              <a:off x="9163050" y="2419350"/>
              <a:ext cx="3429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9145524" y="2559050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57335" y="31369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数据库版本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3657600"/>
              <a:ext cx="2495550" cy="125730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5" name="Rectangle 25"/>
            <p:cNvSpPr/>
            <p:nvPr/>
          </p:nvSpPr>
          <p:spPr>
            <a:xfrm>
              <a:off x="990600" y="3867150"/>
              <a:ext cx="3429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73074" y="4006850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885" y="45847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角色类型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86150" y="3657600"/>
              <a:ext cx="2495550" cy="125730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9" name="Rectangle 29"/>
            <p:cNvSpPr/>
            <p:nvPr/>
          </p:nvSpPr>
          <p:spPr>
            <a:xfrm>
              <a:off x="3714750" y="3867150"/>
              <a:ext cx="3429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3697224" y="4006850"/>
              <a:ext cx="164433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22,244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09035" y="4584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自动化测试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10300" y="3657600"/>
              <a:ext cx="2495550" cy="125730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3" name="Rectangle 33"/>
            <p:cNvSpPr/>
            <p:nvPr/>
          </p:nvSpPr>
          <p:spPr>
            <a:xfrm>
              <a:off x="6438900" y="3867150"/>
              <a:ext cx="3429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6421374" y="4006850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185" y="4584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视觉回归页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934450" y="3657600"/>
              <a:ext cx="2495550" cy="125730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7" name="Rectangle 37"/>
            <p:cNvSpPr/>
            <p:nvPr/>
          </p:nvSpPr>
          <p:spPr>
            <a:xfrm>
              <a:off x="9163050" y="3867150"/>
              <a:ext cx="3429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9145524" y="4006850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57335" y="4584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平台安装包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514350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985647" y="5257800"/>
              <a:ext cx="48186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数据来源：2026-10-27 实测（v1.18.15）—— 后端 14,870 用例 + 前端 7,374 用例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技术底座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8768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质量保障：怎么保证不出错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8" name="quality"/>
          <p:cNvGrpSpPr/>
          <p:nvPr/>
        </p:nvGrpSpPr>
        <p:grpSpPr>
          <a:xfrm>
            <a:off x="762000" y="2962275"/>
            <a:ext cx="9717151" cy="2251583"/>
            <a:chOff x="762000" y="2962275"/>
            <a:chExt cx="9717151" cy="2251583"/>
          </a:xfrm>
        </p:grpSpPr>
        <p:sp>
          <p:nvSpPr>
            <p:cNvPr id="7" name="Line 7"/>
            <p:cNvSpPr/>
            <p:nvPr/>
          </p:nvSpPr>
          <p:spPr>
            <a:xfrm>
              <a:off x="2095500" y="3152775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9050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20085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63623" y="345122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5720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46755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30623" y="345122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跑测试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73425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97623" y="345122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过门禁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9060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100095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13849" y="34512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才允许合入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886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64692" y="3806825"/>
              <a:ext cx="5692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后端 14,870 个自动化用例，前端 7,374 个用例，每次改动全部重跑。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4267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964692" y="4187825"/>
              <a:ext cx="432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覆盖率硬门禁 100%：少测一行代码，合入就会失败。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648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964692" y="456882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静态检查零告警：代码风格、安全扫描、复杂度都有硬阈值。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5029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964692" y="4949825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每次提交自动跑全部检查，结果直接贴在提交记录上。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技术底座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版本演进：一年走到哪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40" name="versions"/>
          <p:cNvGrpSpPr/>
          <p:nvPr/>
        </p:nvGrpSpPr>
        <p:grpSpPr>
          <a:xfrm>
            <a:off x="762000" y="2871788"/>
            <a:ext cx="10114090" cy="2461133"/>
            <a:chOff x="762000" y="2871788"/>
            <a:chExt cx="10114090" cy="2461133"/>
          </a:xfrm>
        </p:grpSpPr>
        <p:sp>
          <p:nvSpPr>
            <p:cNvPr id="7" name="Line 7"/>
            <p:cNvSpPr/>
            <p:nvPr/>
          </p:nvSpPr>
          <p:spPr>
            <a:xfrm>
              <a:off x="1650682" y="3033712"/>
              <a:ext cx="8890635" cy="9525"/>
            </a:xfrm>
            <a:custGeom>
              <a:avLst/>
              <a:gdLst/>
              <a:ahLst/>
              <a:cxnLst/>
              <a:rect l="l" t="t" r="r" b="b"/>
              <a:pathLst>
                <a:path w="8890635" h="9525">
                  <a:moveTo>
                    <a:pt x="0" y="0"/>
                  </a:moveTo>
                  <a:lnTo>
                    <a:pt x="889063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488758" y="2871788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563718" y="29543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27287" y="3332162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v1.13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1874" y="3595688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导航重构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267075" y="2871788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3342036" y="29543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05604" y="3332162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v1.14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94228" y="3595688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功能大迭代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045392" y="2871788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5120353" y="29543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83922" y="3332162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v1.15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73047" y="3582988"/>
              <a:ext cx="4685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UI v2.0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822758" y="2871788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6897718" y="29543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61287" y="3332162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v1.16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15874" y="3595688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系统管理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601075" y="2871788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676036" y="29543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39604" y="3332162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v1.17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62264" y="3595688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危险操作硬化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10379392" y="2871788"/>
              <a:ext cx="323850" cy="3238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10454353" y="29543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17922" y="3332162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v1.18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06546" y="3595688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效率与门禁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40100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964692" y="3925888"/>
              <a:ext cx="5493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v1.13 把菜单和权限统一到一个来源，解决"菜单对不上"的老问题。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43910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964692" y="4306888"/>
              <a:ext cx="5474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v1.14 补齐一户一档、影像对比、消费台账、凭证识别等业务能力。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" y="47720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7" name="TextBox 37"/>
            <p:cNvSpPr txBox="1"/>
            <p:nvPr/>
          </p:nvSpPr>
          <p:spPr>
            <a:xfrm>
              <a:off x="964692" y="4687888"/>
              <a:ext cx="4202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v1.15 统一界面语言，主题、字号、密度都可以调。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" y="51530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9" name="TextBox 39"/>
            <p:cNvSpPr txBox="1"/>
            <p:nvPr/>
          </p:nvSpPr>
          <p:spPr>
            <a:xfrm>
              <a:off x="964692" y="5068888"/>
              <a:ext cx="6810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v1.16 到 v1.18 主要做收口：系统管理梳理、危险操作加固、录入效率与质量门禁。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技术底座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部署与运维：谁来装、怎么更新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ops"/>
          <p:cNvGrpSpPr/>
          <p:nvPr/>
        </p:nvGrpSpPr>
        <p:grpSpPr>
          <a:xfrm>
            <a:off x="762000" y="2057400"/>
            <a:ext cx="10668000" cy="3752850"/>
            <a:chOff x="762000" y="2057400"/>
            <a:chExt cx="10668000" cy="3752850"/>
          </a:xfrm>
        </p:grpSpPr>
        <p:sp>
          <p:nvSpPr>
            <p:cNvPr id="7" name="Rectangle 7"/>
            <p:cNvSpPr/>
            <p:nvPr/>
          </p:nvSpPr>
          <p:spPr>
            <a:xfrm>
              <a:off x="762000" y="2057400"/>
              <a:ext cx="10668000" cy="6858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05740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019937" y="22606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3142" y="2292350"/>
              <a:ext cx="7021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Windows 与麒麟 ARM64 两种安装包，内置运行时，目标机器无需预装 Python 或 Node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876550"/>
              <a:ext cx="10668000" cy="6858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762000" y="287655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19937" y="30797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使用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142" y="311150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双击启动，浏览器内核内嵌，不需要另外装浏览器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695700"/>
              <a:ext cx="10668000" cy="6858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762000" y="369570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1019937" y="38989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升级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3142" y="393065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升级前强制备份；升级期间写操作闸门挡住并发写入，避免数据写坏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514850"/>
              <a:ext cx="10668000" cy="6858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762000" y="451485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19937" y="47180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03142" y="474980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升级出问题可用升级前的备份恢复，回到旧版本数据状态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33400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5647" y="5448300"/>
              <a:ext cx="361874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安装包与升级包都随 Release 发布，并附 SHA256 校验清单。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251B"/>
            </a:gs>
            <a:gs pos="55000">
              <a:schemeClr val="lt1"/>
            </a:gs>
            <a:gs pos="100000">
              <a:srgbClr val="1E3A2C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1377950"/>
            <a:ext cx="2172056" cy="2733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0" b="1" dirty="0">
                <a:solidFill>
                  <a:schemeClr val="accent2">
                    <a:alphaMod val="14000"/>
                  </a:schemeClr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3117850"/>
            <a:ext cx="219875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spc="1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上手路径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4385" y="3765550"/>
            <a:ext cx="22539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3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GETTING STARTED</a:t>
            </a:r>
          </a:p>
        </p:txBody>
      </p:sp>
      <p:sp>
        <p:nvSpPr>
          <p:cNvPr id="5" name="Rectangle 5"/>
          <p:cNvSpPr/>
          <p:nvPr/>
        </p:nvSpPr>
        <p:spPr>
          <a:xfrm>
            <a:off x="781050" y="4191000"/>
            <a:ext cx="1333500" cy="19050"/>
          </a:xfrm>
          <a:prstGeom prst="rect">
            <a:avLst/>
          </a:prstGeom>
          <a:gradFill>
            <a:gsLst>
              <a:gs pos="0">
                <a:schemeClr val="accent2">
                  <a:alpha val="90000"/>
                </a:schemeClr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5" name="section-items"/>
          <p:cNvGrpSpPr/>
          <p:nvPr/>
        </p:nvGrpSpPr>
        <p:grpSpPr>
          <a:xfrm>
            <a:off x="5334000" y="1635125"/>
            <a:ext cx="5715000" cy="2755900"/>
            <a:chOff x="5334000" y="1635125"/>
            <a:chExt cx="5715000" cy="2755900"/>
          </a:xfrm>
        </p:grpSpPr>
        <p:sp>
          <p:nvSpPr>
            <p:cNvPr id="6" name="Rectangle 6"/>
            <p:cNvSpPr/>
            <p:nvPr/>
          </p:nvSpPr>
          <p:spPr>
            <a:xfrm>
              <a:off x="5334000" y="17145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5630418" y="16351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安装与首次启动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0" y="24574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5630418" y="23780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登录与改密码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0" y="32004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5630418" y="312102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建第一个村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0" y="39433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5630418" y="38639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4EBE6"/>
                  </a:solidFill>
                  <a:latin typeface="+mn-lt"/>
                  <a:ea typeface="+mn-ea"/>
                  <a:cs typeface="+mn-cs"/>
                </a:rPr>
                <a:t>常见问题与术语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334000" y="43815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2E463B"/>
              </a:solidFill>
            </a:ln>
          </p:spPr>
          <p:txBody>
            <a:bodyPr/>
            <a:p/>
          </p:txBody>
        </p:sp>
      </p:grpSp>
      <p:sp>
        <p:nvSpPr>
          <p:cNvPr id="16" name="TextBox 16"/>
          <p:cNvSpPr txBox="1"/>
          <p:nvPr/>
        </p:nvSpPr>
        <p:spPr>
          <a:xfrm>
            <a:off x="757047" y="6286500"/>
            <a:ext cx="72231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05 上手路径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上手路径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第一步：安装与首次启动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8" name="install"/>
          <p:cNvGrpSpPr/>
          <p:nvPr/>
        </p:nvGrpSpPr>
        <p:grpSpPr>
          <a:xfrm>
            <a:off x="762000" y="2962275"/>
            <a:ext cx="9717151" cy="2251583"/>
            <a:chOff x="762000" y="2962275"/>
            <a:chExt cx="9717151" cy="2251583"/>
          </a:xfrm>
        </p:grpSpPr>
        <p:sp>
          <p:nvSpPr>
            <p:cNvPr id="7" name="Line 7"/>
            <p:cNvSpPr/>
            <p:nvPr/>
          </p:nvSpPr>
          <p:spPr>
            <a:xfrm>
              <a:off x="2095500" y="3152775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9050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20085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12849" y="34512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下载安装包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5720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46755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55236" y="34512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双击安装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73425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71462" y="3451225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首次启动自检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9060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100095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13849" y="34512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进入登录页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886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64692" y="3806825"/>
              <a:ext cx="4717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按操作系统选择：Windows 选 .exe，麒麟/统信选 .deb。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4267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964692" y="4187825"/>
              <a:ext cx="5314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安装过程不需要预装 Python、Node 或数据库，一路下一步即可。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648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964692" y="4568825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首次启动会自动创建数据库和目录，并做一次完整性自检。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5029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964692" y="4949825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如果提示文件完整性异常，通常是安装包下载不完整，重新下载即可。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上手路径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第二步：登录与改密码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login"/>
          <p:cNvGrpSpPr/>
          <p:nvPr/>
        </p:nvGrpSpPr>
        <p:grpSpPr>
          <a:xfrm>
            <a:off x="762000" y="2962275"/>
            <a:ext cx="9272333" cy="2251583"/>
            <a:chOff x="762000" y="2962275"/>
            <a:chExt cx="9272333" cy="2251583"/>
          </a:xfrm>
        </p:grpSpPr>
        <p:sp>
          <p:nvSpPr>
            <p:cNvPr id="7" name="Line 7"/>
            <p:cNvSpPr/>
            <p:nvPr/>
          </p:nvSpPr>
          <p:spPr>
            <a:xfrm>
              <a:off x="2540318" y="3152775"/>
              <a:ext cx="7111365" cy="9525"/>
            </a:xfrm>
            <a:custGeom>
              <a:avLst/>
              <a:gdLst/>
              <a:ahLst/>
              <a:cxnLst/>
              <a:rect l="l" t="t" r="r" b="b"/>
              <a:pathLst>
                <a:path w="7111365" h="9525">
                  <a:moveTo>
                    <a:pt x="0" y="0"/>
                  </a:moveTo>
                  <a:lnTo>
                    <a:pt x="711136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2349818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2453353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2279" y="3451225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输入账号密码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905500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6009036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7962" y="3451225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首次登录改密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9461182" y="2962275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9564718" y="3073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69031" y="34512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进入工作台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886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964692" y="380682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初始密码由管理员发放，首次登录必须修改。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267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64692" y="4187825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新密码需要满足长度与复杂度要求，太简单的会被拒绝。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4648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964692" y="456882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连续输错会临时锁定，稍后再试或找管理员重置。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0292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64692" y="4949825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离开座位请退出登录，避免他人代操作留下你的名字。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上手路径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第三步：建第一个村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7" name="first-village"/>
          <p:cNvGrpSpPr/>
          <p:nvPr/>
        </p:nvGrpSpPr>
        <p:grpSpPr>
          <a:xfrm>
            <a:off x="753237" y="2108200"/>
            <a:ext cx="10676763" cy="3949700"/>
            <a:chOff x="753237" y="2108200"/>
            <a:chExt cx="10676763" cy="3949700"/>
          </a:xfrm>
        </p:grpSpPr>
        <p:sp>
          <p:nvSpPr>
            <p:cNvPr id="7" name="TextBox 7"/>
            <p:cNvSpPr txBox="1"/>
            <p:nvPr/>
          </p:nvSpPr>
          <p:spPr>
            <a:xfrm>
              <a:off x="753237" y="21082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操作路径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Rectangle 9"/>
            <p:cNvSpPr/>
            <p:nvPr/>
          </p:nvSpPr>
          <p:spPr>
            <a:xfrm>
              <a:off x="7620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64692" y="25781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左侧菜单进入「帮扶村管理」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64692" y="29591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点「新增」，填写帮扶村名称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964692" y="33401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填写各部门各单位、具体帮扶单位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800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64692" y="37211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保存后回到列表，可搜索到刚建的村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7737" y="210820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最少要填什么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865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Rectangle 19"/>
            <p:cNvSpPr/>
            <p:nvPr/>
          </p:nvSpPr>
          <p:spPr>
            <a:xfrm>
              <a:off x="62865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6489192" y="257810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必填：帮扶村名称、各部门各单位、具体帮扶单位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6489192" y="29591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建议补充：省、市、县、乡镇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865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489192" y="33401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其余信息可以后续按年度补充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85647" y="5695950"/>
              <a:ext cx="46537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先把村建起来，八个板块的年度数据可以慢慢补——不要卡在"资料不全不敢建"。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上手路径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53744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常见问题 8 问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2" name="faq"/>
          <p:cNvGrpSpPr/>
          <p:nvPr/>
        </p:nvGrpSpPr>
        <p:grpSpPr>
          <a:xfrm>
            <a:off x="762000" y="2019300"/>
            <a:ext cx="10668000" cy="4038600"/>
            <a:chOff x="762000" y="2019300"/>
            <a:chExt cx="10668000" cy="4038600"/>
          </a:xfrm>
        </p:grpSpPr>
        <p:sp>
          <p:nvSpPr>
            <p:cNvPr id="7" name="Rectangle 7"/>
            <p:cNvSpPr/>
            <p:nvPr/>
          </p:nvSpPr>
          <p:spPr>
            <a:xfrm>
              <a:off x="762000" y="2019300"/>
              <a:ext cx="5143500" cy="8953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62787" y="216535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断网还能用吗？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4692" y="254000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能。所有业务功能都在本机完成，断网不影响办理。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286500" y="2019300"/>
              <a:ext cx="5143500" cy="8953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6487287" y="2165350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换电脑数据怎么带走？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89192" y="25400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两种方式：整个备份包，或按需导出数据包。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067050"/>
              <a:ext cx="5143500" cy="8953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962787" y="3213100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误删了能恢复吗？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4692" y="35877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能。删除是软删除，进回收站后可以恢复。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86500" y="3067050"/>
              <a:ext cx="5143500" cy="8953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6487287" y="3213100"/>
              <a:ext cx="25645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为什么我看不到某个村？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9192" y="358775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多半是数据域限制：普通用户只能看到自己录入的。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114800"/>
              <a:ext cx="5143500" cy="8953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62787" y="4260850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忘记密码怎么办？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4692" y="46355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找管理员重置，重置后首次登录需再改一次。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4114800"/>
              <a:ext cx="5143500" cy="8953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6487287" y="4260850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能多人同时用吗？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192" y="463550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单机模式一人一台；多人协同靠数据包交换，不是同时连一个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9192" y="49212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库。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5162550"/>
              <a:ext cx="5143500" cy="8953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962787" y="5308600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数据会上传到云端吗？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4692" y="568325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不会。系统没有云端账号体系，数据全部留在本机。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5162550"/>
              <a:ext cx="5143500" cy="8953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6487287" y="5308600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升级会丢数据吗？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9192" y="56832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不会。升级前会自动备份，出问题可回滚。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上手路径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术语表：六个词看懂全篇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7" name="terms"/>
          <p:cNvGrpSpPr/>
          <p:nvPr/>
        </p:nvGrpSpPr>
        <p:grpSpPr>
          <a:xfrm>
            <a:off x="762000" y="2019300"/>
            <a:ext cx="10668000" cy="4038600"/>
            <a:chOff x="762000" y="2019300"/>
            <a:chExt cx="10668000" cy="4038600"/>
          </a:xfrm>
        </p:grpSpPr>
        <p:sp>
          <p:nvSpPr>
            <p:cNvPr id="7" name="Rectangle 7"/>
            <p:cNvSpPr/>
            <p:nvPr/>
          </p:nvSpPr>
          <p:spPr>
            <a:xfrm>
              <a:off x="762000" y="2019300"/>
              <a:ext cx="3403282" cy="1924050"/>
            </a:xfrm>
            <a:prstGeom prst="roundRect">
              <a:avLst>
                <a:gd name="adj" fmla="val 198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019300"/>
              <a:ext cx="3403282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22225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一户一档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4692" y="26352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脱贫户与监测对象逐户建立的档案，含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4692" y="29210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家庭成员、帮扶措施、收入情况。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93882" y="2019300"/>
              <a:ext cx="3403282" cy="1924050"/>
            </a:xfrm>
            <a:prstGeom prst="roundRect">
              <a:avLst>
                <a:gd name="adj" fmla="val 198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3" name="Rectangle 13"/>
            <p:cNvSpPr/>
            <p:nvPr/>
          </p:nvSpPr>
          <p:spPr>
            <a:xfrm>
              <a:off x="4393882" y="2019300"/>
              <a:ext cx="3403282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4594670" y="222250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96574" y="26352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跨机交换用的加密压缩包，内含数据与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96574" y="29210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校验清单。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26718" y="2019300"/>
              <a:ext cx="3403282" cy="1924050"/>
            </a:xfrm>
            <a:prstGeom prst="roundRect">
              <a:avLst>
                <a:gd name="adj" fmla="val 198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8" name="Rectangle 18"/>
            <p:cNvSpPr/>
            <p:nvPr/>
          </p:nvSpPr>
          <p:spPr>
            <a:xfrm>
              <a:off x="8026718" y="2019300"/>
              <a:ext cx="3403282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8227505" y="222250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上报包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29410" y="26352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下级提交给上级的数据包，用于逐级汇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29410" y="29210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总。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4133850"/>
              <a:ext cx="3403282" cy="1924050"/>
            </a:xfrm>
            <a:prstGeom prst="roundRect">
              <a:avLst>
                <a:gd name="adj" fmla="val 198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3" name="Rectangle 23"/>
            <p:cNvSpPr/>
            <p:nvPr/>
          </p:nvSpPr>
          <p:spPr>
            <a:xfrm>
              <a:off x="762000" y="4133850"/>
              <a:ext cx="3403282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62787" y="433705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权限包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4692" y="47498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一组菜单的集合，决定某个账号能看到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4692" y="50355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哪些功能入口。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93882" y="4133850"/>
              <a:ext cx="3403282" cy="1924050"/>
            </a:xfrm>
            <a:prstGeom prst="roundRect">
              <a:avLst>
                <a:gd name="adj" fmla="val 198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8" name="Rectangle 28"/>
            <p:cNvSpPr/>
            <p:nvPr/>
          </p:nvSpPr>
          <p:spPr>
            <a:xfrm>
              <a:off x="4393882" y="4133850"/>
              <a:ext cx="3403282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4594670" y="433705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96574" y="47498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决定能看到哪些数据的范围：全局、本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96574" y="50355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组织及下级、仅本人。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26718" y="4133850"/>
              <a:ext cx="3403282" cy="1924050"/>
            </a:xfrm>
            <a:prstGeom prst="roundRect">
              <a:avLst>
                <a:gd name="adj" fmla="val 198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3" name="Rectangle 33"/>
            <p:cNvSpPr/>
            <p:nvPr/>
          </p:nvSpPr>
          <p:spPr>
            <a:xfrm>
              <a:off x="8026718" y="4133850"/>
              <a:ext cx="3403282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8227505" y="433705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软删除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29410" y="47498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只做删除标记、不真正抹掉，因此可以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29410" y="50355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从回收站恢复。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上手路径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该找谁：文档地图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49" name="docs"/>
          <p:cNvGrpSpPr/>
          <p:nvPr/>
        </p:nvGrpSpPr>
        <p:grpSpPr>
          <a:xfrm>
            <a:off x="762000" y="2486025"/>
            <a:ext cx="10668000" cy="3571875"/>
            <a:chOff x="762000" y="2486025"/>
            <a:chExt cx="10668000" cy="3571875"/>
          </a:xfrm>
        </p:grpSpPr>
        <p:sp>
          <p:nvSpPr>
            <p:cNvPr id="7" name="Rectangle 7"/>
            <p:cNvSpPr/>
            <p:nvPr/>
          </p:nvSpPr>
          <p:spPr>
            <a:xfrm>
              <a:off x="762000" y="2486025"/>
              <a:ext cx="2524125" cy="253365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4860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2936875"/>
              <a:ext cx="128408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快速开始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5835" y="32797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第一次装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71550" y="3581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1078992" y="35020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启动指南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71550" y="39052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1078992" y="38258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环境检查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71550" y="42291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078992" y="41497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常见启动问题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76625" y="2486025"/>
              <a:ext cx="2524125" cy="253365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8" name="Rectangle 18"/>
            <p:cNvSpPr/>
            <p:nvPr/>
          </p:nvSpPr>
          <p:spPr>
            <a:xfrm>
              <a:off x="3476625" y="24860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677412" y="2936875"/>
              <a:ext cx="128408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用户手册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80460" y="32797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日常操作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686175" y="3581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3793617" y="3502025"/>
              <a:ext cx="1176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11 篇操作说明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686175" y="39052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3793617" y="38258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按模块分册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86175" y="42291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3793617" y="41497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含操作流程详解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91250" y="2486025"/>
              <a:ext cx="2524125" cy="253365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8" name="Rectangle 28"/>
            <p:cNvSpPr/>
            <p:nvPr/>
          </p:nvSpPr>
          <p:spPr>
            <a:xfrm>
              <a:off x="6191250" y="24860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6392037" y="2936875"/>
              <a:ext cx="128408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开发文档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95085" y="32797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二次开发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00800" y="3581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6508242" y="35020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接口与数据模型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00800" y="39052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6508242" y="38258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架构说明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00800" y="42291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6508242" y="41497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架构决策记录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905875" y="2486025"/>
              <a:ext cx="2524125" cy="253365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8" name="Rectangle 38"/>
            <p:cNvSpPr/>
            <p:nvPr/>
          </p:nvSpPr>
          <p:spPr>
            <a:xfrm>
              <a:off x="8905875" y="24860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9" name="TextBox 39"/>
            <p:cNvSpPr txBox="1"/>
            <p:nvPr/>
          </p:nvSpPr>
          <p:spPr>
            <a:xfrm>
              <a:off x="9106662" y="2936875"/>
              <a:ext cx="128408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部署文档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09710" y="32797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运维交付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115425" y="3581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9222867" y="35020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安装与升级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115425" y="39052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9222867" y="38258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代码签名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115425" y="42291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6" name="TextBox 46"/>
            <p:cNvSpPr txBox="1"/>
            <p:nvPr/>
          </p:nvSpPr>
          <p:spPr>
            <a:xfrm>
              <a:off x="9222867" y="41497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发布说明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8" name="TextBox 48"/>
            <p:cNvSpPr txBox="1"/>
            <p:nvPr/>
          </p:nvSpPr>
          <p:spPr>
            <a:xfrm>
              <a:off x="985647" y="5695950"/>
              <a:ext cx="43503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遇到问题先看 02 用户手册；装不上看 01；要改代码看 03；要交付看 04。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 部署运行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这套系统带来了什么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7" name="compare"/>
          <p:cNvGrpSpPr/>
          <p:nvPr/>
        </p:nvGrpSpPr>
        <p:grpSpPr>
          <a:xfrm>
            <a:off x="762000" y="2152650"/>
            <a:ext cx="10668000" cy="2857500"/>
            <a:chOff x="762000" y="2152650"/>
            <a:chExt cx="10668000" cy="2857500"/>
          </a:xfrm>
        </p:grpSpPr>
        <p:sp>
          <p:nvSpPr>
            <p:cNvPr id="7" name="Rectangle 7"/>
            <p:cNvSpPr/>
            <p:nvPr/>
          </p:nvSpPr>
          <p:spPr>
            <a:xfrm>
              <a:off x="762000" y="2152650"/>
              <a:ext cx="2524125" cy="285750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62787" y="23558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录入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6597" y="28384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E9488"/>
                  </a:solidFill>
                  <a:latin typeface="+mn-lt"/>
                  <a:ea typeface="+mn-ea"/>
                  <a:cs typeface="+mn-cs"/>
                </a:rPr>
                <a:t>过去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4692" y="30734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同一份数据在村、县、市各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4692" y="33210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录一遍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71550" y="3981450"/>
              <a:ext cx="2105025" cy="9525"/>
            </a:xfrm>
            <a:custGeom>
              <a:avLst/>
              <a:gdLst/>
              <a:ahLst/>
              <a:cxnLst/>
              <a:rect l="l" t="t" r="r" b="b"/>
              <a:pathLst>
                <a:path w="2105025" h="9525">
                  <a:moveTo>
                    <a:pt x="0" y="0"/>
                  </a:moveTo>
                  <a:lnTo>
                    <a:pt x="21050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966597" y="41148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4692" y="43497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录一次，逐级打包复用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76625" y="2152650"/>
              <a:ext cx="2524125" cy="285750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3677412" y="23558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留证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81222" y="28384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E9488"/>
                  </a:solidFill>
                  <a:latin typeface="+mn-lt"/>
                  <a:ea typeface="+mn-ea"/>
                  <a:cs typeface="+mn-cs"/>
                </a:rPr>
                <a:t>过去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79317" y="30734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事后补照片、补台账、补凭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79317" y="3321050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686175" y="3981450"/>
              <a:ext cx="2105025" cy="9525"/>
            </a:xfrm>
            <a:custGeom>
              <a:avLst/>
              <a:gdLst/>
              <a:ahLst/>
              <a:cxnLst/>
              <a:rect l="l" t="t" r="r" b="b"/>
              <a:pathLst>
                <a:path w="2105025" h="9525">
                  <a:moveTo>
                    <a:pt x="0" y="0"/>
                  </a:moveTo>
                  <a:lnTo>
                    <a:pt x="21050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3681222" y="41148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9317" y="43497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过程自动留痕，随时可查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191250" y="2152650"/>
              <a:ext cx="2524125" cy="285750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392037" y="23558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监管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95847" y="28384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E9488"/>
                  </a:solidFill>
                  <a:latin typeface="+mn-lt"/>
                  <a:ea typeface="+mn-ea"/>
                  <a:cs typeface="+mn-cs"/>
                </a:rPr>
                <a:t>过去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3942" y="30734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年底集中查账，问题发现晚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400800" y="3733800"/>
              <a:ext cx="2105025" cy="9525"/>
            </a:xfrm>
            <a:custGeom>
              <a:avLst/>
              <a:gdLst/>
              <a:ahLst/>
              <a:cxnLst/>
              <a:rect l="l" t="t" r="r" b="b"/>
              <a:pathLst>
                <a:path w="2105025" h="9525">
                  <a:moveTo>
                    <a:pt x="0" y="0"/>
                  </a:moveTo>
                  <a:lnTo>
                    <a:pt x="21050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6395847" y="38671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93942" y="41021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实时看进度，异常自动提示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05875" y="2152650"/>
              <a:ext cx="2524125" cy="2857500"/>
            </a:xfrm>
            <a:prstGeom prst="roundRect">
              <a:avLst>
                <a:gd name="adj" fmla="val 150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9106662" y="23558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汇报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10472" y="28384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E9488"/>
                  </a:solidFill>
                  <a:latin typeface="+mn-lt"/>
                  <a:ea typeface="+mn-ea"/>
                  <a:cs typeface="+mn-cs"/>
                </a:rPr>
                <a:t>过去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08567" y="30734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临时做材料，数据对不上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115425" y="3733800"/>
              <a:ext cx="2105025" cy="9525"/>
            </a:xfrm>
            <a:custGeom>
              <a:avLst/>
              <a:gdLst/>
              <a:ahLst/>
              <a:cxnLst/>
              <a:rect l="l" t="t" r="r" b="b"/>
              <a:pathLst>
                <a:path w="2105025" h="9525">
                  <a:moveTo>
                    <a:pt x="0" y="0"/>
                  </a:moveTo>
                  <a:lnTo>
                    <a:pt x="21050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9110472" y="38671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08567" y="41021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一键出报表，口径统一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963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 部署运行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一句话记住它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13" name="one-line"/>
          <p:cNvGrpSpPr/>
          <p:nvPr/>
        </p:nvGrpSpPr>
        <p:grpSpPr>
          <a:xfrm>
            <a:off x="762000" y="3368675"/>
            <a:ext cx="6031992" cy="1026033"/>
            <a:chOff x="762000" y="3368675"/>
            <a:chExt cx="6031992" cy="1026033"/>
          </a:xfrm>
        </p:grpSpPr>
        <p:sp>
          <p:nvSpPr>
            <p:cNvPr id="7" name="Rectangle 7"/>
            <p:cNvSpPr/>
            <p:nvPr/>
          </p:nvSpPr>
          <p:spPr>
            <a:xfrm>
              <a:off x="762000" y="34480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64692" y="336867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装得上：一台电脑，双击安装，不需要机房和网络。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38290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64692" y="374967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断网能用：所有业务功能都在本机，断网照常办理。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42100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64692" y="4130675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数据不出门：没有云端账号，数据全部留在本机，跨机交换也是加密的。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v1.18.18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E3A2C"/>
            </a:gs>
            <a:gs pos="55000">
              <a:schemeClr val="lt1"/>
            </a:gs>
            <a:gs pos="100000">
              <a:srgbClr val="13201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3714750" y="762000"/>
            <a:ext cx="4762500" cy="4762500"/>
          </a:xfrm>
          <a:prstGeom prst="ellipse">
            <a:avLst/>
          </a:prstGeom>
          <a:noFill/>
          <a:ln w="9525">
            <a:solidFill>
              <a:schemeClr val="accent2">
                <a:alpha val="10000"/>
              </a:schemeClr>
            </a:solidFill>
          </a:ln>
        </p:spPr>
        <p:txBody>
          <a:bodyPr/>
          <a:p/>
        </p:txBody>
      </p:sp>
      <p:sp>
        <p:nvSpPr>
          <p:cNvPr id="3" name="Ellipse 3"/>
          <p:cNvSpPr/>
          <p:nvPr/>
        </p:nvSpPr>
        <p:spPr>
          <a:xfrm>
            <a:off x="4476750" y="1524000"/>
            <a:ext cx="3238500" cy="3238500"/>
          </a:xfrm>
          <a:prstGeom prst="ellipse">
            <a:avLst/>
          </a:prstGeom>
          <a:noFill/>
          <a:ln w="9525">
            <a:solidFill>
              <a:schemeClr val="accent2">
                <a:alpha val="7000"/>
              </a:schemeClr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5619750" y="2171700"/>
            <a:ext cx="9525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2561675" y="2590800"/>
            <a:ext cx="7068649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spc="1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装得上 · 断网能用 · 数据不出门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14888" y="3314700"/>
            <a:ext cx="2562225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350" b="1" spc="4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谢谢观看</a:t>
            </a:r>
          </a:p>
        </p:txBody>
      </p:sp>
      <p:sp>
        <p:nvSpPr>
          <p:cNvPr id="7" name="Rectangle 7"/>
          <p:cNvSpPr/>
          <p:nvPr/>
        </p:nvSpPr>
        <p:spPr>
          <a:xfrm>
            <a:off x="5334000" y="4248150"/>
            <a:ext cx="1524000" cy="1905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2949697" y="4737100"/>
            <a:ext cx="62926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帮扶管理信息系统 v1.18.18 · 仓库：github.com/lzh745200/MRRS · 完整文档见 docs/ 目录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89495" y="5130800"/>
            <a:ext cx="38130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FA79A"/>
                </a:solidFill>
                <a:latin typeface="+mn-lt"/>
                <a:ea typeface="+mn-ea"/>
                <a:cs typeface="+mn-cs"/>
              </a:rPr>
              <a:t>22,244 项自动化测试守护 · 双平台离线交付 · 数据不出本机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18487" y="61595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44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rrs-guide-beginner">
  <a:themeElements>
    <a:clrScheme name="mrrs-guide-beginner">
      <a:dk1>
        <a:srgbClr val="1F2A24"/>
      </a:dk1>
      <a:lt1>
        <a:srgbClr val="1A2E24"/>
      </a:lt1>
      <a:dk2>
        <a:srgbClr val="1F497D"/>
      </a:dk2>
      <a:lt2>
        <a:srgbClr val="F7F5EF"/>
      </a:lt2>
      <a:accent1>
        <a:srgbClr val="1F4A38"/>
      </a:accent1>
      <a:accent2>
        <a:srgbClr val="C9A227"/>
      </a:accent2>
      <a:accent3>
        <a:srgbClr val="2D6A4F"/>
      </a:accent3>
      <a:accent4>
        <a:srgbClr val="1F4A38"/>
      </a:accent4>
      <a:accent5>
        <a:srgbClr val="5F6F66"/>
      </a:accent5>
      <a:accent6>
        <a:srgbClr val="D7E2DB"/>
      </a:accent6>
      <a:hlink>
        <a:srgbClr val="C9A227"/>
      </a:hlink>
      <a:folHlink>
        <a:srgbClr val="2D6A4F"/>
      </a:folHlink>
    </a:clrScheme>
    <a:fontScheme name="mrrs-guide-beginn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rrs-guide-beginn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rrs-guide-beginner">
  <a:themeElements>
    <a:clrScheme name="mrrs-guide-beginner">
      <a:dk1>
        <a:srgbClr val="1F2A24"/>
      </a:dk1>
      <a:lt1>
        <a:srgbClr val="1A2E24"/>
      </a:lt1>
      <a:dk2>
        <a:srgbClr val="1F497D"/>
      </a:dk2>
      <a:lt2>
        <a:srgbClr val="F7F5EF"/>
      </a:lt2>
      <a:accent1>
        <a:srgbClr val="1F4A38"/>
      </a:accent1>
      <a:accent2>
        <a:srgbClr val="C9A227"/>
      </a:accent2>
      <a:accent3>
        <a:srgbClr val="2D6A4F"/>
      </a:accent3>
      <a:accent4>
        <a:srgbClr val="1F4A38"/>
      </a:accent4>
      <a:accent5>
        <a:srgbClr val="5F6F66"/>
      </a:accent5>
      <a:accent6>
        <a:srgbClr val="D7E2DB"/>
      </a:accent6>
      <a:hlink>
        <a:srgbClr val="C9A227"/>
      </a:hlink>
      <a:folHlink>
        <a:srgbClr val="2D6A4F"/>
      </a:folHlink>
    </a:clrScheme>
    <a:fontScheme name="mrrs-guide-beginn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rrs-guide-beginn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2026-10-26T07:21:57Z</dcterms:created>
  <dcterms:modified xsi:type="dcterms:W3CDTF">2026-10-26T07:21:57Z</dcterms:modified>
  <cp:category/>
  <cp:contentStatus/>
</cp:coreProperties>
</file>